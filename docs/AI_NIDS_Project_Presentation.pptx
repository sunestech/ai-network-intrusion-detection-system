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AA3FF"/>
          </a:solidFill>
          <a:ln w="12700">
            <a:solidFill>
              <a:srgbClr val="4AA3FF"/>
            </a:solidFill>
            <a:prstDash val="solid"/>
          </a:ln>
        </p:spPr>
      </p:sp>
      <p:sp>
        <p:nvSpPr>
          <p:cNvPr id="3" name="Shape 1"/>
          <p:cNvSpPr/>
          <p:nvPr/>
        </p:nvSpPr>
        <p:spPr>
          <a:xfrm>
            <a:off x="502920" y="6519672"/>
            <a:ext cx="11183112" cy="0"/>
          </a:xfrm>
          <a:prstGeom prst="line">
            <a:avLst/>
          </a:prstGeom>
          <a:noFill/>
          <a:ln w="12700">
            <a:solidFill>
              <a:srgbClr val="2E3B50"/>
            </a:solidFill>
            <a:prstDash val="solid"/>
          </a:ln>
        </p:spPr>
      </p:sp>
      <p:sp>
        <p:nvSpPr>
          <p:cNvPr id="4" name="Text 2"/>
          <p:cNvSpPr/>
          <p:nvPr/>
        </p:nvSpPr>
        <p:spPr>
          <a:xfrm>
            <a:off x="548640" y="6547104"/>
            <a:ext cx="7132320" cy="164592"/>
          </a:xfrm>
          <a:prstGeom prst="rect">
            <a:avLst/>
          </a:prstGeom>
          <a:noFill/>
          <a:ln/>
        </p:spPr>
        <p:txBody>
          <a:bodyPr wrap="square" lIns="0" tIns="0" rIns="0" bIns="0" rtlCol="0" anchor="ctr"/>
          <a:lstStyle/>
          <a:p>
            <a:pPr indent="0" marL="0">
              <a:buNone/>
            </a:pPr>
            <a:r>
              <a:rPr lang="en-US" sz="750" dirty="0">
                <a:solidFill>
                  <a:srgbClr val="8391A7"/>
                </a:solidFill>
                <a:latin typeface="Arial" pitchFamily="34" charset="0"/>
                <a:ea typeface="Arial" pitchFamily="34" charset="-122"/>
                <a:cs typeface="Arial" pitchFamily="34" charset="-120"/>
              </a:rPr>
              <a:t>AI-Powered Network Intrusion Detection System</a:t>
            </a:r>
            <a:endParaRPr lang="en-US" sz="75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594360"/>
            <a:ext cx="1051560" cy="438912"/>
          </a:xfrm>
          <a:prstGeom prst="roundRect">
            <a:avLst/>
          </a:prstGeom>
          <a:solidFill>
            <a:srgbClr val="4AA3FF"/>
          </a:solidFill>
          <a:ln w="12700">
            <a:solidFill>
              <a:srgbClr val="4AA3FF"/>
            </a:solidFill>
            <a:prstDash val="solid"/>
          </a:ln>
        </p:spPr>
      </p:sp>
      <p:sp>
        <p:nvSpPr>
          <p:cNvPr id="3" name="Text 1"/>
          <p:cNvSpPr/>
          <p:nvPr/>
        </p:nvSpPr>
        <p:spPr>
          <a:xfrm>
            <a:off x="758952" y="713232"/>
            <a:ext cx="822960" cy="18288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NIDS</a:t>
            </a:r>
            <a:endParaRPr lang="en-US" sz="1300" dirty="0"/>
          </a:p>
        </p:txBody>
      </p:sp>
      <p:sp>
        <p:nvSpPr>
          <p:cNvPr id="4" name="Text 2"/>
          <p:cNvSpPr/>
          <p:nvPr/>
        </p:nvSpPr>
        <p:spPr>
          <a:xfrm>
            <a:off x="640080" y="1261872"/>
            <a:ext cx="6583680" cy="1234440"/>
          </a:xfrm>
          <a:prstGeom prst="rect">
            <a:avLst/>
          </a:prstGeom>
          <a:noFill/>
          <a:ln/>
        </p:spPr>
        <p:txBody>
          <a:bodyPr wrap="square" lIns="0" tIns="0" rIns="0" bIns="0" rtlCol="0" anchor="ctr"/>
          <a:lstStyle/>
          <a:p>
            <a:pPr indent="0" marL="0">
              <a:buNone/>
            </a:pPr>
            <a:r>
              <a:rPr lang="en-US" sz="3100" b="1" dirty="0">
                <a:solidFill>
                  <a:srgbClr val="F7FAFC"/>
                </a:solidFill>
                <a:latin typeface="Arial" pitchFamily="34" charset="0"/>
                <a:ea typeface="Arial" pitchFamily="34" charset="-122"/>
                <a:cs typeface="Arial" pitchFamily="34" charset="-120"/>
              </a:rPr>
              <a:t>AI-POWERED NETWORK</a:t>
            </a:r>
            <a:endParaRPr lang="en-US" sz="3100" dirty="0"/>
          </a:p>
          <a:p>
            <a:pPr indent="0" marL="0">
              <a:buNone/>
            </a:pPr>
            <a:r>
              <a:rPr lang="en-US" sz="3100" b="1" dirty="0">
                <a:solidFill>
                  <a:srgbClr val="F7FAFC"/>
                </a:solidFill>
                <a:latin typeface="Arial" pitchFamily="34" charset="0"/>
                <a:ea typeface="Arial" pitchFamily="34" charset="-122"/>
                <a:cs typeface="Arial" pitchFamily="34" charset="-120"/>
              </a:rPr>
              <a:t>INTRUSION DETECTION SYSTEM</a:t>
            </a:r>
            <a:endParaRPr lang="en-US" sz="3100" dirty="0"/>
          </a:p>
        </p:txBody>
      </p:sp>
      <p:sp>
        <p:nvSpPr>
          <p:cNvPr id="5" name="Text 3"/>
          <p:cNvSpPr/>
          <p:nvPr/>
        </p:nvSpPr>
        <p:spPr>
          <a:xfrm>
            <a:off x="658368" y="2697480"/>
            <a:ext cx="5943600" cy="365760"/>
          </a:xfrm>
          <a:prstGeom prst="rect">
            <a:avLst/>
          </a:prstGeom>
          <a:noFill/>
          <a:ln/>
        </p:spPr>
        <p:txBody>
          <a:bodyPr wrap="square" lIns="0" tIns="0" rIns="0" bIns="0" rtlCol="0" anchor="ctr"/>
          <a:lstStyle/>
          <a:p>
            <a:pPr indent="0" marL="0">
              <a:buNone/>
            </a:pPr>
            <a:r>
              <a:rPr lang="en-US" sz="1700" dirty="0">
                <a:solidFill>
                  <a:srgbClr val="57D3E8"/>
                </a:solidFill>
                <a:latin typeface="Arial" pitchFamily="34" charset="0"/>
                <a:ea typeface="Arial" pitchFamily="34" charset="-122"/>
                <a:cs typeface="Arial" pitchFamily="34" charset="-120"/>
              </a:rPr>
              <a:t>How the project was built, tested, and improved</a:t>
            </a:r>
            <a:endParaRPr lang="en-US" sz="1700" dirty="0"/>
          </a:p>
        </p:txBody>
      </p:sp>
      <p:sp>
        <p:nvSpPr>
          <p:cNvPr id="6" name="Text 4"/>
          <p:cNvSpPr/>
          <p:nvPr/>
        </p:nvSpPr>
        <p:spPr>
          <a:xfrm>
            <a:off x="658368" y="3200400"/>
            <a:ext cx="6675120" cy="320040"/>
          </a:xfrm>
          <a:prstGeom prst="rect">
            <a:avLst/>
          </a:prstGeom>
          <a:noFill/>
          <a:ln/>
        </p:spPr>
        <p:txBody>
          <a:bodyPr wrap="square" lIns="0" tIns="0" rIns="0" bIns="0" rtlCol="0" anchor="ctr"/>
          <a:lstStyle/>
          <a:p>
            <a:pPr indent="0" marL="0">
              <a:buNone/>
            </a:pPr>
            <a:r>
              <a:rPr lang="en-US" sz="1050" dirty="0">
                <a:solidFill>
                  <a:srgbClr val="A9B5C8"/>
                </a:solidFill>
                <a:latin typeface="Arial" pitchFamily="34" charset="0"/>
                <a:ea typeface="Arial" pitchFamily="34" charset="-122"/>
                <a:cs typeface="Arial" pitchFamily="34" charset="-120"/>
              </a:rPr>
              <a:t>Machine Learning  |  Suricata  |  VMware Lab  |  MITRE ATT&amp;CK  |  Streamlit</a:t>
            </a:r>
            <a:endParaRPr lang="en-US" sz="1050" dirty="0"/>
          </a:p>
        </p:txBody>
      </p:sp>
      <p:sp>
        <p:nvSpPr>
          <p:cNvPr id="7" name="Shape 5"/>
          <p:cNvSpPr/>
          <p:nvPr/>
        </p:nvSpPr>
        <p:spPr>
          <a:xfrm>
            <a:off x="7452360" y="594360"/>
            <a:ext cx="4114800" cy="5440680"/>
          </a:xfrm>
          <a:prstGeom prst="roundRect">
            <a:avLst>
              <a:gd name="adj" fmla="val 2667"/>
            </a:avLst>
          </a:prstGeom>
          <a:solidFill>
            <a:srgbClr val="19263A"/>
          </a:solidFill>
          <a:ln w="15240">
            <a:solidFill>
              <a:srgbClr val="3A4A63"/>
            </a:solidFill>
            <a:prstDash val="solid"/>
          </a:ln>
        </p:spPr>
      </p:sp>
      <p:pic>
        <p:nvPicPr>
          <p:cNvPr id="8" name="Image 0" descr="/mnt/data/nids_assets/system_architecture.png">    </p:cNvPr>
          <p:cNvPicPr>
            <a:picLocks noChangeAspect="1"/>
          </p:cNvPicPr>
          <p:nvPr/>
        </p:nvPicPr>
        <p:blipFill>
          <a:blip r:embed="rId1"/>
          <a:stretch>
            <a:fillRect/>
          </a:stretch>
        </p:blipFill>
        <p:spPr>
          <a:xfrm>
            <a:off x="7635240" y="2260854"/>
            <a:ext cx="3730752" cy="2098548"/>
          </a:xfrm>
          <a:prstGeom prst="rect">
            <a:avLst/>
          </a:prstGeom>
        </p:spPr>
      </p:pic>
      <p:sp>
        <p:nvSpPr>
          <p:cNvPr id="9" name="Text 6"/>
          <p:cNvSpPr/>
          <p:nvPr/>
        </p:nvSpPr>
        <p:spPr>
          <a:xfrm>
            <a:off x="658368" y="5394960"/>
            <a:ext cx="3200400" cy="548640"/>
          </a:xfrm>
          <a:prstGeom prst="rect">
            <a:avLst/>
          </a:prstGeom>
          <a:noFill/>
          <a:ln/>
        </p:spPr>
        <p:txBody>
          <a:bodyPr wrap="square" lIns="0" tIns="0" rIns="0" bIns="0" rtlCol="0" anchor="ctr"/>
          <a:lstStyle/>
          <a:p>
            <a:pPr indent="0" marL="0">
              <a:buNone/>
            </a:pPr>
            <a:r>
              <a:rPr lang="en-US" sz="1250" dirty="0">
                <a:solidFill>
                  <a:srgbClr val="A9B5C8"/>
                </a:solidFill>
                <a:latin typeface="Arial" pitchFamily="34" charset="0"/>
                <a:ea typeface="Arial" pitchFamily="34" charset="-122"/>
                <a:cs typeface="Arial" pitchFamily="34" charset="-120"/>
              </a:rPr>
              <a:t>Sunday Esumike</a:t>
            </a:r>
            <a:endParaRPr lang="en-US" sz="1250" dirty="0"/>
          </a:p>
          <a:p>
            <a:pPr indent="0" marL="0">
              <a:buNone/>
            </a:pPr>
            <a:r>
              <a:rPr lang="en-US" sz="1250" dirty="0">
                <a:solidFill>
                  <a:srgbClr val="A9B5C8"/>
                </a:solidFill>
                <a:latin typeface="Arial" pitchFamily="34" charset="0"/>
                <a:ea typeface="Arial" pitchFamily="34" charset="-122"/>
                <a:cs typeface="Arial" pitchFamily="34" charset="-120"/>
              </a:rPr>
              <a:t>August 2026</a:t>
            </a:r>
            <a:endParaRPr lang="en-US" sz="125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57D3E8"/>
          </a:solidFill>
          <a:ln w="12700">
            <a:solidFill>
              <a:srgbClr val="57D3E8"/>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OVERVIEW</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The project in plain language</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A security checkpoint for network traffic.</a:t>
            </a:r>
            <a:endParaRPr lang="en-US" sz="1150" dirty="0"/>
          </a:p>
        </p:txBody>
      </p:sp>
      <p:sp>
        <p:nvSpPr>
          <p:cNvPr id="6" name="Shape 4"/>
          <p:cNvSpPr/>
          <p:nvPr/>
        </p:nvSpPr>
        <p:spPr>
          <a:xfrm>
            <a:off x="640080" y="1417320"/>
            <a:ext cx="10972800" cy="914400"/>
          </a:xfrm>
          <a:prstGeom prst="roundRect">
            <a:avLst>
              <a:gd name="adj" fmla="val 12000"/>
            </a:avLst>
          </a:prstGeom>
          <a:solidFill>
            <a:srgbClr val="19263A"/>
          </a:solidFill>
          <a:ln w="15240">
            <a:solidFill>
              <a:srgbClr val="57D3E8"/>
            </a:solidFill>
            <a:prstDash val="solid"/>
          </a:ln>
        </p:spPr>
      </p:sp>
      <p:sp>
        <p:nvSpPr>
          <p:cNvPr id="7" name="Text 5"/>
          <p:cNvSpPr/>
          <p:nvPr/>
        </p:nvSpPr>
        <p:spPr>
          <a:xfrm>
            <a:off x="868680" y="1664208"/>
            <a:ext cx="10515600" cy="411480"/>
          </a:xfrm>
          <a:prstGeom prst="rect">
            <a:avLst/>
          </a:prstGeom>
          <a:noFill/>
          <a:ln/>
        </p:spPr>
        <p:txBody>
          <a:bodyPr wrap="square" lIns="0" tIns="0" rIns="0" bIns="0" rtlCol="0" anchor="ctr"/>
          <a:lstStyle/>
          <a:p>
            <a:pPr algn="ctr" indent="0" marL="0">
              <a:buNone/>
            </a:pPr>
            <a:r>
              <a:rPr lang="en-US" sz="2000" b="1" dirty="0">
                <a:solidFill>
                  <a:srgbClr val="F7FAFC"/>
                </a:solidFill>
                <a:latin typeface="Arial" pitchFamily="34" charset="0"/>
                <a:ea typeface="Arial" pitchFamily="34" charset="-122"/>
                <a:cs typeface="Arial" pitchFamily="34" charset="-120"/>
              </a:rPr>
              <a:t>Every network conversation is turned into a flow record. Several detectors then ask different questions about the same traffic.</a:t>
            </a:r>
            <a:endParaRPr lang="en-US" sz="2000" dirty="0"/>
          </a:p>
        </p:txBody>
      </p:sp>
      <p:sp>
        <p:nvSpPr>
          <p:cNvPr id="8" name="Shape 6"/>
          <p:cNvSpPr/>
          <p:nvPr/>
        </p:nvSpPr>
        <p:spPr>
          <a:xfrm>
            <a:off x="640080" y="2743200"/>
            <a:ext cx="1965960" cy="2148840"/>
          </a:xfrm>
          <a:prstGeom prst="roundRect">
            <a:avLst>
              <a:gd name="adj" fmla="val 5581"/>
            </a:avLst>
          </a:prstGeom>
          <a:solidFill>
            <a:srgbClr val="131C2B"/>
          </a:solidFill>
          <a:ln w="15240">
            <a:solidFill>
              <a:srgbClr val="3A4A63"/>
            </a:solidFill>
            <a:prstDash val="solid"/>
          </a:ln>
        </p:spPr>
      </p:sp>
      <p:sp>
        <p:nvSpPr>
          <p:cNvPr id="9" name="Shape 7"/>
          <p:cNvSpPr/>
          <p:nvPr/>
        </p:nvSpPr>
        <p:spPr>
          <a:xfrm>
            <a:off x="1335024" y="2907792"/>
            <a:ext cx="566928" cy="566928"/>
          </a:xfrm>
          <a:prstGeom prst="ellipse">
            <a:avLst/>
          </a:prstGeom>
          <a:solidFill>
            <a:srgbClr val="4AA3FF"/>
          </a:solidFill>
          <a:ln w="12700">
            <a:solidFill>
              <a:srgbClr val="4AA3FF"/>
            </a:solidFill>
            <a:prstDash val="solid"/>
          </a:ln>
        </p:spPr>
      </p:sp>
      <p:sp>
        <p:nvSpPr>
          <p:cNvPr id="10" name="Text 8"/>
          <p:cNvSpPr/>
          <p:nvPr/>
        </p:nvSpPr>
        <p:spPr>
          <a:xfrm>
            <a:off x="1463040" y="3054096"/>
            <a:ext cx="310896" cy="182880"/>
          </a:xfrm>
          <a:prstGeom prst="rect">
            <a:avLst/>
          </a:prstGeom>
          <a:noFill/>
          <a:ln/>
        </p:spPr>
        <p:txBody>
          <a:bodyPr wrap="square" lIns="0" tIns="0" rIns="0" bIns="0" rtlCol="0" anchor="ctr"/>
          <a:lstStyle/>
          <a:p>
            <a:pPr algn="ctr" indent="0" marL="0">
              <a:buNone/>
            </a:pPr>
            <a:r>
              <a:rPr lang="en-US" sz="1500" b="1" dirty="0">
                <a:solidFill>
                  <a:srgbClr val="0B1220"/>
                </a:solidFill>
                <a:latin typeface="Arial" pitchFamily="34" charset="0"/>
                <a:ea typeface="Arial" pitchFamily="34" charset="-122"/>
                <a:cs typeface="Arial" pitchFamily="34" charset="-120"/>
              </a:rPr>
              <a:t>1</a:t>
            </a:r>
            <a:endParaRPr lang="en-US" sz="1500" dirty="0"/>
          </a:p>
        </p:txBody>
      </p:sp>
      <p:sp>
        <p:nvSpPr>
          <p:cNvPr id="11" name="Text 9"/>
          <p:cNvSpPr/>
          <p:nvPr/>
        </p:nvSpPr>
        <p:spPr>
          <a:xfrm>
            <a:off x="804672" y="3657600"/>
            <a:ext cx="1636776" cy="292608"/>
          </a:xfrm>
          <a:prstGeom prst="rect">
            <a:avLst/>
          </a:prstGeom>
          <a:noFill/>
          <a:ln/>
        </p:spPr>
        <p:txBody>
          <a:bodyPr wrap="square" lIns="0" tIns="0" rIns="0" bIns="0" rtlCol="0" anchor="ctr"/>
          <a:lstStyle/>
          <a:p>
            <a:pPr algn="ctr" indent="0" marL="0">
              <a:buNone/>
            </a:pPr>
            <a:r>
              <a:rPr lang="en-US" sz="1300" b="1" dirty="0">
                <a:solidFill>
                  <a:srgbClr val="4AA3FF"/>
                </a:solidFill>
                <a:latin typeface="Arial" pitchFamily="34" charset="0"/>
                <a:ea typeface="Arial" pitchFamily="34" charset="-122"/>
                <a:cs typeface="Arial" pitchFamily="34" charset="-120"/>
              </a:rPr>
              <a:t>MEASURE</a:t>
            </a:r>
            <a:endParaRPr lang="en-US" sz="1300" dirty="0"/>
          </a:p>
        </p:txBody>
      </p:sp>
      <p:sp>
        <p:nvSpPr>
          <p:cNvPr id="12" name="Text 10"/>
          <p:cNvSpPr/>
          <p:nvPr/>
        </p:nvSpPr>
        <p:spPr>
          <a:xfrm>
            <a:off x="804672" y="4087368"/>
            <a:ext cx="1636776" cy="594360"/>
          </a:xfrm>
          <a:prstGeom prst="rect">
            <a:avLst/>
          </a:prstGeom>
          <a:noFill/>
          <a:ln/>
        </p:spPr>
        <p:txBody>
          <a:bodyPr wrap="square" lIns="254" tIns="254" rIns="254" bIns="254" rtlCol="0" anchor="ctr"/>
          <a:lstStyle/>
          <a:p>
            <a:pPr algn="ctr" indent="0" marL="0">
              <a:buNone/>
            </a:pPr>
            <a:r>
              <a:rPr lang="en-US" sz="1030" dirty="0">
                <a:solidFill>
                  <a:srgbClr val="F7FAFC"/>
                </a:solidFill>
                <a:latin typeface="Arial" pitchFamily="34" charset="0"/>
                <a:ea typeface="Arial" pitchFamily="34" charset="-122"/>
                <a:cs typeface="Arial" pitchFamily="34" charset="-120"/>
              </a:rPr>
              <a:t>Turn traffic into 77 numeric features</a:t>
            </a:r>
            <a:endParaRPr lang="en-US" sz="1030" dirty="0"/>
          </a:p>
        </p:txBody>
      </p:sp>
      <p:sp>
        <p:nvSpPr>
          <p:cNvPr id="13" name="Shape 11"/>
          <p:cNvSpPr/>
          <p:nvPr/>
        </p:nvSpPr>
        <p:spPr>
          <a:xfrm>
            <a:off x="2852928" y="2743200"/>
            <a:ext cx="1965960" cy="2148840"/>
          </a:xfrm>
          <a:prstGeom prst="roundRect">
            <a:avLst>
              <a:gd name="adj" fmla="val 5581"/>
            </a:avLst>
          </a:prstGeom>
          <a:solidFill>
            <a:srgbClr val="131C2B"/>
          </a:solidFill>
          <a:ln w="15240">
            <a:solidFill>
              <a:srgbClr val="3A4A63"/>
            </a:solidFill>
            <a:prstDash val="solid"/>
          </a:ln>
        </p:spPr>
      </p:sp>
      <p:sp>
        <p:nvSpPr>
          <p:cNvPr id="14" name="Shape 12"/>
          <p:cNvSpPr/>
          <p:nvPr/>
        </p:nvSpPr>
        <p:spPr>
          <a:xfrm>
            <a:off x="3547872" y="2907792"/>
            <a:ext cx="566928" cy="566928"/>
          </a:xfrm>
          <a:prstGeom prst="ellipse">
            <a:avLst/>
          </a:prstGeom>
          <a:solidFill>
            <a:srgbClr val="40C982"/>
          </a:solidFill>
          <a:ln w="12700">
            <a:solidFill>
              <a:srgbClr val="40C982"/>
            </a:solidFill>
            <a:prstDash val="solid"/>
          </a:ln>
        </p:spPr>
      </p:sp>
      <p:sp>
        <p:nvSpPr>
          <p:cNvPr id="15" name="Text 13"/>
          <p:cNvSpPr/>
          <p:nvPr/>
        </p:nvSpPr>
        <p:spPr>
          <a:xfrm>
            <a:off x="3675888" y="3054096"/>
            <a:ext cx="310896" cy="182880"/>
          </a:xfrm>
          <a:prstGeom prst="rect">
            <a:avLst/>
          </a:prstGeom>
          <a:noFill/>
          <a:ln/>
        </p:spPr>
        <p:txBody>
          <a:bodyPr wrap="square" lIns="0" tIns="0" rIns="0" bIns="0" rtlCol="0" anchor="ctr"/>
          <a:lstStyle/>
          <a:p>
            <a:pPr algn="ctr" indent="0" marL="0">
              <a:buNone/>
            </a:pPr>
            <a:r>
              <a:rPr lang="en-US" sz="1500" b="1" dirty="0">
                <a:solidFill>
                  <a:srgbClr val="0B1220"/>
                </a:solidFill>
                <a:latin typeface="Arial" pitchFamily="34" charset="0"/>
                <a:ea typeface="Arial" pitchFamily="34" charset="-122"/>
                <a:cs typeface="Arial" pitchFamily="34" charset="-120"/>
              </a:rPr>
              <a:t>2</a:t>
            </a:r>
            <a:endParaRPr lang="en-US" sz="1500" dirty="0"/>
          </a:p>
        </p:txBody>
      </p:sp>
      <p:sp>
        <p:nvSpPr>
          <p:cNvPr id="16" name="Text 14"/>
          <p:cNvSpPr/>
          <p:nvPr/>
        </p:nvSpPr>
        <p:spPr>
          <a:xfrm>
            <a:off x="3017520" y="3657600"/>
            <a:ext cx="1636776" cy="292608"/>
          </a:xfrm>
          <a:prstGeom prst="rect">
            <a:avLst/>
          </a:prstGeom>
          <a:noFill/>
          <a:ln/>
        </p:spPr>
        <p:txBody>
          <a:bodyPr wrap="square" lIns="0" tIns="0" rIns="0" bIns="0" rtlCol="0" anchor="ctr"/>
          <a:lstStyle/>
          <a:p>
            <a:pPr algn="ctr" indent="0" marL="0">
              <a:buNone/>
            </a:pPr>
            <a:r>
              <a:rPr lang="en-US" sz="1300" b="1" dirty="0">
                <a:solidFill>
                  <a:srgbClr val="40C982"/>
                </a:solidFill>
                <a:latin typeface="Arial" pitchFamily="34" charset="0"/>
                <a:ea typeface="Arial" pitchFamily="34" charset="-122"/>
                <a:cs typeface="Arial" pitchFamily="34" charset="-120"/>
              </a:rPr>
              <a:t>CLASSIFY</a:t>
            </a:r>
            <a:endParaRPr lang="en-US" sz="1300" dirty="0"/>
          </a:p>
        </p:txBody>
      </p:sp>
      <p:sp>
        <p:nvSpPr>
          <p:cNvPr id="17" name="Text 15"/>
          <p:cNvSpPr/>
          <p:nvPr/>
        </p:nvSpPr>
        <p:spPr>
          <a:xfrm>
            <a:off x="3017520" y="4087368"/>
            <a:ext cx="1636776" cy="594360"/>
          </a:xfrm>
          <a:prstGeom prst="rect">
            <a:avLst/>
          </a:prstGeom>
          <a:noFill/>
          <a:ln/>
        </p:spPr>
        <p:txBody>
          <a:bodyPr wrap="square" lIns="254" tIns="254" rIns="254" bIns="254" rtlCol="0" anchor="ctr"/>
          <a:lstStyle/>
          <a:p>
            <a:pPr algn="ctr" indent="0" marL="0">
              <a:buNone/>
            </a:pPr>
            <a:r>
              <a:rPr lang="en-US" sz="1030" dirty="0">
                <a:solidFill>
                  <a:srgbClr val="F7FAFC"/>
                </a:solidFill>
                <a:latin typeface="Arial" pitchFamily="34" charset="0"/>
                <a:ea typeface="Arial" pitchFamily="34" charset="-122"/>
                <a:cs typeface="Arial" pitchFamily="34" charset="-120"/>
              </a:rPr>
              <a:t>BENIGN or ATTACK</a:t>
            </a:r>
            <a:endParaRPr lang="en-US" sz="1030" dirty="0"/>
          </a:p>
        </p:txBody>
      </p:sp>
      <p:sp>
        <p:nvSpPr>
          <p:cNvPr id="18" name="Shape 16"/>
          <p:cNvSpPr/>
          <p:nvPr/>
        </p:nvSpPr>
        <p:spPr>
          <a:xfrm>
            <a:off x="5065776" y="2743200"/>
            <a:ext cx="1965960" cy="2148840"/>
          </a:xfrm>
          <a:prstGeom prst="roundRect">
            <a:avLst>
              <a:gd name="adj" fmla="val 5581"/>
            </a:avLst>
          </a:prstGeom>
          <a:solidFill>
            <a:srgbClr val="131C2B"/>
          </a:solidFill>
          <a:ln w="15240">
            <a:solidFill>
              <a:srgbClr val="3A4A63"/>
            </a:solidFill>
            <a:prstDash val="solid"/>
          </a:ln>
        </p:spPr>
      </p:sp>
      <p:sp>
        <p:nvSpPr>
          <p:cNvPr id="19" name="Shape 17"/>
          <p:cNvSpPr/>
          <p:nvPr/>
        </p:nvSpPr>
        <p:spPr>
          <a:xfrm>
            <a:off x="5760720" y="2907792"/>
            <a:ext cx="566928" cy="566928"/>
          </a:xfrm>
          <a:prstGeom prst="ellipse">
            <a:avLst/>
          </a:prstGeom>
          <a:solidFill>
            <a:srgbClr val="F1C75B"/>
          </a:solidFill>
          <a:ln w="12700">
            <a:solidFill>
              <a:srgbClr val="F1C75B"/>
            </a:solidFill>
            <a:prstDash val="solid"/>
          </a:ln>
        </p:spPr>
      </p:sp>
      <p:sp>
        <p:nvSpPr>
          <p:cNvPr id="20" name="Text 18"/>
          <p:cNvSpPr/>
          <p:nvPr/>
        </p:nvSpPr>
        <p:spPr>
          <a:xfrm>
            <a:off x="5888736" y="3054096"/>
            <a:ext cx="310896" cy="182880"/>
          </a:xfrm>
          <a:prstGeom prst="rect">
            <a:avLst/>
          </a:prstGeom>
          <a:noFill/>
          <a:ln/>
        </p:spPr>
        <p:txBody>
          <a:bodyPr wrap="square" lIns="0" tIns="0" rIns="0" bIns="0" rtlCol="0" anchor="ctr"/>
          <a:lstStyle/>
          <a:p>
            <a:pPr algn="ctr" indent="0" marL="0">
              <a:buNone/>
            </a:pPr>
            <a:r>
              <a:rPr lang="en-US" sz="1500" b="1" dirty="0">
                <a:solidFill>
                  <a:srgbClr val="0B1220"/>
                </a:solidFill>
                <a:latin typeface="Arial" pitchFamily="34" charset="0"/>
                <a:ea typeface="Arial" pitchFamily="34" charset="-122"/>
                <a:cs typeface="Arial" pitchFamily="34" charset="-120"/>
              </a:rPr>
              <a:t>3</a:t>
            </a:r>
            <a:endParaRPr lang="en-US" sz="1500" dirty="0"/>
          </a:p>
        </p:txBody>
      </p:sp>
      <p:sp>
        <p:nvSpPr>
          <p:cNvPr id="21" name="Text 19"/>
          <p:cNvSpPr/>
          <p:nvPr/>
        </p:nvSpPr>
        <p:spPr>
          <a:xfrm>
            <a:off x="5230368" y="3657600"/>
            <a:ext cx="1636776" cy="292608"/>
          </a:xfrm>
          <a:prstGeom prst="rect">
            <a:avLst/>
          </a:prstGeom>
          <a:noFill/>
          <a:ln/>
        </p:spPr>
        <p:txBody>
          <a:bodyPr wrap="square" lIns="0" tIns="0" rIns="0" bIns="0" rtlCol="0" anchor="ctr"/>
          <a:lstStyle/>
          <a:p>
            <a:pPr algn="ctr" indent="0" marL="0">
              <a:buNone/>
            </a:pPr>
            <a:r>
              <a:rPr lang="en-US" sz="1300" b="1" dirty="0">
                <a:solidFill>
                  <a:srgbClr val="F1C75B"/>
                </a:solidFill>
                <a:latin typeface="Arial" pitchFamily="34" charset="0"/>
                <a:ea typeface="Arial" pitchFamily="34" charset="-122"/>
                <a:cs typeface="Arial" pitchFamily="34" charset="-120"/>
              </a:rPr>
              <a:t>CHECK</a:t>
            </a:r>
            <a:endParaRPr lang="en-US" sz="1300" dirty="0"/>
          </a:p>
        </p:txBody>
      </p:sp>
      <p:sp>
        <p:nvSpPr>
          <p:cNvPr id="22" name="Text 20"/>
          <p:cNvSpPr/>
          <p:nvPr/>
        </p:nvSpPr>
        <p:spPr>
          <a:xfrm>
            <a:off x="5230368" y="4087368"/>
            <a:ext cx="1636776" cy="594360"/>
          </a:xfrm>
          <a:prstGeom prst="rect">
            <a:avLst/>
          </a:prstGeom>
          <a:noFill/>
          <a:ln/>
        </p:spPr>
        <p:txBody>
          <a:bodyPr wrap="square" lIns="254" tIns="254" rIns="254" bIns="254" rtlCol="0" anchor="ctr"/>
          <a:lstStyle/>
          <a:p>
            <a:pPr algn="ctr" indent="0" marL="0">
              <a:buNone/>
            </a:pPr>
            <a:r>
              <a:rPr lang="en-US" sz="1030" dirty="0">
                <a:solidFill>
                  <a:srgbClr val="F7FAFC"/>
                </a:solidFill>
                <a:latin typeface="Arial" pitchFamily="34" charset="0"/>
                <a:ea typeface="Arial" pitchFamily="34" charset="-122"/>
                <a:cs typeface="Arial" pitchFamily="34" charset="-120"/>
              </a:rPr>
              <a:t>Unusual behavior or Suricata rule match</a:t>
            </a:r>
            <a:endParaRPr lang="en-US" sz="1030" dirty="0"/>
          </a:p>
        </p:txBody>
      </p:sp>
      <p:sp>
        <p:nvSpPr>
          <p:cNvPr id="23" name="Shape 21"/>
          <p:cNvSpPr/>
          <p:nvPr/>
        </p:nvSpPr>
        <p:spPr>
          <a:xfrm>
            <a:off x="7278624" y="2743200"/>
            <a:ext cx="1965960" cy="2148840"/>
          </a:xfrm>
          <a:prstGeom prst="roundRect">
            <a:avLst>
              <a:gd name="adj" fmla="val 5581"/>
            </a:avLst>
          </a:prstGeom>
          <a:solidFill>
            <a:srgbClr val="131C2B"/>
          </a:solidFill>
          <a:ln w="15240">
            <a:solidFill>
              <a:srgbClr val="3A4A63"/>
            </a:solidFill>
            <a:prstDash val="solid"/>
          </a:ln>
        </p:spPr>
      </p:sp>
      <p:sp>
        <p:nvSpPr>
          <p:cNvPr id="24" name="Shape 22"/>
          <p:cNvSpPr/>
          <p:nvPr/>
        </p:nvSpPr>
        <p:spPr>
          <a:xfrm>
            <a:off x="7973568" y="2907792"/>
            <a:ext cx="566928" cy="566928"/>
          </a:xfrm>
          <a:prstGeom prst="ellipse">
            <a:avLst/>
          </a:prstGeom>
          <a:solidFill>
            <a:srgbClr val="F59E5B"/>
          </a:solidFill>
          <a:ln w="12700">
            <a:solidFill>
              <a:srgbClr val="F59E5B"/>
            </a:solidFill>
            <a:prstDash val="solid"/>
          </a:ln>
        </p:spPr>
      </p:sp>
      <p:sp>
        <p:nvSpPr>
          <p:cNvPr id="25" name="Text 23"/>
          <p:cNvSpPr/>
          <p:nvPr/>
        </p:nvSpPr>
        <p:spPr>
          <a:xfrm>
            <a:off x="8101584" y="3054096"/>
            <a:ext cx="310896" cy="182880"/>
          </a:xfrm>
          <a:prstGeom prst="rect">
            <a:avLst/>
          </a:prstGeom>
          <a:noFill/>
          <a:ln/>
        </p:spPr>
        <p:txBody>
          <a:bodyPr wrap="square" lIns="0" tIns="0" rIns="0" bIns="0" rtlCol="0" anchor="ctr"/>
          <a:lstStyle/>
          <a:p>
            <a:pPr algn="ctr" indent="0" marL="0">
              <a:buNone/>
            </a:pPr>
            <a:r>
              <a:rPr lang="en-US" sz="1500" b="1" dirty="0">
                <a:solidFill>
                  <a:srgbClr val="0B1220"/>
                </a:solidFill>
                <a:latin typeface="Arial" pitchFamily="34" charset="0"/>
                <a:ea typeface="Arial" pitchFamily="34" charset="-122"/>
                <a:cs typeface="Arial" pitchFamily="34" charset="-120"/>
              </a:rPr>
              <a:t>4</a:t>
            </a:r>
            <a:endParaRPr lang="en-US" sz="1500" dirty="0"/>
          </a:p>
        </p:txBody>
      </p:sp>
      <p:sp>
        <p:nvSpPr>
          <p:cNvPr id="26" name="Text 24"/>
          <p:cNvSpPr/>
          <p:nvPr/>
        </p:nvSpPr>
        <p:spPr>
          <a:xfrm>
            <a:off x="7443216" y="3657600"/>
            <a:ext cx="1636776" cy="292608"/>
          </a:xfrm>
          <a:prstGeom prst="rect">
            <a:avLst/>
          </a:prstGeom>
          <a:noFill/>
          <a:ln/>
        </p:spPr>
        <p:txBody>
          <a:bodyPr wrap="square" lIns="0" tIns="0" rIns="0" bIns="0" rtlCol="0" anchor="ctr"/>
          <a:lstStyle/>
          <a:p>
            <a:pPr algn="ctr" indent="0" marL="0">
              <a:buNone/>
            </a:pPr>
            <a:r>
              <a:rPr lang="en-US" sz="1300" b="1" dirty="0">
                <a:solidFill>
                  <a:srgbClr val="F59E5B"/>
                </a:solidFill>
                <a:latin typeface="Arial" pitchFamily="34" charset="0"/>
                <a:ea typeface="Arial" pitchFamily="34" charset="-122"/>
                <a:cs typeface="Arial" pitchFamily="34" charset="-120"/>
              </a:rPr>
              <a:t>CORRELATE</a:t>
            </a:r>
            <a:endParaRPr lang="en-US" sz="1300" dirty="0"/>
          </a:p>
        </p:txBody>
      </p:sp>
      <p:sp>
        <p:nvSpPr>
          <p:cNvPr id="27" name="Text 25"/>
          <p:cNvSpPr/>
          <p:nvPr/>
        </p:nvSpPr>
        <p:spPr>
          <a:xfrm>
            <a:off x="7443216" y="4087368"/>
            <a:ext cx="1636776" cy="594360"/>
          </a:xfrm>
          <a:prstGeom prst="rect">
            <a:avLst/>
          </a:prstGeom>
          <a:noFill/>
          <a:ln/>
        </p:spPr>
        <p:txBody>
          <a:bodyPr wrap="square" lIns="254" tIns="254" rIns="254" bIns="254" rtlCol="0" anchor="ctr"/>
          <a:lstStyle/>
          <a:p>
            <a:pPr algn="ctr" indent="0" marL="0">
              <a:buNone/>
            </a:pPr>
            <a:r>
              <a:rPr lang="en-US" sz="1030" dirty="0">
                <a:solidFill>
                  <a:srgbClr val="F7FAFC"/>
                </a:solidFill>
                <a:latin typeface="Arial" pitchFamily="34" charset="0"/>
                <a:ea typeface="Arial" pitchFamily="34" charset="-122"/>
                <a:cs typeface="Arial" pitchFamily="34" charset="-120"/>
              </a:rPr>
              <a:t>Connect many related flows</a:t>
            </a:r>
            <a:endParaRPr lang="en-US" sz="1030" dirty="0"/>
          </a:p>
        </p:txBody>
      </p:sp>
      <p:sp>
        <p:nvSpPr>
          <p:cNvPr id="28" name="Shape 26"/>
          <p:cNvSpPr/>
          <p:nvPr/>
        </p:nvSpPr>
        <p:spPr>
          <a:xfrm>
            <a:off x="9491472" y="2743200"/>
            <a:ext cx="1965960" cy="2148840"/>
          </a:xfrm>
          <a:prstGeom prst="roundRect">
            <a:avLst>
              <a:gd name="adj" fmla="val 5581"/>
            </a:avLst>
          </a:prstGeom>
          <a:solidFill>
            <a:srgbClr val="131C2B"/>
          </a:solidFill>
          <a:ln w="15240">
            <a:solidFill>
              <a:srgbClr val="3A4A63"/>
            </a:solidFill>
            <a:prstDash val="solid"/>
          </a:ln>
        </p:spPr>
      </p:sp>
      <p:sp>
        <p:nvSpPr>
          <p:cNvPr id="29" name="Shape 27"/>
          <p:cNvSpPr/>
          <p:nvPr/>
        </p:nvSpPr>
        <p:spPr>
          <a:xfrm>
            <a:off x="10186416" y="2907792"/>
            <a:ext cx="566928" cy="566928"/>
          </a:xfrm>
          <a:prstGeom prst="ellipse">
            <a:avLst/>
          </a:prstGeom>
          <a:solidFill>
            <a:srgbClr val="57D3E8"/>
          </a:solidFill>
          <a:ln w="12700">
            <a:solidFill>
              <a:srgbClr val="57D3E8"/>
            </a:solidFill>
            <a:prstDash val="solid"/>
          </a:ln>
        </p:spPr>
      </p:sp>
      <p:sp>
        <p:nvSpPr>
          <p:cNvPr id="30" name="Text 28"/>
          <p:cNvSpPr/>
          <p:nvPr/>
        </p:nvSpPr>
        <p:spPr>
          <a:xfrm>
            <a:off x="10314432" y="3054096"/>
            <a:ext cx="310896" cy="182880"/>
          </a:xfrm>
          <a:prstGeom prst="rect">
            <a:avLst/>
          </a:prstGeom>
          <a:noFill/>
          <a:ln/>
        </p:spPr>
        <p:txBody>
          <a:bodyPr wrap="square" lIns="0" tIns="0" rIns="0" bIns="0" rtlCol="0" anchor="ctr"/>
          <a:lstStyle/>
          <a:p>
            <a:pPr algn="ctr" indent="0" marL="0">
              <a:buNone/>
            </a:pPr>
            <a:r>
              <a:rPr lang="en-US" sz="1500" b="1" dirty="0">
                <a:solidFill>
                  <a:srgbClr val="0B1220"/>
                </a:solidFill>
                <a:latin typeface="Arial" pitchFamily="34" charset="0"/>
                <a:ea typeface="Arial" pitchFamily="34" charset="-122"/>
                <a:cs typeface="Arial" pitchFamily="34" charset="-120"/>
              </a:rPr>
              <a:t>5</a:t>
            </a:r>
            <a:endParaRPr lang="en-US" sz="1500" dirty="0"/>
          </a:p>
        </p:txBody>
      </p:sp>
      <p:sp>
        <p:nvSpPr>
          <p:cNvPr id="31" name="Text 29"/>
          <p:cNvSpPr/>
          <p:nvPr/>
        </p:nvSpPr>
        <p:spPr>
          <a:xfrm>
            <a:off x="9656064" y="3657600"/>
            <a:ext cx="1636776" cy="292608"/>
          </a:xfrm>
          <a:prstGeom prst="rect">
            <a:avLst/>
          </a:prstGeom>
          <a:noFill/>
          <a:ln/>
        </p:spPr>
        <p:txBody>
          <a:bodyPr wrap="square" lIns="0" tIns="0" rIns="0" bIns="0" rtlCol="0" anchor="ctr"/>
          <a:lstStyle/>
          <a:p>
            <a:pPr algn="ctr" indent="0" marL="0">
              <a:buNone/>
            </a:pPr>
            <a:r>
              <a:rPr lang="en-US" sz="1300" b="1" dirty="0">
                <a:solidFill>
                  <a:srgbClr val="57D3E8"/>
                </a:solidFill>
                <a:latin typeface="Arial" pitchFamily="34" charset="0"/>
                <a:ea typeface="Arial" pitchFamily="34" charset="-122"/>
                <a:cs typeface="Arial" pitchFamily="34" charset="-120"/>
              </a:rPr>
              <a:t>REVIEW</a:t>
            </a:r>
            <a:endParaRPr lang="en-US" sz="1300" dirty="0"/>
          </a:p>
        </p:txBody>
      </p:sp>
      <p:sp>
        <p:nvSpPr>
          <p:cNvPr id="32" name="Text 30"/>
          <p:cNvSpPr/>
          <p:nvPr/>
        </p:nvSpPr>
        <p:spPr>
          <a:xfrm>
            <a:off x="9656064" y="4087368"/>
            <a:ext cx="1636776" cy="594360"/>
          </a:xfrm>
          <a:prstGeom prst="rect">
            <a:avLst/>
          </a:prstGeom>
          <a:noFill/>
          <a:ln/>
        </p:spPr>
        <p:txBody>
          <a:bodyPr wrap="square" lIns="254" tIns="254" rIns="254" bIns="254" rtlCol="0" anchor="ctr"/>
          <a:lstStyle/>
          <a:p>
            <a:pPr algn="ctr" indent="0" marL="0">
              <a:buNone/>
            </a:pPr>
            <a:r>
              <a:rPr lang="en-US" sz="1030" dirty="0">
                <a:solidFill>
                  <a:srgbClr val="F7FAFC"/>
                </a:solidFill>
                <a:latin typeface="Arial" pitchFamily="34" charset="0"/>
                <a:ea typeface="Arial" pitchFamily="34" charset="-122"/>
                <a:cs typeface="Arial" pitchFamily="34" charset="-120"/>
              </a:rPr>
              <a:t>Show evidence on a SOC dashboard</a:t>
            </a:r>
            <a:endParaRPr lang="en-US" sz="1030" dirty="0"/>
          </a:p>
        </p:txBody>
      </p:sp>
      <p:sp>
        <p:nvSpPr>
          <p:cNvPr id="33" name="Text 31"/>
          <p:cNvSpPr/>
          <p:nvPr/>
        </p:nvSpPr>
        <p:spPr>
          <a:xfrm>
            <a:off x="2011680" y="5532120"/>
            <a:ext cx="8138160" cy="365760"/>
          </a:xfrm>
          <a:prstGeom prst="rect">
            <a:avLst/>
          </a:prstGeom>
          <a:noFill/>
          <a:ln/>
        </p:spPr>
        <p:txBody>
          <a:bodyPr wrap="square" lIns="0" tIns="0" rIns="0" bIns="0" rtlCol="0" anchor="ctr"/>
          <a:lstStyle/>
          <a:p>
            <a:pPr algn="ctr" indent="0" marL="0">
              <a:buNone/>
            </a:pPr>
            <a:r>
              <a:rPr lang="en-US" sz="1700" b="1" dirty="0">
                <a:solidFill>
                  <a:srgbClr val="F1C75B"/>
                </a:solidFill>
                <a:latin typeface="Arial" pitchFamily="34" charset="0"/>
                <a:ea typeface="Arial" pitchFamily="34" charset="-122"/>
                <a:cs typeface="Arial" pitchFamily="34" charset="-120"/>
              </a:rPr>
              <a:t>Key idea: one detector can miss what another detector sees.</a:t>
            </a:r>
            <a:endParaRPr lang="en-US" sz="170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4AA3FF"/>
          </a:solidFill>
          <a:ln w="12700">
            <a:solidFill>
              <a:srgbClr val="4AA3FF"/>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ARCHITECTURE</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What was built</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A layered design rather than one all-purpose detector.</a:t>
            </a:r>
            <a:endParaRPr lang="en-US" sz="1150" dirty="0"/>
          </a:p>
        </p:txBody>
      </p:sp>
      <p:sp>
        <p:nvSpPr>
          <p:cNvPr id="6" name="Shape 4"/>
          <p:cNvSpPr/>
          <p:nvPr/>
        </p:nvSpPr>
        <p:spPr>
          <a:xfrm>
            <a:off x="502920" y="1325880"/>
            <a:ext cx="11201400" cy="4892040"/>
          </a:xfrm>
          <a:prstGeom prst="roundRect">
            <a:avLst>
              <a:gd name="adj" fmla="val 2243"/>
            </a:avLst>
          </a:prstGeom>
          <a:solidFill>
            <a:srgbClr val="19263A"/>
          </a:solidFill>
          <a:ln w="15240">
            <a:solidFill>
              <a:srgbClr val="3A4A63"/>
            </a:solidFill>
            <a:prstDash val="solid"/>
          </a:ln>
        </p:spPr>
      </p:sp>
      <p:pic>
        <p:nvPicPr>
          <p:cNvPr id="7" name="Image 0" descr="/mnt/data/nids_assets/system_architecture.png">    </p:cNvPr>
          <p:cNvPicPr>
            <a:picLocks noChangeAspect="1"/>
          </p:cNvPicPr>
          <p:nvPr/>
        </p:nvPicPr>
        <p:blipFill>
          <a:blip r:embed="rId1"/>
          <a:stretch>
            <a:fillRect/>
          </a:stretch>
        </p:blipFill>
        <p:spPr>
          <a:xfrm>
            <a:off x="2035048" y="1463040"/>
            <a:ext cx="8128000" cy="4572000"/>
          </a:xfrm>
          <a:prstGeom prst="rect">
            <a:avLst/>
          </a:prstGeom>
        </p:spPr>
      </p:pic>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40C982"/>
          </a:solidFill>
          <a:ln w="12700">
            <a:solidFill>
              <a:srgbClr val="40C982"/>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DATA</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Data preparation created a consistent model population</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The raw files were checked, cleaned, aligned, and preserved.</a:t>
            </a:r>
            <a:endParaRPr lang="en-US" sz="1150" dirty="0"/>
          </a:p>
        </p:txBody>
      </p:sp>
      <p:sp>
        <p:nvSpPr>
          <p:cNvPr id="6" name="Shape 4"/>
          <p:cNvSpPr/>
          <p:nvPr/>
        </p:nvSpPr>
        <p:spPr>
          <a:xfrm>
            <a:off x="640080" y="1463040"/>
            <a:ext cx="2331720" cy="1234440"/>
          </a:xfrm>
          <a:prstGeom prst="roundRect">
            <a:avLst>
              <a:gd name="adj" fmla="val 8889"/>
            </a:avLst>
          </a:prstGeom>
          <a:solidFill>
            <a:srgbClr val="19263A"/>
          </a:solidFill>
          <a:ln w="15240">
            <a:solidFill>
              <a:srgbClr val="40C982"/>
            </a:solidFill>
            <a:prstDash val="solid"/>
          </a:ln>
        </p:spPr>
      </p:sp>
      <p:sp>
        <p:nvSpPr>
          <p:cNvPr id="7" name="Text 5"/>
          <p:cNvSpPr/>
          <p:nvPr/>
        </p:nvSpPr>
        <p:spPr>
          <a:xfrm>
            <a:off x="768096" y="1572768"/>
            <a:ext cx="207568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VALID FLOW RECORDS</a:t>
            </a:r>
            <a:endParaRPr lang="en-US" sz="950" dirty="0"/>
          </a:p>
        </p:txBody>
      </p:sp>
      <p:sp>
        <p:nvSpPr>
          <p:cNvPr id="8" name="Text 6"/>
          <p:cNvSpPr/>
          <p:nvPr/>
        </p:nvSpPr>
        <p:spPr>
          <a:xfrm>
            <a:off x="731520" y="1847088"/>
            <a:ext cx="2148840" cy="438912"/>
          </a:xfrm>
          <a:prstGeom prst="rect">
            <a:avLst/>
          </a:prstGeom>
          <a:noFill/>
          <a:ln/>
        </p:spPr>
        <p:txBody>
          <a:bodyPr wrap="square" lIns="0" tIns="0" rIns="0" bIns="0" rtlCol="0" anchor="ctr"/>
          <a:lstStyle/>
          <a:p>
            <a:pPr algn="ctr" indent="0" marL="0">
              <a:buNone/>
            </a:pPr>
            <a:r>
              <a:rPr lang="en-US" sz="2400" b="1" dirty="0">
                <a:solidFill>
                  <a:srgbClr val="40C982"/>
                </a:solidFill>
                <a:latin typeface="Arial" pitchFamily="34" charset="0"/>
                <a:ea typeface="Arial" pitchFamily="34" charset="-122"/>
                <a:cs typeface="Arial" pitchFamily="34" charset="-120"/>
              </a:rPr>
              <a:t>2,830,743</a:t>
            </a:r>
            <a:endParaRPr lang="en-US" sz="2400" dirty="0"/>
          </a:p>
        </p:txBody>
      </p:sp>
      <p:sp>
        <p:nvSpPr>
          <p:cNvPr id="9" name="Shape 7"/>
          <p:cNvSpPr/>
          <p:nvPr/>
        </p:nvSpPr>
        <p:spPr>
          <a:xfrm>
            <a:off x="3246120" y="1463040"/>
            <a:ext cx="1920240" cy="1234440"/>
          </a:xfrm>
          <a:prstGeom prst="roundRect">
            <a:avLst>
              <a:gd name="adj" fmla="val 8889"/>
            </a:avLst>
          </a:prstGeom>
          <a:solidFill>
            <a:srgbClr val="19263A"/>
          </a:solidFill>
          <a:ln w="15240">
            <a:solidFill>
              <a:srgbClr val="4AA3FF"/>
            </a:solidFill>
            <a:prstDash val="solid"/>
          </a:ln>
        </p:spPr>
      </p:sp>
      <p:sp>
        <p:nvSpPr>
          <p:cNvPr id="10" name="Text 8"/>
          <p:cNvSpPr/>
          <p:nvPr/>
        </p:nvSpPr>
        <p:spPr>
          <a:xfrm>
            <a:off x="3374136" y="1572768"/>
            <a:ext cx="166420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PREDICTIVE FEATURES</a:t>
            </a:r>
            <a:endParaRPr lang="en-US" sz="950" dirty="0"/>
          </a:p>
        </p:txBody>
      </p:sp>
      <p:sp>
        <p:nvSpPr>
          <p:cNvPr id="11" name="Text 9"/>
          <p:cNvSpPr/>
          <p:nvPr/>
        </p:nvSpPr>
        <p:spPr>
          <a:xfrm>
            <a:off x="3337560" y="1847088"/>
            <a:ext cx="1737360" cy="438912"/>
          </a:xfrm>
          <a:prstGeom prst="rect">
            <a:avLst/>
          </a:prstGeom>
          <a:noFill/>
          <a:ln/>
        </p:spPr>
        <p:txBody>
          <a:bodyPr wrap="square" lIns="0" tIns="0" rIns="0" bIns="0" rtlCol="0" anchor="ctr"/>
          <a:lstStyle/>
          <a:p>
            <a:pPr algn="ctr" indent="0" marL="0">
              <a:buNone/>
            </a:pPr>
            <a:r>
              <a:rPr lang="en-US" sz="2400" b="1" dirty="0">
                <a:solidFill>
                  <a:srgbClr val="4AA3FF"/>
                </a:solidFill>
                <a:latin typeface="Arial" pitchFamily="34" charset="0"/>
                <a:ea typeface="Arial" pitchFamily="34" charset="-122"/>
                <a:cs typeface="Arial" pitchFamily="34" charset="-120"/>
              </a:rPr>
              <a:t>77</a:t>
            </a:r>
            <a:endParaRPr lang="en-US" sz="2400" dirty="0"/>
          </a:p>
        </p:txBody>
      </p:sp>
      <p:sp>
        <p:nvSpPr>
          <p:cNvPr id="12" name="Shape 10"/>
          <p:cNvSpPr/>
          <p:nvPr/>
        </p:nvSpPr>
        <p:spPr>
          <a:xfrm>
            <a:off x="5440680" y="1463040"/>
            <a:ext cx="1920240" cy="1234440"/>
          </a:xfrm>
          <a:prstGeom prst="roundRect">
            <a:avLst>
              <a:gd name="adj" fmla="val 8889"/>
            </a:avLst>
          </a:prstGeom>
          <a:solidFill>
            <a:srgbClr val="19263A"/>
          </a:solidFill>
          <a:ln w="15240">
            <a:solidFill>
              <a:srgbClr val="57D3E8"/>
            </a:solidFill>
            <a:prstDash val="solid"/>
          </a:ln>
        </p:spPr>
      </p:sp>
      <p:sp>
        <p:nvSpPr>
          <p:cNvPr id="13" name="Text 11"/>
          <p:cNvSpPr/>
          <p:nvPr/>
        </p:nvSpPr>
        <p:spPr>
          <a:xfrm>
            <a:off x="5568696" y="1572768"/>
            <a:ext cx="166420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ML FILES</a:t>
            </a:r>
            <a:endParaRPr lang="en-US" sz="950" dirty="0"/>
          </a:p>
        </p:txBody>
      </p:sp>
      <p:sp>
        <p:nvSpPr>
          <p:cNvPr id="14" name="Text 12"/>
          <p:cNvSpPr/>
          <p:nvPr/>
        </p:nvSpPr>
        <p:spPr>
          <a:xfrm>
            <a:off x="5532120" y="1847088"/>
            <a:ext cx="1737360" cy="438912"/>
          </a:xfrm>
          <a:prstGeom prst="rect">
            <a:avLst/>
          </a:prstGeom>
          <a:noFill/>
          <a:ln/>
        </p:spPr>
        <p:txBody>
          <a:bodyPr wrap="square" lIns="0" tIns="0" rIns="0" bIns="0" rtlCol="0" anchor="ctr"/>
          <a:lstStyle/>
          <a:p>
            <a:pPr algn="ctr" indent="0" marL="0">
              <a:buNone/>
            </a:pPr>
            <a:r>
              <a:rPr lang="en-US" sz="2400" b="1" dirty="0">
                <a:solidFill>
                  <a:srgbClr val="57D3E8"/>
                </a:solidFill>
                <a:latin typeface="Arial" pitchFamily="34" charset="0"/>
                <a:ea typeface="Arial" pitchFamily="34" charset="-122"/>
                <a:cs typeface="Arial" pitchFamily="34" charset="-120"/>
              </a:rPr>
              <a:t>8</a:t>
            </a:r>
            <a:endParaRPr lang="en-US" sz="2400" dirty="0"/>
          </a:p>
        </p:txBody>
      </p:sp>
      <p:sp>
        <p:nvSpPr>
          <p:cNvPr id="15" name="Shape 13"/>
          <p:cNvSpPr/>
          <p:nvPr/>
        </p:nvSpPr>
        <p:spPr>
          <a:xfrm>
            <a:off x="7635240" y="1463040"/>
            <a:ext cx="1920240" cy="1234440"/>
          </a:xfrm>
          <a:prstGeom prst="roundRect">
            <a:avLst>
              <a:gd name="adj" fmla="val 8889"/>
            </a:avLst>
          </a:prstGeom>
          <a:solidFill>
            <a:srgbClr val="19263A"/>
          </a:solidFill>
          <a:ln w="15240">
            <a:solidFill>
              <a:srgbClr val="F59E5B"/>
            </a:solidFill>
            <a:prstDash val="solid"/>
          </a:ln>
        </p:spPr>
      </p:sp>
      <p:sp>
        <p:nvSpPr>
          <p:cNvPr id="16" name="Text 14"/>
          <p:cNvSpPr/>
          <p:nvPr/>
        </p:nvSpPr>
        <p:spPr>
          <a:xfrm>
            <a:off x="7763256" y="1572768"/>
            <a:ext cx="166420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CONTEXT FILES</a:t>
            </a:r>
            <a:endParaRPr lang="en-US" sz="950" dirty="0"/>
          </a:p>
        </p:txBody>
      </p:sp>
      <p:sp>
        <p:nvSpPr>
          <p:cNvPr id="17" name="Text 15"/>
          <p:cNvSpPr/>
          <p:nvPr/>
        </p:nvSpPr>
        <p:spPr>
          <a:xfrm>
            <a:off x="7726680" y="1847088"/>
            <a:ext cx="1737360" cy="438912"/>
          </a:xfrm>
          <a:prstGeom prst="rect">
            <a:avLst/>
          </a:prstGeom>
          <a:noFill/>
          <a:ln/>
        </p:spPr>
        <p:txBody>
          <a:bodyPr wrap="square" lIns="0" tIns="0" rIns="0" bIns="0" rtlCol="0" anchor="ctr"/>
          <a:lstStyle/>
          <a:p>
            <a:pPr algn="ctr" indent="0" marL="0">
              <a:buNone/>
            </a:pPr>
            <a:r>
              <a:rPr lang="en-US" sz="2400" b="1" dirty="0">
                <a:solidFill>
                  <a:srgbClr val="F59E5B"/>
                </a:solidFill>
                <a:latin typeface="Arial" pitchFamily="34" charset="0"/>
                <a:ea typeface="Arial" pitchFamily="34" charset="-122"/>
                <a:cs typeface="Arial" pitchFamily="34" charset="-120"/>
              </a:rPr>
              <a:t>8</a:t>
            </a:r>
            <a:endParaRPr lang="en-US" sz="2400" dirty="0"/>
          </a:p>
        </p:txBody>
      </p:sp>
      <p:sp>
        <p:nvSpPr>
          <p:cNvPr id="18" name="Shape 16"/>
          <p:cNvSpPr/>
          <p:nvPr/>
        </p:nvSpPr>
        <p:spPr>
          <a:xfrm>
            <a:off x="9829800" y="1463040"/>
            <a:ext cx="1783080" cy="1234440"/>
          </a:xfrm>
          <a:prstGeom prst="roundRect">
            <a:avLst>
              <a:gd name="adj" fmla="val 8889"/>
            </a:avLst>
          </a:prstGeom>
          <a:solidFill>
            <a:srgbClr val="19263A"/>
          </a:solidFill>
          <a:ln w="15240">
            <a:solidFill>
              <a:srgbClr val="F1C75B"/>
            </a:solidFill>
            <a:prstDash val="solid"/>
          </a:ln>
        </p:spPr>
      </p:sp>
      <p:sp>
        <p:nvSpPr>
          <p:cNvPr id="19" name="Text 17"/>
          <p:cNvSpPr/>
          <p:nvPr/>
        </p:nvSpPr>
        <p:spPr>
          <a:xfrm>
            <a:off x="9957816" y="1572768"/>
            <a:ext cx="152704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DUPLICATE REMOVED</a:t>
            </a:r>
            <a:endParaRPr lang="en-US" sz="950" dirty="0"/>
          </a:p>
        </p:txBody>
      </p:sp>
      <p:sp>
        <p:nvSpPr>
          <p:cNvPr id="20" name="Text 18"/>
          <p:cNvSpPr/>
          <p:nvPr/>
        </p:nvSpPr>
        <p:spPr>
          <a:xfrm>
            <a:off x="9921240" y="1847088"/>
            <a:ext cx="1600200" cy="438912"/>
          </a:xfrm>
          <a:prstGeom prst="rect">
            <a:avLst/>
          </a:prstGeom>
          <a:noFill/>
          <a:ln/>
        </p:spPr>
        <p:txBody>
          <a:bodyPr wrap="square" lIns="0" tIns="0" rIns="0" bIns="0" rtlCol="0" anchor="ctr"/>
          <a:lstStyle/>
          <a:p>
            <a:pPr algn="ctr" indent="0" marL="0">
              <a:buNone/>
            </a:pPr>
            <a:r>
              <a:rPr lang="en-US" sz="2400" b="1" dirty="0">
                <a:solidFill>
                  <a:srgbClr val="F1C75B"/>
                </a:solidFill>
                <a:latin typeface="Arial" pitchFamily="34" charset="0"/>
                <a:ea typeface="Arial" pitchFamily="34" charset="-122"/>
                <a:cs typeface="Arial" pitchFamily="34" charset="-120"/>
              </a:rPr>
              <a:t>1</a:t>
            </a:r>
            <a:endParaRPr lang="en-US" sz="2400" dirty="0"/>
          </a:p>
        </p:txBody>
      </p:sp>
      <p:sp>
        <p:nvSpPr>
          <p:cNvPr id="21" name="Text 19"/>
          <p:cNvSpPr/>
          <p:nvPr/>
        </p:nvSpPr>
        <p:spPr>
          <a:xfrm>
            <a:off x="9939528" y="2386584"/>
            <a:ext cx="1563624" cy="201168"/>
          </a:xfrm>
          <a:prstGeom prst="rect">
            <a:avLst/>
          </a:prstGeom>
          <a:noFill/>
          <a:ln/>
        </p:spPr>
        <p:txBody>
          <a:bodyPr wrap="square" lIns="0" tIns="0" rIns="0" bIns="0" rtlCol="0" anchor="ctr"/>
          <a:lstStyle/>
          <a:p>
            <a:pPr algn="ctr" indent="0" marL="0">
              <a:buNone/>
            </a:pPr>
            <a:r>
              <a:rPr lang="en-US" sz="780" dirty="0">
                <a:solidFill>
                  <a:srgbClr val="A9B5C8"/>
                </a:solidFill>
                <a:latin typeface="Arial" pitchFamily="34" charset="0"/>
                <a:ea typeface="Arial" pitchFamily="34" charset="-122"/>
                <a:cs typeface="Arial" pitchFamily="34" charset="-120"/>
              </a:rPr>
              <a:t>Fwd Header Length.1</a:t>
            </a:r>
            <a:endParaRPr lang="en-US" sz="780" dirty="0"/>
          </a:p>
        </p:txBody>
      </p:sp>
      <p:sp>
        <p:nvSpPr>
          <p:cNvPr id="22" name="Shape 20"/>
          <p:cNvSpPr/>
          <p:nvPr/>
        </p:nvSpPr>
        <p:spPr>
          <a:xfrm>
            <a:off x="640080" y="3063240"/>
            <a:ext cx="10972800" cy="2560320"/>
          </a:xfrm>
          <a:prstGeom prst="roundRect">
            <a:avLst>
              <a:gd name="adj" fmla="val 4286"/>
            </a:avLst>
          </a:prstGeom>
          <a:solidFill>
            <a:srgbClr val="131C2B"/>
          </a:solidFill>
          <a:ln w="15240">
            <a:solidFill>
              <a:srgbClr val="3A4A63"/>
            </a:solidFill>
            <a:prstDash val="solid"/>
          </a:ln>
        </p:spPr>
      </p:sp>
      <p:sp>
        <p:nvSpPr>
          <p:cNvPr id="23" name="Text 21"/>
          <p:cNvSpPr/>
          <p:nvPr/>
        </p:nvSpPr>
        <p:spPr>
          <a:xfrm>
            <a:off x="868680" y="3310128"/>
            <a:ext cx="2194560" cy="274320"/>
          </a:xfrm>
          <a:prstGeom prst="rect">
            <a:avLst/>
          </a:prstGeom>
          <a:noFill/>
          <a:ln/>
        </p:spPr>
        <p:txBody>
          <a:bodyPr wrap="square" lIns="0" tIns="0" rIns="0" bIns="0" rtlCol="0" anchor="ctr"/>
          <a:lstStyle/>
          <a:p>
            <a:pPr indent="0" marL="0">
              <a:buNone/>
            </a:pPr>
            <a:r>
              <a:rPr lang="en-US" sz="1400" b="1" dirty="0">
                <a:solidFill>
                  <a:srgbClr val="57D3E8"/>
                </a:solidFill>
                <a:latin typeface="Arial" pitchFamily="34" charset="0"/>
                <a:ea typeface="Arial" pitchFamily="34" charset="-122"/>
                <a:cs typeface="Arial" pitchFamily="34" charset="-120"/>
              </a:rPr>
              <a:t>PREPROCESSING PIPELINE</a:t>
            </a:r>
            <a:endParaRPr lang="en-US" sz="1400" dirty="0"/>
          </a:p>
        </p:txBody>
      </p:sp>
      <p:sp>
        <p:nvSpPr>
          <p:cNvPr id="24" name="Shape 22"/>
          <p:cNvSpPr/>
          <p:nvPr/>
        </p:nvSpPr>
        <p:spPr>
          <a:xfrm>
            <a:off x="868680" y="3822192"/>
            <a:ext cx="1783080" cy="1143000"/>
          </a:xfrm>
          <a:prstGeom prst="roundRect">
            <a:avLst>
              <a:gd name="adj" fmla="val 9600"/>
            </a:avLst>
          </a:prstGeom>
          <a:solidFill>
            <a:srgbClr val="19263A"/>
          </a:solidFill>
          <a:ln w="15240">
            <a:solidFill>
              <a:srgbClr val="3A4A63"/>
            </a:solidFill>
            <a:prstDash val="solid"/>
          </a:ln>
        </p:spPr>
      </p:sp>
      <p:sp>
        <p:nvSpPr>
          <p:cNvPr id="25" name="Text 23"/>
          <p:cNvSpPr/>
          <p:nvPr/>
        </p:nvSpPr>
        <p:spPr>
          <a:xfrm>
            <a:off x="960120" y="3986784"/>
            <a:ext cx="1600200" cy="274320"/>
          </a:xfrm>
          <a:prstGeom prst="rect">
            <a:avLst/>
          </a:prstGeom>
          <a:noFill/>
          <a:ln/>
        </p:spPr>
        <p:txBody>
          <a:bodyPr wrap="square" lIns="0" tIns="0" rIns="0" bIns="0" rtlCol="0" anchor="ctr"/>
          <a:lstStyle/>
          <a:p>
            <a:pPr algn="ctr" indent="0" marL="0">
              <a:buNone/>
            </a:pPr>
            <a:r>
              <a:rPr lang="en-US" sz="1050" b="1" dirty="0">
                <a:solidFill>
                  <a:srgbClr val="F7FAFC"/>
                </a:solidFill>
                <a:latin typeface="Arial" pitchFamily="34" charset="0"/>
                <a:ea typeface="Arial" pitchFamily="34" charset="-122"/>
                <a:cs typeface="Arial" pitchFamily="34" charset="-120"/>
              </a:rPr>
              <a:t>Raw CSV files</a:t>
            </a:r>
            <a:endParaRPr lang="en-US" sz="1050" dirty="0"/>
          </a:p>
        </p:txBody>
      </p:sp>
      <p:sp>
        <p:nvSpPr>
          <p:cNvPr id="26" name="Text 24"/>
          <p:cNvSpPr/>
          <p:nvPr/>
        </p:nvSpPr>
        <p:spPr>
          <a:xfrm>
            <a:off x="960120" y="4416552"/>
            <a:ext cx="1600200" cy="274320"/>
          </a:xfrm>
          <a:prstGeom prst="rect">
            <a:avLst/>
          </a:prstGeom>
          <a:noFill/>
          <a:ln/>
        </p:spPr>
        <p:txBody>
          <a:bodyPr wrap="square" lIns="0" tIns="0" rIns="0" bIns="0" rtlCol="0" anchor="ctr"/>
          <a:lstStyle/>
          <a:p>
            <a:pPr algn="ctr" indent="0" marL="0">
              <a:buNone/>
            </a:pPr>
            <a:r>
              <a:rPr lang="en-US" sz="950" dirty="0">
                <a:solidFill>
                  <a:srgbClr val="40C982"/>
                </a:solidFill>
                <a:latin typeface="Arial" pitchFamily="34" charset="0"/>
                <a:ea typeface="Arial" pitchFamily="34" charset="-122"/>
                <a:cs typeface="Arial" pitchFamily="34" charset="-120"/>
              </a:rPr>
              <a:t>Preserved</a:t>
            </a:r>
            <a:endParaRPr lang="en-US" sz="950" dirty="0"/>
          </a:p>
        </p:txBody>
      </p:sp>
      <p:sp>
        <p:nvSpPr>
          <p:cNvPr id="27" name="Shape 25"/>
          <p:cNvSpPr/>
          <p:nvPr/>
        </p:nvSpPr>
        <p:spPr>
          <a:xfrm>
            <a:off x="2679192" y="4389120"/>
            <a:ext cx="228600" cy="0"/>
          </a:xfrm>
          <a:prstGeom prst="line">
            <a:avLst/>
          </a:prstGeom>
          <a:noFill/>
          <a:ln w="22860">
            <a:solidFill>
              <a:srgbClr val="4AA3FF"/>
            </a:solidFill>
            <a:prstDash val="solid"/>
            <a:headEnd type="none"/>
            <a:tailEnd type="triangle"/>
          </a:ln>
        </p:spPr>
      </p:sp>
      <p:sp>
        <p:nvSpPr>
          <p:cNvPr id="28" name="Shape 26"/>
          <p:cNvSpPr/>
          <p:nvPr/>
        </p:nvSpPr>
        <p:spPr>
          <a:xfrm>
            <a:off x="2990088" y="3822192"/>
            <a:ext cx="1783080" cy="1143000"/>
          </a:xfrm>
          <a:prstGeom prst="roundRect">
            <a:avLst>
              <a:gd name="adj" fmla="val 9600"/>
            </a:avLst>
          </a:prstGeom>
          <a:solidFill>
            <a:srgbClr val="19263A"/>
          </a:solidFill>
          <a:ln w="15240">
            <a:solidFill>
              <a:srgbClr val="3A4A63"/>
            </a:solidFill>
            <a:prstDash val="solid"/>
          </a:ln>
        </p:spPr>
      </p:sp>
      <p:sp>
        <p:nvSpPr>
          <p:cNvPr id="29" name="Text 27"/>
          <p:cNvSpPr/>
          <p:nvPr/>
        </p:nvSpPr>
        <p:spPr>
          <a:xfrm>
            <a:off x="3081528" y="3986784"/>
            <a:ext cx="1600200" cy="274320"/>
          </a:xfrm>
          <a:prstGeom prst="rect">
            <a:avLst/>
          </a:prstGeom>
          <a:noFill/>
          <a:ln/>
        </p:spPr>
        <p:txBody>
          <a:bodyPr wrap="square" lIns="0" tIns="0" rIns="0" bIns="0" rtlCol="0" anchor="ctr"/>
          <a:lstStyle/>
          <a:p>
            <a:pPr algn="ctr" indent="0" marL="0">
              <a:buNone/>
            </a:pPr>
            <a:r>
              <a:rPr lang="en-US" sz="1050" b="1" dirty="0">
                <a:solidFill>
                  <a:srgbClr val="F7FAFC"/>
                </a:solidFill>
                <a:latin typeface="Arial" pitchFamily="34" charset="0"/>
                <a:ea typeface="Arial" pitchFamily="34" charset="-122"/>
                <a:cs typeface="Arial" pitchFamily="34" charset="-120"/>
              </a:rPr>
              <a:t>Align row counts</a:t>
            </a:r>
            <a:endParaRPr lang="en-US" sz="1050" dirty="0"/>
          </a:p>
        </p:txBody>
      </p:sp>
      <p:sp>
        <p:nvSpPr>
          <p:cNvPr id="30" name="Text 28"/>
          <p:cNvSpPr/>
          <p:nvPr/>
        </p:nvSpPr>
        <p:spPr>
          <a:xfrm>
            <a:off x="3081528" y="4416552"/>
            <a:ext cx="1600200" cy="274320"/>
          </a:xfrm>
          <a:prstGeom prst="rect">
            <a:avLst/>
          </a:prstGeom>
          <a:noFill/>
          <a:ln/>
        </p:spPr>
        <p:txBody>
          <a:bodyPr wrap="square" lIns="0" tIns="0" rIns="0" bIns="0" rtlCol="0" anchor="ctr"/>
          <a:lstStyle/>
          <a:p>
            <a:pPr algn="ctr" indent="0" marL="0">
              <a:buNone/>
            </a:pPr>
            <a:r>
              <a:rPr lang="en-US" sz="950" dirty="0">
                <a:solidFill>
                  <a:srgbClr val="A9B5C8"/>
                </a:solidFill>
                <a:latin typeface="Arial" pitchFamily="34" charset="0"/>
                <a:ea typeface="Arial" pitchFamily="34" charset="-122"/>
                <a:cs typeface="Arial" pitchFamily="34" charset="-120"/>
              </a:rPr>
              <a:t>Verified</a:t>
            </a:r>
            <a:endParaRPr lang="en-US" sz="950" dirty="0"/>
          </a:p>
        </p:txBody>
      </p:sp>
      <p:sp>
        <p:nvSpPr>
          <p:cNvPr id="31" name="Shape 29"/>
          <p:cNvSpPr/>
          <p:nvPr/>
        </p:nvSpPr>
        <p:spPr>
          <a:xfrm>
            <a:off x="4800600" y="4389120"/>
            <a:ext cx="228600" cy="0"/>
          </a:xfrm>
          <a:prstGeom prst="line">
            <a:avLst/>
          </a:prstGeom>
          <a:noFill/>
          <a:ln w="22860">
            <a:solidFill>
              <a:srgbClr val="4AA3FF"/>
            </a:solidFill>
            <a:prstDash val="solid"/>
            <a:headEnd type="none"/>
            <a:tailEnd type="triangle"/>
          </a:ln>
        </p:spPr>
      </p:sp>
      <p:sp>
        <p:nvSpPr>
          <p:cNvPr id="32" name="Shape 30"/>
          <p:cNvSpPr/>
          <p:nvPr/>
        </p:nvSpPr>
        <p:spPr>
          <a:xfrm>
            <a:off x="5111496" y="3822192"/>
            <a:ext cx="1783080" cy="1143000"/>
          </a:xfrm>
          <a:prstGeom prst="roundRect">
            <a:avLst>
              <a:gd name="adj" fmla="val 9600"/>
            </a:avLst>
          </a:prstGeom>
          <a:solidFill>
            <a:srgbClr val="19263A"/>
          </a:solidFill>
          <a:ln w="15240">
            <a:solidFill>
              <a:srgbClr val="3A4A63"/>
            </a:solidFill>
            <a:prstDash val="solid"/>
          </a:ln>
        </p:spPr>
      </p:sp>
      <p:sp>
        <p:nvSpPr>
          <p:cNvPr id="33" name="Text 31"/>
          <p:cNvSpPr/>
          <p:nvPr/>
        </p:nvSpPr>
        <p:spPr>
          <a:xfrm>
            <a:off x="5202936" y="3986784"/>
            <a:ext cx="1600200" cy="274320"/>
          </a:xfrm>
          <a:prstGeom prst="rect">
            <a:avLst/>
          </a:prstGeom>
          <a:noFill/>
          <a:ln/>
        </p:spPr>
        <p:txBody>
          <a:bodyPr wrap="square" lIns="0" tIns="0" rIns="0" bIns="0" rtlCol="0" anchor="ctr"/>
          <a:lstStyle/>
          <a:p>
            <a:pPr algn="ctr" indent="0" marL="0">
              <a:buNone/>
            </a:pPr>
            <a:r>
              <a:rPr lang="en-US" sz="1050" b="1" dirty="0">
                <a:solidFill>
                  <a:srgbClr val="F7FAFC"/>
                </a:solidFill>
                <a:latin typeface="Arial" pitchFamily="34" charset="0"/>
                <a:ea typeface="Arial" pitchFamily="34" charset="-122"/>
                <a:cs typeface="Arial" pitchFamily="34" charset="-120"/>
              </a:rPr>
              <a:t>Clean infinity values</a:t>
            </a:r>
            <a:endParaRPr lang="en-US" sz="1050" dirty="0"/>
          </a:p>
        </p:txBody>
      </p:sp>
      <p:sp>
        <p:nvSpPr>
          <p:cNvPr id="34" name="Text 32"/>
          <p:cNvSpPr/>
          <p:nvPr/>
        </p:nvSpPr>
        <p:spPr>
          <a:xfrm>
            <a:off x="5202936" y="4416552"/>
            <a:ext cx="1600200" cy="274320"/>
          </a:xfrm>
          <a:prstGeom prst="rect">
            <a:avLst/>
          </a:prstGeom>
          <a:noFill/>
          <a:ln/>
        </p:spPr>
        <p:txBody>
          <a:bodyPr wrap="square" lIns="0" tIns="0" rIns="0" bIns="0" rtlCol="0" anchor="ctr"/>
          <a:lstStyle/>
          <a:p>
            <a:pPr algn="ctr" indent="0" marL="0">
              <a:buNone/>
            </a:pPr>
            <a:r>
              <a:rPr lang="en-US" sz="950" dirty="0">
                <a:solidFill>
                  <a:srgbClr val="A9B5C8"/>
                </a:solidFill>
                <a:latin typeface="Arial" pitchFamily="34" charset="0"/>
                <a:ea typeface="Arial" pitchFamily="34" charset="-122"/>
                <a:cs typeface="Arial" pitchFamily="34" charset="-120"/>
              </a:rPr>
              <a:t>4,376 replaced</a:t>
            </a:r>
            <a:endParaRPr lang="en-US" sz="950" dirty="0"/>
          </a:p>
        </p:txBody>
      </p:sp>
      <p:sp>
        <p:nvSpPr>
          <p:cNvPr id="35" name="Shape 33"/>
          <p:cNvSpPr/>
          <p:nvPr/>
        </p:nvSpPr>
        <p:spPr>
          <a:xfrm>
            <a:off x="6922008" y="4389120"/>
            <a:ext cx="228600" cy="0"/>
          </a:xfrm>
          <a:prstGeom prst="line">
            <a:avLst/>
          </a:prstGeom>
          <a:noFill/>
          <a:ln w="22860">
            <a:solidFill>
              <a:srgbClr val="4AA3FF"/>
            </a:solidFill>
            <a:prstDash val="solid"/>
            <a:headEnd type="none"/>
            <a:tailEnd type="triangle"/>
          </a:ln>
        </p:spPr>
      </p:sp>
      <p:sp>
        <p:nvSpPr>
          <p:cNvPr id="36" name="Shape 34"/>
          <p:cNvSpPr/>
          <p:nvPr/>
        </p:nvSpPr>
        <p:spPr>
          <a:xfrm>
            <a:off x="7232904" y="3822192"/>
            <a:ext cx="1783080" cy="1143000"/>
          </a:xfrm>
          <a:prstGeom prst="roundRect">
            <a:avLst>
              <a:gd name="adj" fmla="val 9600"/>
            </a:avLst>
          </a:prstGeom>
          <a:solidFill>
            <a:srgbClr val="19263A"/>
          </a:solidFill>
          <a:ln w="15240">
            <a:solidFill>
              <a:srgbClr val="3A4A63"/>
            </a:solidFill>
            <a:prstDash val="solid"/>
          </a:ln>
        </p:spPr>
      </p:sp>
      <p:sp>
        <p:nvSpPr>
          <p:cNvPr id="37" name="Text 35"/>
          <p:cNvSpPr/>
          <p:nvPr/>
        </p:nvSpPr>
        <p:spPr>
          <a:xfrm>
            <a:off x="7324344" y="3986784"/>
            <a:ext cx="1600200" cy="274320"/>
          </a:xfrm>
          <a:prstGeom prst="rect">
            <a:avLst/>
          </a:prstGeom>
          <a:noFill/>
          <a:ln/>
        </p:spPr>
        <p:txBody>
          <a:bodyPr wrap="square" lIns="0" tIns="0" rIns="0" bIns="0" rtlCol="0" anchor="ctr"/>
          <a:lstStyle/>
          <a:p>
            <a:pPr algn="ctr" indent="0" marL="0">
              <a:buNone/>
            </a:pPr>
            <a:r>
              <a:rPr lang="en-US" sz="1050" b="1" dirty="0">
                <a:solidFill>
                  <a:srgbClr val="F7FAFC"/>
                </a:solidFill>
                <a:latin typeface="Arial" pitchFamily="34" charset="0"/>
                <a:ea typeface="Arial" pitchFamily="34" charset="-122"/>
                <a:cs typeface="Arial" pitchFamily="34" charset="-120"/>
              </a:rPr>
              <a:t>Keep missing values</a:t>
            </a:r>
            <a:endParaRPr lang="en-US" sz="1050" dirty="0"/>
          </a:p>
        </p:txBody>
      </p:sp>
      <p:sp>
        <p:nvSpPr>
          <p:cNvPr id="38" name="Text 36"/>
          <p:cNvSpPr/>
          <p:nvPr/>
        </p:nvSpPr>
        <p:spPr>
          <a:xfrm>
            <a:off x="7324344" y="4416552"/>
            <a:ext cx="1600200" cy="274320"/>
          </a:xfrm>
          <a:prstGeom prst="rect">
            <a:avLst/>
          </a:prstGeom>
          <a:noFill/>
          <a:ln/>
        </p:spPr>
        <p:txBody>
          <a:bodyPr wrap="square" lIns="0" tIns="0" rIns="0" bIns="0" rtlCol="0" anchor="ctr"/>
          <a:lstStyle/>
          <a:p>
            <a:pPr algn="ctr" indent="0" marL="0">
              <a:buNone/>
            </a:pPr>
            <a:r>
              <a:rPr lang="en-US" sz="950" dirty="0">
                <a:solidFill>
                  <a:srgbClr val="A9B5C8"/>
                </a:solidFill>
                <a:latin typeface="Arial" pitchFamily="34" charset="0"/>
                <a:ea typeface="Arial" pitchFamily="34" charset="-122"/>
                <a:cs typeface="Arial" pitchFamily="34" charset="-120"/>
              </a:rPr>
              <a:t>Train-only imputation</a:t>
            </a:r>
            <a:endParaRPr lang="en-US" sz="950" dirty="0"/>
          </a:p>
        </p:txBody>
      </p:sp>
      <p:sp>
        <p:nvSpPr>
          <p:cNvPr id="39" name="Shape 37"/>
          <p:cNvSpPr/>
          <p:nvPr/>
        </p:nvSpPr>
        <p:spPr>
          <a:xfrm>
            <a:off x="9043416" y="4389120"/>
            <a:ext cx="228600" cy="0"/>
          </a:xfrm>
          <a:prstGeom prst="line">
            <a:avLst/>
          </a:prstGeom>
          <a:noFill/>
          <a:ln w="22860">
            <a:solidFill>
              <a:srgbClr val="4AA3FF"/>
            </a:solidFill>
            <a:prstDash val="solid"/>
            <a:headEnd type="none"/>
            <a:tailEnd type="triangle"/>
          </a:ln>
        </p:spPr>
      </p:sp>
      <p:sp>
        <p:nvSpPr>
          <p:cNvPr id="40" name="Shape 38"/>
          <p:cNvSpPr/>
          <p:nvPr/>
        </p:nvSpPr>
        <p:spPr>
          <a:xfrm>
            <a:off x="9354312" y="3822192"/>
            <a:ext cx="1783080" cy="1143000"/>
          </a:xfrm>
          <a:prstGeom prst="roundRect">
            <a:avLst>
              <a:gd name="adj" fmla="val 9600"/>
            </a:avLst>
          </a:prstGeom>
          <a:solidFill>
            <a:srgbClr val="19263A"/>
          </a:solidFill>
          <a:ln w="15240">
            <a:solidFill>
              <a:srgbClr val="3A4A63"/>
            </a:solidFill>
            <a:prstDash val="solid"/>
          </a:ln>
        </p:spPr>
      </p:sp>
      <p:sp>
        <p:nvSpPr>
          <p:cNvPr id="41" name="Text 39"/>
          <p:cNvSpPr/>
          <p:nvPr/>
        </p:nvSpPr>
        <p:spPr>
          <a:xfrm>
            <a:off x="9445752" y="3986784"/>
            <a:ext cx="1600200" cy="274320"/>
          </a:xfrm>
          <a:prstGeom prst="rect">
            <a:avLst/>
          </a:prstGeom>
          <a:noFill/>
          <a:ln/>
        </p:spPr>
        <p:txBody>
          <a:bodyPr wrap="square" lIns="0" tIns="0" rIns="0" bIns="0" rtlCol="0" anchor="ctr"/>
          <a:lstStyle/>
          <a:p>
            <a:pPr algn="ctr" indent="0" marL="0">
              <a:buNone/>
            </a:pPr>
            <a:r>
              <a:rPr lang="en-US" sz="1050" b="1" dirty="0">
                <a:solidFill>
                  <a:srgbClr val="F7FAFC"/>
                </a:solidFill>
                <a:latin typeface="Arial" pitchFamily="34" charset="0"/>
                <a:ea typeface="Arial" pitchFamily="34" charset="-122"/>
                <a:cs typeface="Arial" pitchFamily="34" charset="-120"/>
              </a:rPr>
              <a:t>Write feature manifest</a:t>
            </a:r>
            <a:endParaRPr lang="en-US" sz="1050" dirty="0"/>
          </a:p>
        </p:txBody>
      </p:sp>
      <p:sp>
        <p:nvSpPr>
          <p:cNvPr id="42" name="Text 40"/>
          <p:cNvSpPr/>
          <p:nvPr/>
        </p:nvSpPr>
        <p:spPr>
          <a:xfrm>
            <a:off x="9445752" y="4416552"/>
            <a:ext cx="1600200" cy="274320"/>
          </a:xfrm>
          <a:prstGeom prst="rect">
            <a:avLst/>
          </a:prstGeom>
          <a:noFill/>
          <a:ln/>
        </p:spPr>
        <p:txBody>
          <a:bodyPr wrap="square" lIns="0" tIns="0" rIns="0" bIns="0" rtlCol="0" anchor="ctr"/>
          <a:lstStyle/>
          <a:p>
            <a:pPr algn="ctr" indent="0" marL="0">
              <a:buNone/>
            </a:pPr>
            <a:r>
              <a:rPr lang="en-US" sz="950" dirty="0">
                <a:solidFill>
                  <a:srgbClr val="A9B5C8"/>
                </a:solidFill>
                <a:latin typeface="Arial" pitchFamily="34" charset="0"/>
                <a:ea typeface="Arial" pitchFamily="34" charset="-122"/>
                <a:cs typeface="Arial" pitchFamily="34" charset="-120"/>
              </a:rPr>
              <a:t>Exact 77-field order</a:t>
            </a:r>
            <a:endParaRPr lang="en-US" sz="950" dirty="0"/>
          </a:p>
        </p:txBody>
      </p:sp>
      <p:sp>
        <p:nvSpPr>
          <p:cNvPr id="43" name="Text 41"/>
          <p:cNvSpPr/>
          <p:nvPr/>
        </p:nvSpPr>
        <p:spPr>
          <a:xfrm>
            <a:off x="3749040" y="5257800"/>
            <a:ext cx="4754880" cy="274320"/>
          </a:xfrm>
          <a:prstGeom prst="rect">
            <a:avLst/>
          </a:prstGeom>
          <a:noFill/>
          <a:ln/>
        </p:spPr>
        <p:txBody>
          <a:bodyPr wrap="square" lIns="0" tIns="0" rIns="0" bIns="0" rtlCol="0" anchor="ctr"/>
          <a:lstStyle/>
          <a:p>
            <a:pPr algn="ctr" indent="0" marL="0">
              <a:buNone/>
            </a:pPr>
            <a:r>
              <a:rPr lang="en-US" sz="1300" b="1" dirty="0">
                <a:solidFill>
                  <a:srgbClr val="40C982"/>
                </a:solidFill>
                <a:latin typeface="Arial" pitchFamily="34" charset="0"/>
                <a:ea typeface="Arial" pitchFamily="34" charset="-122"/>
                <a:cs typeface="Arial" pitchFamily="34" charset="-120"/>
              </a:rPr>
              <a:t>The original raw files were not modified.</a:t>
            </a:r>
            <a:endParaRPr lang="en-US" sz="130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40C982"/>
          </a:solidFill>
          <a:ln w="12700">
            <a:solidFill>
              <a:srgbClr val="40C982"/>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MODELING</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Four binary models were compared fairly</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HistGradientBoosting was selected by attack-focused F2 score.</a:t>
            </a:r>
            <a:endParaRPr lang="en-US" sz="1150" dirty="0"/>
          </a:p>
        </p:txBody>
      </p:sp>
      <p:sp>
        <p:nvSpPr>
          <p:cNvPr id="6" name="Shape 4"/>
          <p:cNvSpPr/>
          <p:nvPr/>
        </p:nvSpPr>
        <p:spPr>
          <a:xfrm>
            <a:off x="594360" y="1325880"/>
            <a:ext cx="7315200" cy="5074920"/>
          </a:xfrm>
          <a:prstGeom prst="roundRect">
            <a:avLst>
              <a:gd name="adj" fmla="val 2162"/>
            </a:avLst>
          </a:prstGeom>
          <a:solidFill>
            <a:srgbClr val="F4F6F8"/>
          </a:solidFill>
          <a:ln w="15240">
            <a:solidFill>
              <a:srgbClr val="D0D7DF"/>
            </a:solidFill>
            <a:prstDash val="solid"/>
          </a:ln>
        </p:spPr>
      </p:sp>
      <p:pic>
        <p:nvPicPr>
          <p:cNvPr id="7" name="Image 0" descr="/mnt/data/binary_validation_model_comparison.png">    </p:cNvPr>
          <p:cNvPicPr>
            <a:picLocks noChangeAspect="1"/>
          </p:cNvPicPr>
          <p:nvPr/>
        </p:nvPicPr>
        <p:blipFill>
          <a:blip r:embed="rId1"/>
          <a:stretch>
            <a:fillRect/>
          </a:stretch>
        </p:blipFill>
        <p:spPr>
          <a:xfrm>
            <a:off x="777240" y="1864179"/>
            <a:ext cx="6949440" cy="4007465"/>
          </a:xfrm>
          <a:prstGeom prst="rect">
            <a:avLst/>
          </a:prstGeom>
        </p:spPr>
      </p:pic>
      <p:sp>
        <p:nvSpPr>
          <p:cNvPr id="8" name="Shape 5"/>
          <p:cNvSpPr/>
          <p:nvPr/>
        </p:nvSpPr>
        <p:spPr>
          <a:xfrm>
            <a:off x="8183880" y="1325880"/>
            <a:ext cx="3429000" cy="5074920"/>
          </a:xfrm>
          <a:prstGeom prst="roundRect">
            <a:avLst>
              <a:gd name="adj" fmla="val 3200"/>
            </a:avLst>
          </a:prstGeom>
          <a:solidFill>
            <a:srgbClr val="19263A"/>
          </a:solidFill>
          <a:ln w="15240">
            <a:solidFill>
              <a:srgbClr val="40C982"/>
            </a:solidFill>
            <a:prstDash val="solid"/>
          </a:ln>
        </p:spPr>
      </p:sp>
      <p:sp>
        <p:nvSpPr>
          <p:cNvPr id="9" name="Text 6"/>
          <p:cNvSpPr/>
          <p:nvPr/>
        </p:nvSpPr>
        <p:spPr>
          <a:xfrm>
            <a:off x="8412480" y="1645920"/>
            <a:ext cx="2971800" cy="320040"/>
          </a:xfrm>
          <a:prstGeom prst="rect">
            <a:avLst/>
          </a:prstGeom>
          <a:noFill/>
          <a:ln/>
        </p:spPr>
        <p:txBody>
          <a:bodyPr wrap="square" lIns="0" tIns="0" rIns="0" bIns="0" rtlCol="0" anchor="ctr"/>
          <a:lstStyle/>
          <a:p>
            <a:pPr algn="ctr" indent="0" marL="0">
              <a:buNone/>
            </a:pPr>
            <a:r>
              <a:rPr lang="en-US" sz="1200" b="1" dirty="0">
                <a:solidFill>
                  <a:srgbClr val="A9B5C8"/>
                </a:solidFill>
                <a:latin typeface="Arial" pitchFamily="34" charset="0"/>
                <a:ea typeface="Arial" pitchFamily="34" charset="-122"/>
                <a:cs typeface="Arial" pitchFamily="34" charset="-120"/>
              </a:rPr>
              <a:t>SELECTED MODEL</a:t>
            </a:r>
            <a:endParaRPr lang="en-US" sz="1200" dirty="0"/>
          </a:p>
        </p:txBody>
      </p:sp>
      <p:sp>
        <p:nvSpPr>
          <p:cNvPr id="10" name="Text 7"/>
          <p:cNvSpPr/>
          <p:nvPr/>
        </p:nvSpPr>
        <p:spPr>
          <a:xfrm>
            <a:off x="8366760" y="2103120"/>
            <a:ext cx="3063240" cy="566928"/>
          </a:xfrm>
          <a:prstGeom prst="rect">
            <a:avLst/>
          </a:prstGeom>
          <a:noFill/>
          <a:ln/>
        </p:spPr>
        <p:txBody>
          <a:bodyPr wrap="square" lIns="0" tIns="0" rIns="0" bIns="0" rtlCol="0" anchor="ctr"/>
          <a:lstStyle/>
          <a:p>
            <a:pPr algn="ctr" indent="0" marL="0">
              <a:buNone/>
            </a:pPr>
            <a:r>
              <a:rPr lang="en-US" sz="2200" b="1" dirty="0">
                <a:solidFill>
                  <a:srgbClr val="40C982"/>
                </a:solidFill>
                <a:latin typeface="Arial" pitchFamily="34" charset="0"/>
                <a:ea typeface="Arial" pitchFamily="34" charset="-122"/>
                <a:cs typeface="Arial" pitchFamily="34" charset="-120"/>
              </a:rPr>
              <a:t>HistGradientBoosting</a:t>
            </a:r>
            <a:endParaRPr lang="en-US" sz="2200" dirty="0"/>
          </a:p>
        </p:txBody>
      </p:sp>
      <p:sp>
        <p:nvSpPr>
          <p:cNvPr id="11" name="Shape 8"/>
          <p:cNvSpPr/>
          <p:nvPr/>
        </p:nvSpPr>
        <p:spPr>
          <a:xfrm>
            <a:off x="8595360" y="2971800"/>
            <a:ext cx="2697480" cy="1005840"/>
          </a:xfrm>
          <a:prstGeom prst="roundRect">
            <a:avLst>
              <a:gd name="adj" fmla="val 10909"/>
            </a:avLst>
          </a:prstGeom>
          <a:solidFill>
            <a:srgbClr val="19263A"/>
          </a:solidFill>
          <a:ln w="15240">
            <a:solidFill>
              <a:srgbClr val="40C982"/>
            </a:solidFill>
            <a:prstDash val="solid"/>
          </a:ln>
        </p:spPr>
      </p:sp>
      <p:sp>
        <p:nvSpPr>
          <p:cNvPr id="12" name="Text 9"/>
          <p:cNvSpPr/>
          <p:nvPr/>
        </p:nvSpPr>
        <p:spPr>
          <a:xfrm>
            <a:off x="8723376" y="3081528"/>
            <a:ext cx="244144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ATTACK RECALL</a:t>
            </a:r>
            <a:endParaRPr lang="en-US" sz="950" dirty="0"/>
          </a:p>
        </p:txBody>
      </p:sp>
      <p:sp>
        <p:nvSpPr>
          <p:cNvPr id="13" name="Text 10"/>
          <p:cNvSpPr/>
          <p:nvPr/>
        </p:nvSpPr>
        <p:spPr>
          <a:xfrm>
            <a:off x="8686800" y="3355848"/>
            <a:ext cx="2514600" cy="438912"/>
          </a:xfrm>
          <a:prstGeom prst="rect">
            <a:avLst/>
          </a:prstGeom>
          <a:noFill/>
          <a:ln/>
        </p:spPr>
        <p:txBody>
          <a:bodyPr wrap="square" lIns="0" tIns="0" rIns="0" bIns="0" rtlCol="0" anchor="ctr"/>
          <a:lstStyle/>
          <a:p>
            <a:pPr algn="ctr" indent="0" marL="0">
              <a:buNone/>
            </a:pPr>
            <a:r>
              <a:rPr lang="en-US" sz="2400" b="1" dirty="0">
                <a:solidFill>
                  <a:srgbClr val="40C982"/>
                </a:solidFill>
                <a:latin typeface="Arial" pitchFamily="34" charset="0"/>
                <a:ea typeface="Arial" pitchFamily="34" charset="-122"/>
                <a:cs typeface="Arial" pitchFamily="34" charset="-120"/>
              </a:rPr>
              <a:t>99.92%</a:t>
            </a:r>
            <a:endParaRPr lang="en-US" sz="2400" dirty="0"/>
          </a:p>
        </p:txBody>
      </p:sp>
      <p:sp>
        <p:nvSpPr>
          <p:cNvPr id="14" name="Shape 11"/>
          <p:cNvSpPr/>
          <p:nvPr/>
        </p:nvSpPr>
        <p:spPr>
          <a:xfrm>
            <a:off x="8595360" y="4160520"/>
            <a:ext cx="2697480" cy="1005840"/>
          </a:xfrm>
          <a:prstGeom prst="roundRect">
            <a:avLst>
              <a:gd name="adj" fmla="val 10909"/>
            </a:avLst>
          </a:prstGeom>
          <a:solidFill>
            <a:srgbClr val="19263A"/>
          </a:solidFill>
          <a:ln w="15240">
            <a:solidFill>
              <a:srgbClr val="4AA3FF"/>
            </a:solidFill>
            <a:prstDash val="solid"/>
          </a:ln>
        </p:spPr>
      </p:sp>
      <p:sp>
        <p:nvSpPr>
          <p:cNvPr id="15" name="Text 12"/>
          <p:cNvSpPr/>
          <p:nvPr/>
        </p:nvSpPr>
        <p:spPr>
          <a:xfrm>
            <a:off x="8723376" y="4270248"/>
            <a:ext cx="244144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ATTACK F2</a:t>
            </a:r>
            <a:endParaRPr lang="en-US" sz="950" dirty="0"/>
          </a:p>
        </p:txBody>
      </p:sp>
      <p:sp>
        <p:nvSpPr>
          <p:cNvPr id="16" name="Text 13"/>
          <p:cNvSpPr/>
          <p:nvPr/>
        </p:nvSpPr>
        <p:spPr>
          <a:xfrm>
            <a:off x="8686800" y="4544568"/>
            <a:ext cx="2514600" cy="438912"/>
          </a:xfrm>
          <a:prstGeom prst="rect">
            <a:avLst/>
          </a:prstGeom>
          <a:noFill/>
          <a:ln/>
        </p:spPr>
        <p:txBody>
          <a:bodyPr wrap="square" lIns="0" tIns="0" rIns="0" bIns="0" rtlCol="0" anchor="ctr"/>
          <a:lstStyle/>
          <a:p>
            <a:pPr algn="ctr" indent="0" marL="0">
              <a:buNone/>
            </a:pPr>
            <a:r>
              <a:rPr lang="en-US" sz="2400" b="1" dirty="0">
                <a:solidFill>
                  <a:srgbClr val="4AA3FF"/>
                </a:solidFill>
                <a:latin typeface="Arial" pitchFamily="34" charset="0"/>
                <a:ea typeface="Arial" pitchFamily="34" charset="-122"/>
                <a:cs typeface="Arial" pitchFamily="34" charset="-120"/>
              </a:rPr>
              <a:t>99.82%</a:t>
            </a:r>
            <a:endParaRPr lang="en-US" sz="2400" dirty="0"/>
          </a:p>
        </p:txBody>
      </p:sp>
      <p:sp>
        <p:nvSpPr>
          <p:cNvPr id="17" name="Text 14"/>
          <p:cNvSpPr/>
          <p:nvPr/>
        </p:nvSpPr>
        <p:spPr>
          <a:xfrm>
            <a:off x="8458200" y="5532120"/>
            <a:ext cx="2880360" cy="384048"/>
          </a:xfrm>
          <a:prstGeom prst="rect">
            <a:avLst/>
          </a:prstGeom>
          <a:noFill/>
          <a:ln/>
        </p:spPr>
        <p:txBody>
          <a:bodyPr wrap="square" lIns="0" tIns="0" rIns="0" bIns="0" rtlCol="0" anchor="ctr"/>
          <a:lstStyle/>
          <a:p>
            <a:pPr algn="ctr" indent="0" marL="0">
              <a:buNone/>
            </a:pPr>
            <a:r>
              <a:rPr lang="en-US" sz="1150" b="1" dirty="0">
                <a:solidFill>
                  <a:srgbClr val="F1C75B"/>
                </a:solidFill>
                <a:latin typeface="Arial" pitchFamily="34" charset="0"/>
                <a:ea typeface="Arial" pitchFamily="34" charset="-122"/>
                <a:cs typeface="Arial" pitchFamily="34" charset="-120"/>
              </a:rPr>
              <a:t>Strong on familiar attack patterns.</a:t>
            </a:r>
            <a:endParaRPr lang="en-US" sz="115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F59E5B"/>
          </a:solidFill>
          <a:ln w="12700">
            <a:solidFill>
              <a:srgbClr val="F59E5B"/>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EVALUATION</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Harder testing changed the story</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The model was strong on familiar patterns but much weaker on a new scenario.</a:t>
            </a:r>
            <a:endParaRPr lang="en-US" sz="1150" dirty="0"/>
          </a:p>
        </p:txBody>
      </p:sp>
      <p:sp>
        <p:nvSpPr>
          <p:cNvPr id="6" name="Shape 4"/>
          <p:cNvSpPr/>
          <p:nvPr/>
        </p:nvSpPr>
        <p:spPr>
          <a:xfrm>
            <a:off x="502920" y="1298448"/>
            <a:ext cx="11201400" cy="4956048"/>
          </a:xfrm>
          <a:prstGeom prst="roundRect">
            <a:avLst>
              <a:gd name="adj" fmla="val 2214"/>
            </a:avLst>
          </a:prstGeom>
          <a:solidFill>
            <a:srgbClr val="19263A"/>
          </a:solidFill>
          <a:ln w="15240">
            <a:solidFill>
              <a:srgbClr val="3A4A63"/>
            </a:solidFill>
            <a:prstDash val="solid"/>
          </a:ln>
        </p:spPr>
      </p:sp>
      <p:pic>
        <p:nvPicPr>
          <p:cNvPr id="7" name="Image 0" descr="/mnt/data/nids_assets/evaluation_design.png">    </p:cNvPr>
          <p:cNvPicPr>
            <a:picLocks noChangeAspect="1"/>
          </p:cNvPicPr>
          <p:nvPr/>
        </p:nvPicPr>
        <p:blipFill>
          <a:blip r:embed="rId1"/>
          <a:stretch>
            <a:fillRect/>
          </a:stretch>
        </p:blipFill>
        <p:spPr>
          <a:xfrm>
            <a:off x="1953768" y="1444752"/>
            <a:ext cx="8290560" cy="4663440"/>
          </a:xfrm>
          <a:prstGeom prst="rect">
            <a:avLst/>
          </a:prstGeom>
        </p:spPr>
      </p:pic>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F1C75B"/>
          </a:solidFill>
          <a:ln w="12700">
            <a:solidFill>
              <a:srgbClr val="F1C75B"/>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DETECTION LAYERS</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Two extra model layers added context</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The attack-family model and anomaly model served different purposes.</a:t>
            </a:r>
            <a:endParaRPr lang="en-US" sz="1150" dirty="0"/>
          </a:p>
        </p:txBody>
      </p:sp>
      <p:sp>
        <p:nvSpPr>
          <p:cNvPr id="6" name="Shape 4"/>
          <p:cNvSpPr/>
          <p:nvPr/>
        </p:nvSpPr>
        <p:spPr>
          <a:xfrm>
            <a:off x="640080" y="1508760"/>
            <a:ext cx="2148840" cy="1097280"/>
          </a:xfrm>
          <a:prstGeom prst="roundRect">
            <a:avLst>
              <a:gd name="adj" fmla="val 10000"/>
            </a:avLst>
          </a:prstGeom>
          <a:solidFill>
            <a:srgbClr val="19263A"/>
          </a:solidFill>
          <a:ln w="15240">
            <a:solidFill>
              <a:srgbClr val="4AA3FF"/>
            </a:solidFill>
            <a:prstDash val="solid"/>
          </a:ln>
        </p:spPr>
      </p:sp>
      <p:sp>
        <p:nvSpPr>
          <p:cNvPr id="7" name="Text 5"/>
          <p:cNvSpPr/>
          <p:nvPr/>
        </p:nvSpPr>
        <p:spPr>
          <a:xfrm>
            <a:off x="841248" y="1783080"/>
            <a:ext cx="1737360" cy="274320"/>
          </a:xfrm>
          <a:prstGeom prst="rect">
            <a:avLst/>
          </a:prstGeom>
          <a:noFill/>
          <a:ln/>
        </p:spPr>
        <p:txBody>
          <a:bodyPr wrap="square" lIns="0" tIns="0" rIns="0" bIns="0" rtlCol="0" anchor="ctr"/>
          <a:lstStyle/>
          <a:p>
            <a:pPr algn="ctr" indent="0" marL="0">
              <a:buNone/>
            </a:pPr>
            <a:r>
              <a:rPr lang="en-US" sz="1600" b="1" dirty="0">
                <a:solidFill>
                  <a:srgbClr val="4AA3FF"/>
                </a:solidFill>
                <a:latin typeface="Arial" pitchFamily="34" charset="0"/>
                <a:ea typeface="Arial" pitchFamily="34" charset="-122"/>
                <a:cs typeface="Arial" pitchFamily="34" charset="-120"/>
              </a:rPr>
              <a:t>FLOW RECORD</a:t>
            </a:r>
            <a:endParaRPr lang="en-US" sz="1600" dirty="0"/>
          </a:p>
        </p:txBody>
      </p:sp>
      <p:sp>
        <p:nvSpPr>
          <p:cNvPr id="8" name="Text 6"/>
          <p:cNvSpPr/>
          <p:nvPr/>
        </p:nvSpPr>
        <p:spPr>
          <a:xfrm>
            <a:off x="841248" y="2148840"/>
            <a:ext cx="1737360" cy="219456"/>
          </a:xfrm>
          <a:prstGeom prst="rect">
            <a:avLst/>
          </a:prstGeom>
          <a:noFill/>
          <a:ln/>
        </p:spPr>
        <p:txBody>
          <a:bodyPr wrap="square" lIns="0" tIns="0" rIns="0" bIns="0" rtlCol="0" anchor="ctr"/>
          <a:lstStyle/>
          <a:p>
            <a:pPr algn="ctr" indent="0" marL="0">
              <a:buNone/>
            </a:pPr>
            <a:r>
              <a:rPr lang="en-US" sz="1100" dirty="0">
                <a:solidFill>
                  <a:srgbClr val="F7FAFC"/>
                </a:solidFill>
                <a:latin typeface="Arial" pitchFamily="34" charset="0"/>
                <a:ea typeface="Arial" pitchFamily="34" charset="-122"/>
                <a:cs typeface="Arial" pitchFamily="34" charset="-120"/>
              </a:rPr>
              <a:t>77 features</a:t>
            </a:r>
            <a:endParaRPr lang="en-US" sz="1100" dirty="0"/>
          </a:p>
        </p:txBody>
      </p:sp>
      <p:sp>
        <p:nvSpPr>
          <p:cNvPr id="9" name="Shape 7"/>
          <p:cNvSpPr/>
          <p:nvPr/>
        </p:nvSpPr>
        <p:spPr>
          <a:xfrm>
            <a:off x="3063240" y="1508760"/>
            <a:ext cx="2377440" cy="1097280"/>
          </a:xfrm>
          <a:prstGeom prst="roundRect">
            <a:avLst>
              <a:gd name="adj" fmla="val 10000"/>
            </a:avLst>
          </a:prstGeom>
          <a:solidFill>
            <a:srgbClr val="19263A"/>
          </a:solidFill>
          <a:ln w="15240">
            <a:solidFill>
              <a:srgbClr val="40C982"/>
            </a:solidFill>
            <a:prstDash val="solid"/>
          </a:ln>
        </p:spPr>
      </p:sp>
      <p:sp>
        <p:nvSpPr>
          <p:cNvPr id="10" name="Text 8"/>
          <p:cNvSpPr/>
          <p:nvPr/>
        </p:nvSpPr>
        <p:spPr>
          <a:xfrm>
            <a:off x="3273552" y="1783080"/>
            <a:ext cx="1965960" cy="274320"/>
          </a:xfrm>
          <a:prstGeom prst="rect">
            <a:avLst/>
          </a:prstGeom>
          <a:noFill/>
          <a:ln/>
        </p:spPr>
        <p:txBody>
          <a:bodyPr wrap="square" lIns="0" tIns="0" rIns="0" bIns="0" rtlCol="0" anchor="ctr"/>
          <a:lstStyle/>
          <a:p>
            <a:pPr algn="ctr" indent="0" marL="0">
              <a:buNone/>
            </a:pPr>
            <a:r>
              <a:rPr lang="en-US" sz="1600" b="1" dirty="0">
                <a:solidFill>
                  <a:srgbClr val="40C982"/>
                </a:solidFill>
                <a:latin typeface="Arial" pitchFamily="34" charset="0"/>
                <a:ea typeface="Arial" pitchFamily="34" charset="-122"/>
                <a:cs typeface="Arial" pitchFamily="34" charset="-120"/>
              </a:rPr>
              <a:t>BINARY MODEL</a:t>
            </a:r>
            <a:endParaRPr lang="en-US" sz="1600" dirty="0"/>
          </a:p>
        </p:txBody>
      </p:sp>
      <p:sp>
        <p:nvSpPr>
          <p:cNvPr id="11" name="Text 9"/>
          <p:cNvSpPr/>
          <p:nvPr/>
        </p:nvSpPr>
        <p:spPr>
          <a:xfrm>
            <a:off x="3273552" y="2148840"/>
            <a:ext cx="1965960" cy="219456"/>
          </a:xfrm>
          <a:prstGeom prst="rect">
            <a:avLst/>
          </a:prstGeom>
          <a:noFill/>
          <a:ln/>
        </p:spPr>
        <p:txBody>
          <a:bodyPr wrap="square" lIns="0" tIns="0" rIns="0" bIns="0" rtlCol="0" anchor="ctr"/>
          <a:lstStyle/>
          <a:p>
            <a:pPr algn="ctr" indent="0" marL="0">
              <a:buNone/>
            </a:pPr>
            <a:r>
              <a:rPr lang="en-US" sz="1100" dirty="0">
                <a:solidFill>
                  <a:srgbClr val="F7FAFC"/>
                </a:solidFill>
                <a:latin typeface="Arial" pitchFamily="34" charset="0"/>
                <a:ea typeface="Arial" pitchFamily="34" charset="-122"/>
                <a:cs typeface="Arial" pitchFamily="34" charset="-120"/>
              </a:rPr>
              <a:t>BENIGN or ATTACK</a:t>
            </a:r>
            <a:endParaRPr lang="en-US" sz="1100" dirty="0"/>
          </a:p>
        </p:txBody>
      </p:sp>
      <p:sp>
        <p:nvSpPr>
          <p:cNvPr id="12" name="Shape 10"/>
          <p:cNvSpPr/>
          <p:nvPr/>
        </p:nvSpPr>
        <p:spPr>
          <a:xfrm>
            <a:off x="5897880" y="1508760"/>
            <a:ext cx="2377440" cy="1097280"/>
          </a:xfrm>
          <a:prstGeom prst="roundRect">
            <a:avLst>
              <a:gd name="adj" fmla="val 10000"/>
            </a:avLst>
          </a:prstGeom>
          <a:solidFill>
            <a:srgbClr val="19263A"/>
          </a:solidFill>
          <a:ln w="15240">
            <a:solidFill>
              <a:srgbClr val="57D3E8"/>
            </a:solidFill>
            <a:prstDash val="solid"/>
          </a:ln>
        </p:spPr>
      </p:sp>
      <p:sp>
        <p:nvSpPr>
          <p:cNvPr id="13" name="Text 11"/>
          <p:cNvSpPr/>
          <p:nvPr/>
        </p:nvSpPr>
        <p:spPr>
          <a:xfrm>
            <a:off x="6108192" y="1783080"/>
            <a:ext cx="1965960" cy="274320"/>
          </a:xfrm>
          <a:prstGeom prst="rect">
            <a:avLst/>
          </a:prstGeom>
          <a:noFill/>
          <a:ln/>
        </p:spPr>
        <p:txBody>
          <a:bodyPr wrap="square" lIns="0" tIns="0" rIns="0" bIns="0" rtlCol="0" anchor="ctr"/>
          <a:lstStyle/>
          <a:p>
            <a:pPr algn="ctr" indent="0" marL="0">
              <a:buNone/>
            </a:pPr>
            <a:r>
              <a:rPr lang="en-US" sz="1600" b="1" dirty="0">
                <a:solidFill>
                  <a:srgbClr val="57D3E8"/>
                </a:solidFill>
                <a:latin typeface="Arial" pitchFamily="34" charset="0"/>
                <a:ea typeface="Arial" pitchFamily="34" charset="-122"/>
                <a:cs typeface="Arial" pitchFamily="34" charset="-120"/>
              </a:rPr>
              <a:t>ATTACK FAMILY</a:t>
            </a:r>
            <a:endParaRPr lang="en-US" sz="1600" dirty="0"/>
          </a:p>
        </p:txBody>
      </p:sp>
      <p:sp>
        <p:nvSpPr>
          <p:cNvPr id="14" name="Text 12"/>
          <p:cNvSpPr/>
          <p:nvPr/>
        </p:nvSpPr>
        <p:spPr>
          <a:xfrm>
            <a:off x="6108192" y="2148840"/>
            <a:ext cx="1965960" cy="219456"/>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Runs only after ATTACK</a:t>
            </a:r>
            <a:endParaRPr lang="en-US" sz="1050" dirty="0"/>
          </a:p>
        </p:txBody>
      </p:sp>
      <p:sp>
        <p:nvSpPr>
          <p:cNvPr id="15" name="Shape 13"/>
          <p:cNvSpPr/>
          <p:nvPr/>
        </p:nvSpPr>
        <p:spPr>
          <a:xfrm>
            <a:off x="8732520" y="1508760"/>
            <a:ext cx="2560320" cy="1097280"/>
          </a:xfrm>
          <a:prstGeom prst="roundRect">
            <a:avLst>
              <a:gd name="adj" fmla="val 10000"/>
            </a:avLst>
          </a:prstGeom>
          <a:solidFill>
            <a:srgbClr val="19263A"/>
          </a:solidFill>
          <a:ln w="15240">
            <a:solidFill>
              <a:srgbClr val="F1C75B"/>
            </a:solidFill>
            <a:prstDash val="solid"/>
          </a:ln>
        </p:spPr>
      </p:sp>
      <p:sp>
        <p:nvSpPr>
          <p:cNvPr id="16" name="Text 14"/>
          <p:cNvSpPr/>
          <p:nvPr/>
        </p:nvSpPr>
        <p:spPr>
          <a:xfrm>
            <a:off x="8961120" y="1783080"/>
            <a:ext cx="2103120" cy="274320"/>
          </a:xfrm>
          <a:prstGeom prst="rect">
            <a:avLst/>
          </a:prstGeom>
          <a:noFill/>
          <a:ln/>
        </p:spPr>
        <p:txBody>
          <a:bodyPr wrap="square" lIns="0" tIns="0" rIns="0" bIns="0" rtlCol="0" anchor="ctr"/>
          <a:lstStyle/>
          <a:p>
            <a:pPr algn="ctr" indent="0" marL="0">
              <a:buNone/>
            </a:pPr>
            <a:r>
              <a:rPr lang="en-US" sz="1600" b="1" dirty="0">
                <a:solidFill>
                  <a:srgbClr val="F1C75B"/>
                </a:solidFill>
                <a:latin typeface="Arial" pitchFamily="34" charset="0"/>
                <a:ea typeface="Arial" pitchFamily="34" charset="-122"/>
                <a:cs typeface="Arial" pitchFamily="34" charset="-120"/>
              </a:rPr>
              <a:t>ANOMALY MODEL</a:t>
            </a:r>
            <a:endParaRPr lang="en-US" sz="1600" dirty="0"/>
          </a:p>
        </p:txBody>
      </p:sp>
      <p:sp>
        <p:nvSpPr>
          <p:cNvPr id="17" name="Text 15"/>
          <p:cNvSpPr/>
          <p:nvPr/>
        </p:nvSpPr>
        <p:spPr>
          <a:xfrm>
            <a:off x="8961120" y="2148840"/>
            <a:ext cx="2103120" cy="219456"/>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Different from normal?</a:t>
            </a:r>
            <a:endParaRPr lang="en-US" sz="1050" dirty="0"/>
          </a:p>
        </p:txBody>
      </p:sp>
      <p:sp>
        <p:nvSpPr>
          <p:cNvPr id="18" name="Shape 16"/>
          <p:cNvSpPr/>
          <p:nvPr/>
        </p:nvSpPr>
        <p:spPr>
          <a:xfrm>
            <a:off x="2788920" y="2057400"/>
            <a:ext cx="274320" cy="0"/>
          </a:xfrm>
          <a:prstGeom prst="line">
            <a:avLst/>
          </a:prstGeom>
          <a:noFill/>
          <a:ln w="30480">
            <a:solidFill>
              <a:srgbClr val="40C982"/>
            </a:solidFill>
            <a:prstDash val="solid"/>
            <a:headEnd type="none"/>
            <a:tailEnd type="triangle"/>
          </a:ln>
        </p:spPr>
      </p:sp>
      <p:sp>
        <p:nvSpPr>
          <p:cNvPr id="19" name="Shape 17"/>
          <p:cNvSpPr/>
          <p:nvPr/>
        </p:nvSpPr>
        <p:spPr>
          <a:xfrm>
            <a:off x="5440680" y="2057400"/>
            <a:ext cx="457200" cy="0"/>
          </a:xfrm>
          <a:prstGeom prst="line">
            <a:avLst/>
          </a:prstGeom>
          <a:noFill/>
          <a:ln w="30480">
            <a:solidFill>
              <a:srgbClr val="40C982"/>
            </a:solidFill>
            <a:prstDash val="solid"/>
            <a:headEnd type="none"/>
            <a:tailEnd type="triangle"/>
          </a:ln>
        </p:spPr>
      </p:sp>
      <p:sp>
        <p:nvSpPr>
          <p:cNvPr id="20" name="Shape 18"/>
          <p:cNvSpPr/>
          <p:nvPr/>
        </p:nvSpPr>
        <p:spPr>
          <a:xfrm>
            <a:off x="1719072" y="2606040"/>
            <a:ext cx="0" cy="347472"/>
          </a:xfrm>
          <a:prstGeom prst="line">
            <a:avLst/>
          </a:prstGeom>
          <a:noFill/>
          <a:ln w="27940">
            <a:solidFill>
              <a:srgbClr val="F1C75B"/>
            </a:solidFill>
            <a:prstDash val="solid"/>
          </a:ln>
        </p:spPr>
      </p:sp>
      <p:sp>
        <p:nvSpPr>
          <p:cNvPr id="21" name="Shape 19"/>
          <p:cNvSpPr/>
          <p:nvPr/>
        </p:nvSpPr>
        <p:spPr>
          <a:xfrm>
            <a:off x="1719072" y="2953512"/>
            <a:ext cx="8302752" cy="0"/>
          </a:xfrm>
          <a:prstGeom prst="line">
            <a:avLst/>
          </a:prstGeom>
          <a:noFill/>
          <a:ln w="27940">
            <a:solidFill>
              <a:srgbClr val="F1C75B"/>
            </a:solidFill>
            <a:prstDash val="solid"/>
          </a:ln>
        </p:spPr>
      </p:sp>
      <p:sp>
        <p:nvSpPr>
          <p:cNvPr id="22" name="Shape 20"/>
          <p:cNvSpPr/>
          <p:nvPr/>
        </p:nvSpPr>
        <p:spPr>
          <a:xfrm>
            <a:off x="10021824" y="2953512"/>
            <a:ext cx="0" cy="-347472"/>
          </a:xfrm>
          <a:prstGeom prst="line">
            <a:avLst/>
          </a:prstGeom>
          <a:noFill/>
          <a:ln w="27940">
            <a:solidFill>
              <a:srgbClr val="F1C75B"/>
            </a:solidFill>
            <a:prstDash val="solid"/>
            <a:headEnd type="none"/>
            <a:tailEnd type="triangle"/>
          </a:ln>
        </p:spPr>
      </p:sp>
      <p:sp>
        <p:nvSpPr>
          <p:cNvPr id="23" name="Shape 21"/>
          <p:cNvSpPr/>
          <p:nvPr/>
        </p:nvSpPr>
        <p:spPr>
          <a:xfrm>
            <a:off x="685800" y="3337560"/>
            <a:ext cx="5486400" cy="2240280"/>
          </a:xfrm>
          <a:prstGeom prst="roundRect">
            <a:avLst>
              <a:gd name="adj" fmla="val 4898"/>
            </a:avLst>
          </a:prstGeom>
          <a:solidFill>
            <a:srgbClr val="131C2B"/>
          </a:solidFill>
          <a:ln w="15240">
            <a:solidFill>
              <a:srgbClr val="3A4A63"/>
            </a:solidFill>
            <a:prstDash val="solid"/>
          </a:ln>
        </p:spPr>
      </p:sp>
      <p:sp>
        <p:nvSpPr>
          <p:cNvPr id="24" name="Text 22"/>
          <p:cNvSpPr/>
          <p:nvPr/>
        </p:nvSpPr>
        <p:spPr>
          <a:xfrm>
            <a:off x="914400" y="3584448"/>
            <a:ext cx="2377440" cy="274320"/>
          </a:xfrm>
          <a:prstGeom prst="rect">
            <a:avLst/>
          </a:prstGeom>
          <a:noFill/>
          <a:ln/>
        </p:spPr>
        <p:txBody>
          <a:bodyPr wrap="square" lIns="0" tIns="0" rIns="0" bIns="0" rtlCol="0" anchor="ctr"/>
          <a:lstStyle/>
          <a:p>
            <a:pPr indent="0" marL="0">
              <a:buNone/>
            </a:pPr>
            <a:r>
              <a:rPr lang="en-US" sz="1400" b="1" dirty="0">
                <a:solidFill>
                  <a:srgbClr val="57D3E8"/>
                </a:solidFill>
                <a:latin typeface="Arial" pitchFamily="34" charset="0"/>
                <a:ea typeface="Arial" pitchFamily="34" charset="-122"/>
                <a:cs typeface="Arial" pitchFamily="34" charset="-120"/>
              </a:rPr>
              <a:t>ATTACK-FAMILY OUTPUT</a:t>
            </a:r>
            <a:endParaRPr lang="en-US" sz="1400" dirty="0"/>
          </a:p>
        </p:txBody>
      </p:sp>
      <p:sp>
        <p:nvSpPr>
          <p:cNvPr id="25" name="Shape 23"/>
          <p:cNvSpPr/>
          <p:nvPr/>
        </p:nvSpPr>
        <p:spPr>
          <a:xfrm>
            <a:off x="914400" y="3986784"/>
            <a:ext cx="2148840" cy="329184"/>
          </a:xfrm>
          <a:prstGeom prst="roundRect">
            <a:avLst/>
          </a:prstGeom>
          <a:solidFill>
            <a:srgbClr val="19263A"/>
          </a:solidFill>
          <a:ln w="17780">
            <a:solidFill>
              <a:srgbClr val="57D3E8"/>
            </a:solidFill>
            <a:prstDash val="solid"/>
          </a:ln>
        </p:spPr>
      </p:sp>
      <p:sp>
        <p:nvSpPr>
          <p:cNvPr id="26" name="Text 24"/>
          <p:cNvSpPr/>
          <p:nvPr/>
        </p:nvSpPr>
        <p:spPr>
          <a:xfrm>
            <a:off x="987552" y="4050792"/>
            <a:ext cx="2002536" cy="182880"/>
          </a:xfrm>
          <a:prstGeom prst="rect">
            <a:avLst/>
          </a:prstGeom>
          <a:noFill/>
          <a:ln/>
        </p:spPr>
        <p:txBody>
          <a:bodyPr wrap="square" lIns="0" tIns="0" rIns="0" bIns="0" rtlCol="0" anchor="ctr"/>
          <a:lstStyle/>
          <a:p>
            <a:pPr algn="ctr" indent="0" marL="0">
              <a:buNone/>
            </a:pPr>
            <a:r>
              <a:rPr lang="en-US" sz="950" b="1" dirty="0">
                <a:solidFill>
                  <a:srgbClr val="57D3E8"/>
                </a:solidFill>
                <a:latin typeface="Arial" pitchFamily="34" charset="0"/>
                <a:ea typeface="Arial" pitchFamily="34" charset="-122"/>
                <a:cs typeface="Arial" pitchFamily="34" charset="-120"/>
              </a:rPr>
              <a:t>Denial of Service</a:t>
            </a:r>
            <a:endParaRPr lang="en-US" sz="950" dirty="0"/>
          </a:p>
        </p:txBody>
      </p:sp>
      <p:sp>
        <p:nvSpPr>
          <p:cNvPr id="27" name="Shape 25"/>
          <p:cNvSpPr/>
          <p:nvPr/>
        </p:nvSpPr>
        <p:spPr>
          <a:xfrm>
            <a:off x="3337560" y="3986784"/>
            <a:ext cx="2148840" cy="329184"/>
          </a:xfrm>
          <a:prstGeom prst="roundRect">
            <a:avLst/>
          </a:prstGeom>
          <a:solidFill>
            <a:srgbClr val="19263A"/>
          </a:solidFill>
          <a:ln w="17780">
            <a:solidFill>
              <a:srgbClr val="57D3E8"/>
            </a:solidFill>
            <a:prstDash val="solid"/>
          </a:ln>
        </p:spPr>
      </p:sp>
      <p:sp>
        <p:nvSpPr>
          <p:cNvPr id="28" name="Text 26"/>
          <p:cNvSpPr/>
          <p:nvPr/>
        </p:nvSpPr>
        <p:spPr>
          <a:xfrm>
            <a:off x="3410712" y="4050792"/>
            <a:ext cx="2002536" cy="182880"/>
          </a:xfrm>
          <a:prstGeom prst="rect">
            <a:avLst/>
          </a:prstGeom>
          <a:noFill/>
          <a:ln/>
        </p:spPr>
        <p:txBody>
          <a:bodyPr wrap="square" lIns="0" tIns="0" rIns="0" bIns="0" rtlCol="0" anchor="ctr"/>
          <a:lstStyle/>
          <a:p>
            <a:pPr algn="ctr" indent="0" marL="0">
              <a:buNone/>
            </a:pPr>
            <a:r>
              <a:rPr lang="en-US" sz="950" b="1" dirty="0">
                <a:solidFill>
                  <a:srgbClr val="57D3E8"/>
                </a:solidFill>
                <a:latin typeface="Arial" pitchFamily="34" charset="0"/>
                <a:ea typeface="Arial" pitchFamily="34" charset="-122"/>
                <a:cs typeface="Arial" pitchFamily="34" charset="-120"/>
              </a:rPr>
              <a:t>Port Scan</a:t>
            </a:r>
            <a:endParaRPr lang="en-US" sz="950" dirty="0"/>
          </a:p>
        </p:txBody>
      </p:sp>
      <p:sp>
        <p:nvSpPr>
          <p:cNvPr id="29" name="Shape 27"/>
          <p:cNvSpPr/>
          <p:nvPr/>
        </p:nvSpPr>
        <p:spPr>
          <a:xfrm>
            <a:off x="914400" y="4489704"/>
            <a:ext cx="2148840" cy="329184"/>
          </a:xfrm>
          <a:prstGeom prst="roundRect">
            <a:avLst/>
          </a:prstGeom>
          <a:solidFill>
            <a:srgbClr val="19263A"/>
          </a:solidFill>
          <a:ln w="17780">
            <a:solidFill>
              <a:srgbClr val="57D3E8"/>
            </a:solidFill>
            <a:prstDash val="solid"/>
          </a:ln>
        </p:spPr>
      </p:sp>
      <p:sp>
        <p:nvSpPr>
          <p:cNvPr id="30" name="Text 28"/>
          <p:cNvSpPr/>
          <p:nvPr/>
        </p:nvSpPr>
        <p:spPr>
          <a:xfrm>
            <a:off x="987552" y="4553712"/>
            <a:ext cx="2002536" cy="182880"/>
          </a:xfrm>
          <a:prstGeom prst="rect">
            <a:avLst/>
          </a:prstGeom>
          <a:noFill/>
          <a:ln/>
        </p:spPr>
        <p:txBody>
          <a:bodyPr wrap="square" lIns="0" tIns="0" rIns="0" bIns="0" rtlCol="0" anchor="ctr"/>
          <a:lstStyle/>
          <a:p>
            <a:pPr algn="ctr" indent="0" marL="0">
              <a:buNone/>
            </a:pPr>
            <a:r>
              <a:rPr lang="en-US" sz="950" b="1" dirty="0">
                <a:solidFill>
                  <a:srgbClr val="57D3E8"/>
                </a:solidFill>
                <a:latin typeface="Arial" pitchFamily="34" charset="0"/>
                <a:ea typeface="Arial" pitchFamily="34" charset="-122"/>
                <a:cs typeface="Arial" pitchFamily="34" charset="-120"/>
              </a:rPr>
              <a:t>Brute Force</a:t>
            </a:r>
            <a:endParaRPr lang="en-US" sz="950" dirty="0"/>
          </a:p>
        </p:txBody>
      </p:sp>
      <p:sp>
        <p:nvSpPr>
          <p:cNvPr id="31" name="Shape 29"/>
          <p:cNvSpPr/>
          <p:nvPr/>
        </p:nvSpPr>
        <p:spPr>
          <a:xfrm>
            <a:off x="3337560" y="4489704"/>
            <a:ext cx="2148840" cy="329184"/>
          </a:xfrm>
          <a:prstGeom prst="roundRect">
            <a:avLst/>
          </a:prstGeom>
          <a:solidFill>
            <a:srgbClr val="19263A"/>
          </a:solidFill>
          <a:ln w="17780">
            <a:solidFill>
              <a:srgbClr val="57D3E8"/>
            </a:solidFill>
            <a:prstDash val="solid"/>
          </a:ln>
        </p:spPr>
      </p:sp>
      <p:sp>
        <p:nvSpPr>
          <p:cNvPr id="32" name="Text 30"/>
          <p:cNvSpPr/>
          <p:nvPr/>
        </p:nvSpPr>
        <p:spPr>
          <a:xfrm>
            <a:off x="3410712" y="4553712"/>
            <a:ext cx="2002536" cy="182880"/>
          </a:xfrm>
          <a:prstGeom prst="rect">
            <a:avLst/>
          </a:prstGeom>
          <a:noFill/>
          <a:ln/>
        </p:spPr>
        <p:txBody>
          <a:bodyPr wrap="square" lIns="0" tIns="0" rIns="0" bIns="0" rtlCol="0" anchor="ctr"/>
          <a:lstStyle/>
          <a:p>
            <a:pPr algn="ctr" indent="0" marL="0">
              <a:buNone/>
            </a:pPr>
            <a:r>
              <a:rPr lang="en-US" sz="950" b="1" dirty="0">
                <a:solidFill>
                  <a:srgbClr val="57D3E8"/>
                </a:solidFill>
                <a:latin typeface="Arial" pitchFamily="34" charset="0"/>
                <a:ea typeface="Arial" pitchFamily="34" charset="-122"/>
                <a:cs typeface="Arial" pitchFamily="34" charset="-120"/>
              </a:rPr>
              <a:t>Web Attack</a:t>
            </a:r>
            <a:endParaRPr lang="en-US" sz="950" dirty="0"/>
          </a:p>
        </p:txBody>
      </p:sp>
      <p:sp>
        <p:nvSpPr>
          <p:cNvPr id="33" name="Shape 31"/>
          <p:cNvSpPr/>
          <p:nvPr/>
        </p:nvSpPr>
        <p:spPr>
          <a:xfrm>
            <a:off x="914400" y="4992624"/>
            <a:ext cx="2148840" cy="329184"/>
          </a:xfrm>
          <a:prstGeom prst="roundRect">
            <a:avLst/>
          </a:prstGeom>
          <a:solidFill>
            <a:srgbClr val="19263A"/>
          </a:solidFill>
          <a:ln w="17780">
            <a:solidFill>
              <a:srgbClr val="57D3E8"/>
            </a:solidFill>
            <a:prstDash val="solid"/>
          </a:ln>
        </p:spPr>
      </p:sp>
      <p:sp>
        <p:nvSpPr>
          <p:cNvPr id="34" name="Text 32"/>
          <p:cNvSpPr/>
          <p:nvPr/>
        </p:nvSpPr>
        <p:spPr>
          <a:xfrm>
            <a:off x="987552" y="5056632"/>
            <a:ext cx="2002536" cy="182880"/>
          </a:xfrm>
          <a:prstGeom prst="rect">
            <a:avLst/>
          </a:prstGeom>
          <a:noFill/>
          <a:ln/>
        </p:spPr>
        <p:txBody>
          <a:bodyPr wrap="square" lIns="0" tIns="0" rIns="0" bIns="0" rtlCol="0" anchor="ctr"/>
          <a:lstStyle/>
          <a:p>
            <a:pPr algn="ctr" indent="0" marL="0">
              <a:buNone/>
            </a:pPr>
            <a:r>
              <a:rPr lang="en-US" sz="950" b="1" dirty="0">
                <a:solidFill>
                  <a:srgbClr val="57D3E8"/>
                </a:solidFill>
                <a:latin typeface="Arial" pitchFamily="34" charset="0"/>
                <a:ea typeface="Arial" pitchFamily="34" charset="-122"/>
                <a:cs typeface="Arial" pitchFamily="34" charset="-120"/>
              </a:rPr>
              <a:t>Other Malicious</a:t>
            </a:r>
            <a:endParaRPr lang="en-US" sz="950" dirty="0"/>
          </a:p>
        </p:txBody>
      </p:sp>
      <p:sp>
        <p:nvSpPr>
          <p:cNvPr id="35" name="Shape 33"/>
          <p:cNvSpPr/>
          <p:nvPr/>
        </p:nvSpPr>
        <p:spPr>
          <a:xfrm>
            <a:off x="6446520" y="3337560"/>
            <a:ext cx="5029200" cy="2240280"/>
          </a:xfrm>
          <a:prstGeom prst="roundRect">
            <a:avLst>
              <a:gd name="adj" fmla="val 4898"/>
            </a:avLst>
          </a:prstGeom>
          <a:solidFill>
            <a:srgbClr val="131C2B"/>
          </a:solidFill>
          <a:ln w="15240">
            <a:solidFill>
              <a:srgbClr val="3A4A63"/>
            </a:solidFill>
            <a:prstDash val="solid"/>
          </a:ln>
        </p:spPr>
      </p:sp>
      <p:sp>
        <p:nvSpPr>
          <p:cNvPr id="36" name="Text 34"/>
          <p:cNvSpPr/>
          <p:nvPr/>
        </p:nvSpPr>
        <p:spPr>
          <a:xfrm>
            <a:off x="6675120" y="3584448"/>
            <a:ext cx="2834640" cy="274320"/>
          </a:xfrm>
          <a:prstGeom prst="rect">
            <a:avLst/>
          </a:prstGeom>
          <a:noFill/>
          <a:ln/>
        </p:spPr>
        <p:txBody>
          <a:bodyPr wrap="square" lIns="0" tIns="0" rIns="0" bIns="0" rtlCol="0" anchor="ctr"/>
          <a:lstStyle/>
          <a:p>
            <a:pPr indent="0" marL="0">
              <a:buNone/>
            </a:pPr>
            <a:r>
              <a:rPr lang="en-US" sz="1400" b="1" dirty="0">
                <a:solidFill>
                  <a:srgbClr val="F59E5B"/>
                </a:solidFill>
                <a:latin typeface="Arial" pitchFamily="34" charset="0"/>
                <a:ea typeface="Arial" pitchFamily="34" charset="-122"/>
                <a:cs typeface="Arial" pitchFamily="34" charset="-120"/>
              </a:rPr>
              <a:t>IMPORTANT LIMITATIONS</a:t>
            </a:r>
            <a:endParaRPr lang="en-US" sz="1400" dirty="0"/>
          </a:p>
        </p:txBody>
      </p:sp>
      <p:sp>
        <p:nvSpPr>
          <p:cNvPr id="37" name="Text 35"/>
          <p:cNvSpPr/>
          <p:nvPr/>
        </p:nvSpPr>
        <p:spPr>
          <a:xfrm>
            <a:off x="6675120" y="4005072"/>
            <a:ext cx="4480560" cy="1234440"/>
          </a:xfrm>
          <a:prstGeom prst="rect">
            <a:avLst/>
          </a:prstGeom>
          <a:noFill/>
          <a:ln/>
        </p:spPr>
        <p:txBody>
          <a:bodyPr wrap="square" lIns="381" tIns="381" rIns="381" bIns="381" rtlCol="0" anchor="t"/>
          <a:lstStyle/>
          <a:p>
            <a:pPr marL="182562" indent="-182562">
              <a:buSzPct val="100000"/>
              <a:buChar char="•"/>
            </a:pPr>
            <a:r>
              <a:rPr lang="en-US" sz="1250" dirty="0">
                <a:solidFill>
                  <a:srgbClr val="F7FAFC"/>
                </a:solidFill>
                <a:latin typeface="Arial" pitchFamily="34" charset="0"/>
                <a:ea typeface="Arial" pitchFamily="34" charset="-122"/>
                <a:cs typeface="Arial" pitchFamily="34" charset="-120"/>
              </a:rPr>
              <a:t>If Stage 1 says BENIGN, the family model does not run.</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An unusual flow is not automatically malicious.</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Neither layer solved the new-scenario problem by itself.</a:t>
            </a:r>
            <a:endParaRPr lang="en-US" sz="125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4AA3FF"/>
          </a:solidFill>
          <a:ln w="12700">
            <a:solidFill>
              <a:srgbClr val="4AA3FF"/>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DASHBOARD</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The dashboard turned model output into analyst evidence</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Streamlit provided file upload, model results, alert queues, and drill-down.</a:t>
            </a:r>
            <a:endParaRPr lang="en-US" sz="1150" dirty="0"/>
          </a:p>
        </p:txBody>
      </p:sp>
      <p:sp>
        <p:nvSpPr>
          <p:cNvPr id="6" name="Shape 4"/>
          <p:cNvSpPr/>
          <p:nvPr/>
        </p:nvSpPr>
        <p:spPr>
          <a:xfrm>
            <a:off x="502920" y="1280160"/>
            <a:ext cx="7498080" cy="5074920"/>
          </a:xfrm>
          <a:prstGeom prst="roundRect">
            <a:avLst>
              <a:gd name="adj" fmla="val 2162"/>
            </a:avLst>
          </a:prstGeom>
          <a:solidFill>
            <a:srgbClr val="19263A"/>
          </a:solidFill>
          <a:ln w="15240">
            <a:solidFill>
              <a:srgbClr val="3A4A63"/>
            </a:solidFill>
            <a:prstDash val="solid"/>
          </a:ln>
        </p:spPr>
      </p:sp>
      <p:pic>
        <p:nvPicPr>
          <p:cNvPr id="7" name="Image 0" descr="/mnt/data/AI-NIDS-Final-Dashboard-Screenshots/04_dashboard_overview.png">    </p:cNvPr>
          <p:cNvPicPr>
            <a:picLocks noChangeAspect="1"/>
          </p:cNvPicPr>
          <p:nvPr/>
        </p:nvPicPr>
        <p:blipFill>
          <a:blip r:embed="rId1"/>
          <a:stretch>
            <a:fillRect/>
          </a:stretch>
        </p:blipFill>
        <p:spPr>
          <a:xfrm>
            <a:off x="1745340" y="1444752"/>
            <a:ext cx="5004096" cy="4754880"/>
          </a:xfrm>
          <a:prstGeom prst="rect">
            <a:avLst/>
          </a:prstGeom>
        </p:spPr>
      </p:pic>
      <p:sp>
        <p:nvSpPr>
          <p:cNvPr id="8" name="Shape 5"/>
          <p:cNvSpPr/>
          <p:nvPr/>
        </p:nvSpPr>
        <p:spPr>
          <a:xfrm>
            <a:off x="8229600" y="1280160"/>
            <a:ext cx="3429000" cy="5074920"/>
          </a:xfrm>
          <a:prstGeom prst="roundRect">
            <a:avLst>
              <a:gd name="adj" fmla="val 3200"/>
            </a:avLst>
          </a:prstGeom>
          <a:solidFill>
            <a:srgbClr val="131C2B"/>
          </a:solidFill>
          <a:ln w="15240">
            <a:solidFill>
              <a:srgbClr val="4AA3FF"/>
            </a:solidFill>
            <a:prstDash val="solid"/>
          </a:ln>
        </p:spPr>
      </p:sp>
      <p:sp>
        <p:nvSpPr>
          <p:cNvPr id="9" name="Text 6"/>
          <p:cNvSpPr/>
          <p:nvPr/>
        </p:nvSpPr>
        <p:spPr>
          <a:xfrm>
            <a:off x="8458200" y="1691640"/>
            <a:ext cx="2926080" cy="4297680"/>
          </a:xfrm>
          <a:prstGeom prst="rect">
            <a:avLst/>
          </a:prstGeom>
          <a:noFill/>
          <a:ln/>
        </p:spPr>
        <p:txBody>
          <a:bodyPr wrap="square" lIns="381" tIns="381" rIns="381" bIns="381" rtlCol="0" anchor="t"/>
          <a:lstStyle/>
          <a:p>
            <a:pPr marL="189865" indent="-189865">
              <a:buSzPct val="100000"/>
              <a:buChar char="•"/>
            </a:pPr>
            <a:r>
              <a:rPr lang="en-US" sz="1300" dirty="0">
                <a:solidFill>
                  <a:srgbClr val="F7FAFC"/>
                </a:solidFill>
                <a:latin typeface="Arial" pitchFamily="34" charset="0"/>
                <a:ea typeface="Arial" pitchFamily="34" charset="-122"/>
                <a:cs typeface="Arial" pitchFamily="34" charset="-120"/>
              </a:rPr>
              <a:t>Checks the required 77 features</a:t>
            </a:r>
            <a:endParaRPr lang="en-US" sz="1300" dirty="0"/>
          </a:p>
          <a:p>
            <a:pPr marL="189865" indent="-189865">
              <a:buSzPct val="100000"/>
              <a:buChar char="•"/>
            </a:pPr>
            <a:r>
              <a:rPr lang="en-US" sz="1300" dirty="0">
                <a:solidFill>
                  <a:srgbClr val="F7FAFC"/>
                </a:solidFill>
                <a:latin typeface="Arial" pitchFamily="34" charset="0"/>
                <a:ea typeface="Arial" pitchFamily="34" charset="-122"/>
                <a:cs typeface="Arial" pitchFamily="34" charset="-120"/>
              </a:rPr>
              <a:t>Shows BENIGN or ATTACK decisions</a:t>
            </a:r>
            <a:endParaRPr lang="en-US" sz="1300" dirty="0"/>
          </a:p>
          <a:p>
            <a:pPr marL="189865" indent="-189865">
              <a:buSzPct val="100000"/>
              <a:buChar char="•"/>
            </a:pPr>
            <a:r>
              <a:rPr lang="en-US" sz="1300" dirty="0">
                <a:solidFill>
                  <a:srgbClr val="F7FAFC"/>
                </a:solidFill>
                <a:latin typeface="Arial" pitchFamily="34" charset="0"/>
                <a:ea typeface="Arial" pitchFamily="34" charset="-122"/>
                <a:cs typeface="Arial" pitchFamily="34" charset="-120"/>
              </a:rPr>
              <a:t>Displays anomaly scores and flags</a:t>
            </a:r>
            <a:endParaRPr lang="en-US" sz="1300" dirty="0"/>
          </a:p>
          <a:p>
            <a:pPr marL="189865" indent="-189865">
              <a:buSzPct val="100000"/>
              <a:buChar char="•"/>
            </a:pPr>
            <a:r>
              <a:rPr lang="en-US" sz="1300" dirty="0">
                <a:solidFill>
                  <a:srgbClr val="F7FAFC"/>
                </a:solidFill>
                <a:latin typeface="Arial" pitchFamily="34" charset="0"/>
                <a:ea typeface="Arial" pitchFamily="34" charset="-122"/>
                <a:cs typeface="Arial" pitchFamily="34" charset="-120"/>
              </a:rPr>
              <a:t>Summarizes attack families and severity</a:t>
            </a:r>
            <a:endParaRPr lang="en-US" sz="1300" dirty="0"/>
          </a:p>
          <a:p>
            <a:pPr marL="189865" indent="-189865">
              <a:buSzPct val="100000"/>
              <a:buChar char="•"/>
            </a:pPr>
            <a:r>
              <a:rPr lang="en-US" sz="1300" dirty="0">
                <a:solidFill>
                  <a:srgbClr val="F7FAFC"/>
                </a:solidFill>
                <a:latin typeface="Arial" pitchFamily="34" charset="0"/>
                <a:ea typeface="Arial" pitchFamily="34" charset="-122"/>
                <a:cs typeface="Arial" pitchFamily="34" charset="-120"/>
              </a:rPr>
              <a:t>Adds MITRE ATT&amp;CK context</a:t>
            </a:r>
            <a:endParaRPr lang="en-US" sz="1300" dirty="0"/>
          </a:p>
          <a:p>
            <a:pPr marL="189865" indent="-189865">
              <a:buSzPct val="100000"/>
              <a:buChar char="•"/>
            </a:pPr>
            <a:r>
              <a:rPr lang="en-US" sz="1300" dirty="0">
                <a:solidFill>
                  <a:srgbClr val="F7FAFC"/>
                </a:solidFill>
                <a:latin typeface="Arial" pitchFamily="34" charset="0"/>
                <a:ea typeface="Arial" pitchFamily="34" charset="-122"/>
                <a:cs typeface="Arial" pitchFamily="34" charset="-120"/>
              </a:rPr>
              <a:t>Supports one-flow inspection</a:t>
            </a:r>
            <a:endParaRPr lang="en-US" sz="1300" dirty="0"/>
          </a:p>
          <a:p>
            <a:pPr marL="189865" indent="-189865">
              <a:buSzPct val="100000"/>
              <a:buChar char="•"/>
            </a:pPr>
            <a:r>
              <a:rPr lang="en-US" sz="1300" dirty="0">
                <a:solidFill>
                  <a:srgbClr val="F7FAFC"/>
                </a:solidFill>
                <a:latin typeface="Arial" pitchFamily="34" charset="0"/>
                <a:ea typeface="Arial" pitchFamily="34" charset="-122"/>
                <a:cs typeface="Arial" pitchFamily="34" charset="-120"/>
              </a:rPr>
              <a:t>Exports a complete prediction ledger</a:t>
            </a:r>
            <a:endParaRPr lang="en-US" sz="130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FF6B6B"/>
          </a:solidFill>
          <a:ln w="12700">
            <a:solidFill>
              <a:srgbClr val="FF6B6B"/>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LIVE LAB</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A safe VMware lab was used for active testing</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Kali generated traffic only against an Ubuntu VM owned and controlled in the lab.</a:t>
            </a:r>
            <a:endParaRPr lang="en-US" sz="1150" dirty="0"/>
          </a:p>
        </p:txBody>
      </p:sp>
      <p:sp>
        <p:nvSpPr>
          <p:cNvPr id="6" name="Shape 4"/>
          <p:cNvSpPr/>
          <p:nvPr/>
        </p:nvSpPr>
        <p:spPr>
          <a:xfrm>
            <a:off x="502920" y="1298448"/>
            <a:ext cx="11201400" cy="4983480"/>
          </a:xfrm>
          <a:prstGeom prst="roundRect">
            <a:avLst>
              <a:gd name="adj" fmla="val 2202"/>
            </a:avLst>
          </a:prstGeom>
          <a:solidFill>
            <a:srgbClr val="19263A"/>
          </a:solidFill>
          <a:ln w="15240">
            <a:solidFill>
              <a:srgbClr val="3A4A63"/>
            </a:solidFill>
            <a:prstDash val="solid"/>
          </a:ln>
        </p:spPr>
      </p:sp>
      <p:pic>
        <p:nvPicPr>
          <p:cNvPr id="7" name="Image 0" descr="/mnt/data/nids_assets/lab_setup.png">    </p:cNvPr>
          <p:cNvPicPr>
            <a:picLocks noChangeAspect="1"/>
          </p:cNvPicPr>
          <p:nvPr/>
        </p:nvPicPr>
        <p:blipFill>
          <a:blip r:embed="rId1"/>
          <a:stretch>
            <a:fillRect/>
          </a:stretch>
        </p:blipFill>
        <p:spPr>
          <a:xfrm>
            <a:off x="2039620" y="1490472"/>
            <a:ext cx="8128000" cy="4572000"/>
          </a:xfrm>
          <a:prstGeom prst="rect">
            <a:avLst/>
          </a:prstGeom>
        </p:spPr>
      </p:pic>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40C982"/>
          </a:solidFill>
          <a:ln w="12700">
            <a:solidFill>
              <a:srgbClr val="40C982"/>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BENIGN TEST</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The benign baseline remained clear</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Normal ping and HTTP activity established a safe reference point.</a:t>
            </a:r>
            <a:endParaRPr lang="en-US" sz="1150" dirty="0"/>
          </a:p>
        </p:txBody>
      </p:sp>
      <p:sp>
        <p:nvSpPr>
          <p:cNvPr id="6" name="Shape 4"/>
          <p:cNvSpPr/>
          <p:nvPr/>
        </p:nvSpPr>
        <p:spPr>
          <a:xfrm>
            <a:off x="685800" y="1508760"/>
            <a:ext cx="2057400" cy="1234440"/>
          </a:xfrm>
          <a:prstGeom prst="roundRect">
            <a:avLst>
              <a:gd name="adj" fmla="val 8889"/>
            </a:avLst>
          </a:prstGeom>
          <a:solidFill>
            <a:srgbClr val="19263A"/>
          </a:solidFill>
          <a:ln w="15240">
            <a:solidFill>
              <a:srgbClr val="40C982"/>
            </a:solidFill>
            <a:prstDash val="solid"/>
          </a:ln>
        </p:spPr>
      </p:sp>
      <p:sp>
        <p:nvSpPr>
          <p:cNvPr id="7" name="Text 5"/>
          <p:cNvSpPr/>
          <p:nvPr/>
        </p:nvSpPr>
        <p:spPr>
          <a:xfrm>
            <a:off x="813816" y="1618488"/>
            <a:ext cx="180136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SUPPORTED HTTP FLOWS</a:t>
            </a:r>
            <a:endParaRPr lang="en-US" sz="950" dirty="0"/>
          </a:p>
        </p:txBody>
      </p:sp>
      <p:sp>
        <p:nvSpPr>
          <p:cNvPr id="8" name="Text 6"/>
          <p:cNvSpPr/>
          <p:nvPr/>
        </p:nvSpPr>
        <p:spPr>
          <a:xfrm>
            <a:off x="777240" y="1892808"/>
            <a:ext cx="1874520" cy="438912"/>
          </a:xfrm>
          <a:prstGeom prst="rect">
            <a:avLst/>
          </a:prstGeom>
          <a:noFill/>
          <a:ln/>
        </p:spPr>
        <p:txBody>
          <a:bodyPr wrap="square" lIns="0" tIns="0" rIns="0" bIns="0" rtlCol="0" anchor="ctr"/>
          <a:lstStyle/>
          <a:p>
            <a:pPr algn="ctr" indent="0" marL="0">
              <a:buNone/>
            </a:pPr>
            <a:r>
              <a:rPr lang="en-US" sz="2400" b="1" dirty="0">
                <a:solidFill>
                  <a:srgbClr val="40C982"/>
                </a:solidFill>
                <a:latin typeface="Arial" pitchFamily="34" charset="0"/>
                <a:ea typeface="Arial" pitchFamily="34" charset="-122"/>
                <a:cs typeface="Arial" pitchFamily="34" charset="-120"/>
              </a:rPr>
              <a:t>5</a:t>
            </a:r>
            <a:endParaRPr lang="en-US" sz="2400" dirty="0"/>
          </a:p>
        </p:txBody>
      </p:sp>
      <p:sp>
        <p:nvSpPr>
          <p:cNvPr id="9" name="Shape 7"/>
          <p:cNvSpPr/>
          <p:nvPr/>
        </p:nvSpPr>
        <p:spPr>
          <a:xfrm>
            <a:off x="2971800" y="1508760"/>
            <a:ext cx="2057400" cy="1234440"/>
          </a:xfrm>
          <a:prstGeom prst="roundRect">
            <a:avLst>
              <a:gd name="adj" fmla="val 8889"/>
            </a:avLst>
          </a:prstGeom>
          <a:solidFill>
            <a:srgbClr val="19263A"/>
          </a:solidFill>
          <a:ln w="15240">
            <a:solidFill>
              <a:srgbClr val="40C982"/>
            </a:solidFill>
            <a:prstDash val="solid"/>
          </a:ln>
        </p:spPr>
      </p:sp>
      <p:sp>
        <p:nvSpPr>
          <p:cNvPr id="10" name="Text 8"/>
          <p:cNvSpPr/>
          <p:nvPr/>
        </p:nvSpPr>
        <p:spPr>
          <a:xfrm>
            <a:off x="3099816" y="1618488"/>
            <a:ext cx="180136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ATTACK PREDICTIONS</a:t>
            </a:r>
            <a:endParaRPr lang="en-US" sz="950" dirty="0"/>
          </a:p>
        </p:txBody>
      </p:sp>
      <p:sp>
        <p:nvSpPr>
          <p:cNvPr id="11" name="Text 9"/>
          <p:cNvSpPr/>
          <p:nvPr/>
        </p:nvSpPr>
        <p:spPr>
          <a:xfrm>
            <a:off x="3063240" y="1892808"/>
            <a:ext cx="1874520" cy="438912"/>
          </a:xfrm>
          <a:prstGeom prst="rect">
            <a:avLst/>
          </a:prstGeom>
          <a:noFill/>
          <a:ln/>
        </p:spPr>
        <p:txBody>
          <a:bodyPr wrap="square" lIns="0" tIns="0" rIns="0" bIns="0" rtlCol="0" anchor="ctr"/>
          <a:lstStyle/>
          <a:p>
            <a:pPr algn="ctr" indent="0" marL="0">
              <a:buNone/>
            </a:pPr>
            <a:r>
              <a:rPr lang="en-US" sz="2400" b="1" dirty="0">
                <a:solidFill>
                  <a:srgbClr val="40C982"/>
                </a:solidFill>
                <a:latin typeface="Arial" pitchFamily="34" charset="0"/>
                <a:ea typeface="Arial" pitchFamily="34" charset="-122"/>
                <a:cs typeface="Arial" pitchFamily="34" charset="-120"/>
              </a:rPr>
              <a:t>0</a:t>
            </a:r>
            <a:endParaRPr lang="en-US" sz="2400" dirty="0"/>
          </a:p>
        </p:txBody>
      </p:sp>
      <p:sp>
        <p:nvSpPr>
          <p:cNvPr id="12" name="Shape 10"/>
          <p:cNvSpPr/>
          <p:nvPr/>
        </p:nvSpPr>
        <p:spPr>
          <a:xfrm>
            <a:off x="5257800" y="1508760"/>
            <a:ext cx="2057400" cy="1234440"/>
          </a:xfrm>
          <a:prstGeom prst="roundRect">
            <a:avLst>
              <a:gd name="adj" fmla="val 8889"/>
            </a:avLst>
          </a:prstGeom>
          <a:solidFill>
            <a:srgbClr val="19263A"/>
          </a:solidFill>
          <a:ln w="15240">
            <a:solidFill>
              <a:srgbClr val="40C982"/>
            </a:solidFill>
            <a:prstDash val="solid"/>
          </a:ln>
        </p:spPr>
      </p:sp>
      <p:sp>
        <p:nvSpPr>
          <p:cNvPr id="13" name="Text 11"/>
          <p:cNvSpPr/>
          <p:nvPr/>
        </p:nvSpPr>
        <p:spPr>
          <a:xfrm>
            <a:off x="5385816" y="1618488"/>
            <a:ext cx="180136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ANOMALY FLAGS</a:t>
            </a:r>
            <a:endParaRPr lang="en-US" sz="950" dirty="0"/>
          </a:p>
        </p:txBody>
      </p:sp>
      <p:sp>
        <p:nvSpPr>
          <p:cNvPr id="14" name="Text 12"/>
          <p:cNvSpPr/>
          <p:nvPr/>
        </p:nvSpPr>
        <p:spPr>
          <a:xfrm>
            <a:off x="5349240" y="1892808"/>
            <a:ext cx="1874520" cy="438912"/>
          </a:xfrm>
          <a:prstGeom prst="rect">
            <a:avLst/>
          </a:prstGeom>
          <a:noFill/>
          <a:ln/>
        </p:spPr>
        <p:txBody>
          <a:bodyPr wrap="square" lIns="0" tIns="0" rIns="0" bIns="0" rtlCol="0" anchor="ctr"/>
          <a:lstStyle/>
          <a:p>
            <a:pPr algn="ctr" indent="0" marL="0">
              <a:buNone/>
            </a:pPr>
            <a:r>
              <a:rPr lang="en-US" sz="2400" b="1" dirty="0">
                <a:solidFill>
                  <a:srgbClr val="40C982"/>
                </a:solidFill>
                <a:latin typeface="Arial" pitchFamily="34" charset="0"/>
                <a:ea typeface="Arial" pitchFamily="34" charset="-122"/>
                <a:cs typeface="Arial" pitchFamily="34" charset="-120"/>
              </a:rPr>
              <a:t>0</a:t>
            </a:r>
            <a:endParaRPr lang="en-US" sz="2400" dirty="0"/>
          </a:p>
        </p:txBody>
      </p:sp>
      <p:sp>
        <p:nvSpPr>
          <p:cNvPr id="15" name="Shape 13"/>
          <p:cNvSpPr/>
          <p:nvPr/>
        </p:nvSpPr>
        <p:spPr>
          <a:xfrm>
            <a:off x="7543800" y="1508760"/>
            <a:ext cx="2057400" cy="1234440"/>
          </a:xfrm>
          <a:prstGeom prst="roundRect">
            <a:avLst>
              <a:gd name="adj" fmla="val 8889"/>
            </a:avLst>
          </a:prstGeom>
          <a:solidFill>
            <a:srgbClr val="19263A"/>
          </a:solidFill>
          <a:ln w="15240">
            <a:solidFill>
              <a:srgbClr val="40C982"/>
            </a:solidFill>
            <a:prstDash val="solid"/>
          </a:ln>
        </p:spPr>
      </p:sp>
      <p:sp>
        <p:nvSpPr>
          <p:cNvPr id="16" name="Text 14"/>
          <p:cNvSpPr/>
          <p:nvPr/>
        </p:nvSpPr>
        <p:spPr>
          <a:xfrm>
            <a:off x="7671816" y="1618488"/>
            <a:ext cx="180136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CROSS-FLOW RESULT</a:t>
            </a:r>
            <a:endParaRPr lang="en-US" sz="950" dirty="0"/>
          </a:p>
        </p:txBody>
      </p:sp>
      <p:sp>
        <p:nvSpPr>
          <p:cNvPr id="17" name="Text 15"/>
          <p:cNvSpPr/>
          <p:nvPr/>
        </p:nvSpPr>
        <p:spPr>
          <a:xfrm>
            <a:off x="7635240" y="1892808"/>
            <a:ext cx="1874520" cy="438912"/>
          </a:xfrm>
          <a:prstGeom prst="rect">
            <a:avLst/>
          </a:prstGeom>
          <a:noFill/>
          <a:ln/>
        </p:spPr>
        <p:txBody>
          <a:bodyPr wrap="square" lIns="0" tIns="0" rIns="0" bIns="0" rtlCol="0" anchor="ctr"/>
          <a:lstStyle/>
          <a:p>
            <a:pPr algn="ctr" indent="0" marL="0">
              <a:buNone/>
            </a:pPr>
            <a:r>
              <a:rPr lang="en-US" sz="2400" b="1" dirty="0">
                <a:solidFill>
                  <a:srgbClr val="40C982"/>
                </a:solidFill>
                <a:latin typeface="Arial" pitchFamily="34" charset="0"/>
                <a:ea typeface="Arial" pitchFamily="34" charset="-122"/>
                <a:cs typeface="Arial" pitchFamily="34" charset="-120"/>
              </a:rPr>
              <a:t>CLEAR</a:t>
            </a:r>
            <a:endParaRPr lang="en-US" sz="2400" dirty="0"/>
          </a:p>
        </p:txBody>
      </p:sp>
      <p:sp>
        <p:nvSpPr>
          <p:cNvPr id="18" name="Text 16"/>
          <p:cNvSpPr/>
          <p:nvPr/>
        </p:nvSpPr>
        <p:spPr>
          <a:xfrm>
            <a:off x="7653528" y="2432304"/>
            <a:ext cx="1837944" cy="201168"/>
          </a:xfrm>
          <a:prstGeom prst="rect">
            <a:avLst/>
          </a:prstGeom>
          <a:noFill/>
          <a:ln/>
        </p:spPr>
        <p:txBody>
          <a:bodyPr wrap="square" lIns="0" tIns="0" rIns="0" bIns="0" rtlCol="0" anchor="ctr"/>
          <a:lstStyle/>
          <a:p>
            <a:pPr algn="ctr" indent="0" marL="0">
              <a:buNone/>
            </a:pPr>
            <a:r>
              <a:rPr lang="en-US" sz="780" dirty="0">
                <a:solidFill>
                  <a:srgbClr val="A9B5C8"/>
                </a:solidFill>
                <a:latin typeface="Arial" pitchFamily="34" charset="0"/>
                <a:ea typeface="Arial" pitchFamily="34" charset="-122"/>
                <a:cs typeface="Arial" pitchFamily="34" charset="-120"/>
              </a:rPr>
              <a:t>NO_SCAN_PATTERN</a:t>
            </a:r>
            <a:endParaRPr lang="en-US" sz="780" dirty="0"/>
          </a:p>
        </p:txBody>
      </p:sp>
      <p:sp>
        <p:nvSpPr>
          <p:cNvPr id="19" name="Shape 17"/>
          <p:cNvSpPr/>
          <p:nvPr/>
        </p:nvSpPr>
        <p:spPr>
          <a:xfrm>
            <a:off x="9829800" y="1508760"/>
            <a:ext cx="1783080" cy="1234440"/>
          </a:xfrm>
          <a:prstGeom prst="roundRect">
            <a:avLst>
              <a:gd name="adj" fmla="val 8889"/>
            </a:avLst>
          </a:prstGeom>
          <a:solidFill>
            <a:srgbClr val="19263A"/>
          </a:solidFill>
          <a:ln w="15240">
            <a:solidFill>
              <a:srgbClr val="57D3E8"/>
            </a:solidFill>
            <a:prstDash val="solid"/>
          </a:ln>
        </p:spPr>
      </p:sp>
      <p:sp>
        <p:nvSpPr>
          <p:cNvPr id="20" name="Text 18"/>
          <p:cNvSpPr/>
          <p:nvPr/>
        </p:nvSpPr>
        <p:spPr>
          <a:xfrm>
            <a:off x="9957816" y="1618488"/>
            <a:ext cx="152704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SURICATA RECORDS</a:t>
            </a:r>
            <a:endParaRPr lang="en-US" sz="950" dirty="0"/>
          </a:p>
        </p:txBody>
      </p:sp>
      <p:sp>
        <p:nvSpPr>
          <p:cNvPr id="21" name="Text 19"/>
          <p:cNvSpPr/>
          <p:nvPr/>
        </p:nvSpPr>
        <p:spPr>
          <a:xfrm>
            <a:off x="9921240" y="1892808"/>
            <a:ext cx="1600200" cy="438912"/>
          </a:xfrm>
          <a:prstGeom prst="rect">
            <a:avLst/>
          </a:prstGeom>
          <a:noFill/>
          <a:ln/>
        </p:spPr>
        <p:txBody>
          <a:bodyPr wrap="square" lIns="0" tIns="0" rIns="0" bIns="0" rtlCol="0" anchor="ctr"/>
          <a:lstStyle/>
          <a:p>
            <a:pPr algn="ctr" indent="0" marL="0">
              <a:buNone/>
            </a:pPr>
            <a:r>
              <a:rPr lang="en-US" sz="2400" b="1" dirty="0">
                <a:solidFill>
                  <a:srgbClr val="57D3E8"/>
                </a:solidFill>
                <a:latin typeface="Arial" pitchFamily="34" charset="0"/>
                <a:ea typeface="Arial" pitchFamily="34" charset="-122"/>
                <a:cs typeface="Arial" pitchFamily="34" charset="-120"/>
              </a:rPr>
              <a:t>34</a:t>
            </a:r>
            <a:endParaRPr lang="en-US" sz="2400" dirty="0"/>
          </a:p>
        </p:txBody>
      </p:sp>
      <p:sp>
        <p:nvSpPr>
          <p:cNvPr id="22" name="Text 20"/>
          <p:cNvSpPr/>
          <p:nvPr/>
        </p:nvSpPr>
        <p:spPr>
          <a:xfrm>
            <a:off x="9939528" y="2432304"/>
            <a:ext cx="1563624" cy="201168"/>
          </a:xfrm>
          <a:prstGeom prst="rect">
            <a:avLst/>
          </a:prstGeom>
          <a:noFill/>
          <a:ln/>
        </p:spPr>
        <p:txBody>
          <a:bodyPr wrap="square" lIns="0" tIns="0" rIns="0" bIns="0" rtlCol="0" anchor="ctr"/>
          <a:lstStyle/>
          <a:p>
            <a:pPr algn="ctr" indent="0" marL="0">
              <a:buNone/>
            </a:pPr>
            <a:r>
              <a:rPr lang="en-US" sz="780" dirty="0">
                <a:solidFill>
                  <a:srgbClr val="A9B5C8"/>
                </a:solidFill>
                <a:latin typeface="Arial" pitchFamily="34" charset="0"/>
                <a:ea typeface="Arial" pitchFamily="34" charset="-122"/>
                <a:cs typeface="Arial" pitchFamily="34" charset="-120"/>
              </a:rPr>
              <a:t>informational</a:t>
            </a:r>
            <a:endParaRPr lang="en-US" sz="780" dirty="0"/>
          </a:p>
        </p:txBody>
      </p:sp>
      <p:sp>
        <p:nvSpPr>
          <p:cNvPr id="23" name="Shape 21"/>
          <p:cNvSpPr/>
          <p:nvPr/>
        </p:nvSpPr>
        <p:spPr>
          <a:xfrm>
            <a:off x="685800" y="3154680"/>
            <a:ext cx="10972800" cy="2331720"/>
          </a:xfrm>
          <a:prstGeom prst="roundRect">
            <a:avLst>
              <a:gd name="adj" fmla="val 4706"/>
            </a:avLst>
          </a:prstGeom>
          <a:solidFill>
            <a:srgbClr val="131C2B"/>
          </a:solidFill>
          <a:ln w="15240">
            <a:solidFill>
              <a:srgbClr val="3A4A63"/>
            </a:solidFill>
            <a:prstDash val="solid"/>
          </a:ln>
        </p:spPr>
      </p:sp>
      <p:sp>
        <p:nvSpPr>
          <p:cNvPr id="24" name="Text 22"/>
          <p:cNvSpPr/>
          <p:nvPr/>
        </p:nvSpPr>
        <p:spPr>
          <a:xfrm>
            <a:off x="914400" y="3401568"/>
            <a:ext cx="4114800" cy="274320"/>
          </a:xfrm>
          <a:prstGeom prst="rect">
            <a:avLst/>
          </a:prstGeom>
          <a:noFill/>
          <a:ln/>
        </p:spPr>
        <p:txBody>
          <a:bodyPr wrap="square" lIns="0" tIns="0" rIns="0" bIns="0" rtlCol="0" anchor="ctr"/>
          <a:lstStyle/>
          <a:p>
            <a:pPr indent="0" marL="0">
              <a:buNone/>
            </a:pPr>
            <a:r>
              <a:rPr lang="en-US" sz="1400" b="1" dirty="0">
                <a:solidFill>
                  <a:srgbClr val="57D3E8"/>
                </a:solidFill>
                <a:latin typeface="Arial" pitchFamily="34" charset="0"/>
                <a:ea typeface="Arial" pitchFamily="34" charset="-122"/>
                <a:cs typeface="Arial" pitchFamily="34" charset="-120"/>
              </a:rPr>
              <a:t>WHAT THE 34 SURICATA RECORDS MEANT</a:t>
            </a:r>
            <a:endParaRPr lang="en-US" sz="1400" dirty="0"/>
          </a:p>
        </p:txBody>
      </p:sp>
      <p:sp>
        <p:nvSpPr>
          <p:cNvPr id="25" name="Shape 23"/>
          <p:cNvSpPr/>
          <p:nvPr/>
        </p:nvSpPr>
        <p:spPr>
          <a:xfrm>
            <a:off x="914400" y="3886200"/>
            <a:ext cx="2926080" cy="1005840"/>
          </a:xfrm>
          <a:prstGeom prst="roundRect">
            <a:avLst>
              <a:gd name="adj" fmla="val 10909"/>
            </a:avLst>
          </a:prstGeom>
          <a:solidFill>
            <a:srgbClr val="19263A"/>
          </a:solidFill>
          <a:ln w="15240">
            <a:solidFill>
              <a:srgbClr val="3A4A63"/>
            </a:solidFill>
            <a:prstDash val="solid"/>
          </a:ln>
        </p:spPr>
      </p:sp>
      <p:sp>
        <p:nvSpPr>
          <p:cNvPr id="26" name="Text 24"/>
          <p:cNvSpPr/>
          <p:nvPr/>
        </p:nvSpPr>
        <p:spPr>
          <a:xfrm>
            <a:off x="1051560" y="4114800"/>
            <a:ext cx="594360" cy="310896"/>
          </a:xfrm>
          <a:prstGeom prst="rect">
            <a:avLst/>
          </a:prstGeom>
          <a:noFill/>
          <a:ln/>
        </p:spPr>
        <p:txBody>
          <a:bodyPr wrap="square" lIns="0" tIns="0" rIns="0" bIns="0" rtlCol="0" anchor="ctr"/>
          <a:lstStyle/>
          <a:p>
            <a:pPr algn="ctr" indent="0" marL="0">
              <a:buNone/>
            </a:pPr>
            <a:r>
              <a:rPr lang="en-US" sz="2200" b="1" dirty="0">
                <a:solidFill>
                  <a:srgbClr val="57D3E8"/>
                </a:solidFill>
                <a:latin typeface="Arial" pitchFamily="34" charset="0"/>
                <a:ea typeface="Arial" pitchFamily="34" charset="-122"/>
                <a:cs typeface="Arial" pitchFamily="34" charset="-120"/>
              </a:rPr>
              <a:t>4</a:t>
            </a:r>
            <a:endParaRPr lang="en-US" sz="2200" dirty="0"/>
          </a:p>
        </p:txBody>
      </p:sp>
      <p:sp>
        <p:nvSpPr>
          <p:cNvPr id="27" name="Text 25"/>
          <p:cNvSpPr/>
          <p:nvPr/>
        </p:nvSpPr>
        <p:spPr>
          <a:xfrm>
            <a:off x="1691640" y="4069080"/>
            <a:ext cx="1920240" cy="411480"/>
          </a:xfrm>
          <a:prstGeom prst="rect">
            <a:avLst/>
          </a:prstGeom>
          <a:noFill/>
          <a:ln/>
        </p:spPr>
        <p:txBody>
          <a:bodyPr wrap="square" lIns="0" tIns="0" rIns="0" bIns="0" rtlCol="0" anchor="ctr"/>
          <a:lstStyle/>
          <a:p>
            <a:pPr indent="0" marL="0">
              <a:buNone/>
            </a:pPr>
            <a:r>
              <a:rPr lang="en-US" sz="1120" dirty="0">
                <a:solidFill>
                  <a:srgbClr val="F7FAFC"/>
                </a:solidFill>
                <a:latin typeface="Arial" pitchFamily="34" charset="0"/>
                <a:ea typeface="Arial" pitchFamily="34" charset="-122"/>
                <a:cs typeface="Arial" pitchFamily="34" charset="-120"/>
              </a:rPr>
              <a:t>ICMP ping notices</a:t>
            </a:r>
            <a:endParaRPr lang="en-US" sz="1120" dirty="0"/>
          </a:p>
        </p:txBody>
      </p:sp>
      <p:sp>
        <p:nvSpPr>
          <p:cNvPr id="28" name="Shape 26"/>
          <p:cNvSpPr/>
          <p:nvPr/>
        </p:nvSpPr>
        <p:spPr>
          <a:xfrm>
            <a:off x="4251960" y="3886200"/>
            <a:ext cx="2926080" cy="1005840"/>
          </a:xfrm>
          <a:prstGeom prst="roundRect">
            <a:avLst>
              <a:gd name="adj" fmla="val 10909"/>
            </a:avLst>
          </a:prstGeom>
          <a:solidFill>
            <a:srgbClr val="19263A"/>
          </a:solidFill>
          <a:ln w="15240">
            <a:solidFill>
              <a:srgbClr val="3A4A63"/>
            </a:solidFill>
            <a:prstDash val="solid"/>
          </a:ln>
        </p:spPr>
      </p:sp>
      <p:sp>
        <p:nvSpPr>
          <p:cNvPr id="29" name="Text 27"/>
          <p:cNvSpPr/>
          <p:nvPr/>
        </p:nvSpPr>
        <p:spPr>
          <a:xfrm>
            <a:off x="4389120" y="4114800"/>
            <a:ext cx="594360" cy="310896"/>
          </a:xfrm>
          <a:prstGeom prst="rect">
            <a:avLst/>
          </a:prstGeom>
          <a:noFill/>
          <a:ln/>
        </p:spPr>
        <p:txBody>
          <a:bodyPr wrap="square" lIns="0" tIns="0" rIns="0" bIns="0" rtlCol="0" anchor="ctr"/>
          <a:lstStyle/>
          <a:p>
            <a:pPr algn="ctr" indent="0" marL="0">
              <a:buNone/>
            </a:pPr>
            <a:r>
              <a:rPr lang="en-US" sz="2200" b="1" dirty="0">
                <a:solidFill>
                  <a:srgbClr val="57D3E8"/>
                </a:solidFill>
                <a:latin typeface="Arial" pitchFamily="34" charset="0"/>
                <a:ea typeface="Arial" pitchFamily="34" charset="-122"/>
                <a:cs typeface="Arial" pitchFamily="34" charset="-120"/>
              </a:rPr>
              <a:t>5</a:t>
            </a:r>
            <a:endParaRPr lang="en-US" sz="2200" dirty="0"/>
          </a:p>
        </p:txBody>
      </p:sp>
      <p:sp>
        <p:nvSpPr>
          <p:cNvPr id="30" name="Text 28"/>
          <p:cNvSpPr/>
          <p:nvPr/>
        </p:nvSpPr>
        <p:spPr>
          <a:xfrm>
            <a:off x="5029200" y="4069080"/>
            <a:ext cx="1920240" cy="411480"/>
          </a:xfrm>
          <a:prstGeom prst="rect">
            <a:avLst/>
          </a:prstGeom>
          <a:noFill/>
          <a:ln/>
        </p:spPr>
        <p:txBody>
          <a:bodyPr wrap="square" lIns="0" tIns="0" rIns="0" bIns="0" rtlCol="0" anchor="ctr"/>
          <a:lstStyle/>
          <a:p>
            <a:pPr indent="0" marL="0">
              <a:buNone/>
            </a:pPr>
            <a:r>
              <a:rPr lang="en-US" sz="1120" dirty="0">
                <a:solidFill>
                  <a:srgbClr val="F7FAFC"/>
                </a:solidFill>
                <a:latin typeface="Arial" pitchFamily="34" charset="0"/>
                <a:ea typeface="Arial" pitchFamily="34" charset="-122"/>
                <a:cs typeface="Arial" pitchFamily="34" charset="-120"/>
              </a:rPr>
              <a:t>Python HTTP server-banner notices</a:t>
            </a:r>
            <a:endParaRPr lang="en-US" sz="1120" dirty="0"/>
          </a:p>
        </p:txBody>
      </p:sp>
      <p:sp>
        <p:nvSpPr>
          <p:cNvPr id="31" name="Shape 29"/>
          <p:cNvSpPr/>
          <p:nvPr/>
        </p:nvSpPr>
        <p:spPr>
          <a:xfrm>
            <a:off x="7589520" y="3886200"/>
            <a:ext cx="2926080" cy="1005840"/>
          </a:xfrm>
          <a:prstGeom prst="roundRect">
            <a:avLst>
              <a:gd name="adj" fmla="val 10909"/>
            </a:avLst>
          </a:prstGeom>
          <a:solidFill>
            <a:srgbClr val="19263A"/>
          </a:solidFill>
          <a:ln w="15240">
            <a:solidFill>
              <a:srgbClr val="3A4A63"/>
            </a:solidFill>
            <a:prstDash val="solid"/>
          </a:ln>
        </p:spPr>
      </p:sp>
      <p:sp>
        <p:nvSpPr>
          <p:cNvPr id="32" name="Text 30"/>
          <p:cNvSpPr/>
          <p:nvPr/>
        </p:nvSpPr>
        <p:spPr>
          <a:xfrm>
            <a:off x="7726680" y="4114800"/>
            <a:ext cx="594360" cy="310896"/>
          </a:xfrm>
          <a:prstGeom prst="rect">
            <a:avLst/>
          </a:prstGeom>
          <a:noFill/>
          <a:ln/>
        </p:spPr>
        <p:txBody>
          <a:bodyPr wrap="square" lIns="0" tIns="0" rIns="0" bIns="0" rtlCol="0" anchor="ctr"/>
          <a:lstStyle/>
          <a:p>
            <a:pPr algn="ctr" indent="0" marL="0">
              <a:buNone/>
            </a:pPr>
            <a:r>
              <a:rPr lang="en-US" sz="2200" b="1" dirty="0">
                <a:solidFill>
                  <a:srgbClr val="57D3E8"/>
                </a:solidFill>
                <a:latin typeface="Arial" pitchFamily="34" charset="0"/>
                <a:ea typeface="Arial" pitchFamily="34" charset="-122"/>
                <a:cs typeface="Arial" pitchFamily="34" charset="-120"/>
              </a:rPr>
              <a:t>25</a:t>
            </a:r>
            <a:endParaRPr lang="en-US" sz="2200" dirty="0"/>
          </a:p>
        </p:txBody>
      </p:sp>
      <p:sp>
        <p:nvSpPr>
          <p:cNvPr id="33" name="Text 31"/>
          <p:cNvSpPr/>
          <p:nvPr/>
        </p:nvSpPr>
        <p:spPr>
          <a:xfrm>
            <a:off x="8366760" y="4069080"/>
            <a:ext cx="1920240" cy="411480"/>
          </a:xfrm>
          <a:prstGeom prst="rect">
            <a:avLst/>
          </a:prstGeom>
          <a:noFill/>
          <a:ln/>
        </p:spPr>
        <p:txBody>
          <a:bodyPr wrap="square" lIns="0" tIns="0" rIns="0" bIns="0" rtlCol="0" anchor="ctr"/>
          <a:lstStyle/>
          <a:p>
            <a:pPr indent="0" marL="0">
              <a:buNone/>
            </a:pPr>
            <a:r>
              <a:rPr lang="en-US" sz="1120" dirty="0">
                <a:solidFill>
                  <a:srgbClr val="F7FAFC"/>
                </a:solidFill>
                <a:latin typeface="Arial" pitchFamily="34" charset="0"/>
                <a:ea typeface="Arial" pitchFamily="34" charset="-122"/>
                <a:cs typeface="Arial" pitchFamily="34" charset="-120"/>
              </a:rPr>
              <a:t>TCP checksum decoder records</a:t>
            </a:r>
            <a:endParaRPr lang="en-US" sz="1120" dirty="0"/>
          </a:p>
        </p:txBody>
      </p:sp>
      <p:sp>
        <p:nvSpPr>
          <p:cNvPr id="34" name="Text 32"/>
          <p:cNvSpPr/>
          <p:nvPr/>
        </p:nvSpPr>
        <p:spPr>
          <a:xfrm>
            <a:off x="1143000" y="5102352"/>
            <a:ext cx="9875520" cy="274320"/>
          </a:xfrm>
          <a:prstGeom prst="rect">
            <a:avLst/>
          </a:prstGeom>
          <a:noFill/>
          <a:ln/>
        </p:spPr>
        <p:txBody>
          <a:bodyPr wrap="square" lIns="0" tIns="0" rIns="0" bIns="0" rtlCol="0" anchor="ctr"/>
          <a:lstStyle/>
          <a:p>
            <a:pPr algn="ctr" indent="0" marL="0">
              <a:buNone/>
            </a:pPr>
            <a:r>
              <a:rPr lang="en-US" sz="1250" b="1" dirty="0">
                <a:solidFill>
                  <a:srgbClr val="40C982"/>
                </a:solidFill>
                <a:latin typeface="Arial" pitchFamily="34" charset="0"/>
                <a:ea typeface="Arial" pitchFamily="34" charset="-122"/>
                <a:cs typeface="Arial" pitchFamily="34" charset="-120"/>
              </a:rPr>
              <a:t>These records were informational or decoder-related. No malicious activity was intentionally generated.</a:t>
            </a:r>
            <a:endParaRPr lang="en-US" sz="125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F59E5B"/>
          </a:solidFill>
          <a:ln w="12700">
            <a:solidFill>
              <a:srgbClr val="F59E5B"/>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ATTACK TEST</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The controlled port scan created a clear aggregate pattern</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The same PCAP was used for Suricata replay and model inference.</a:t>
            </a:r>
            <a:endParaRPr lang="en-US" sz="1150" dirty="0"/>
          </a:p>
        </p:txBody>
      </p:sp>
      <p:sp>
        <p:nvSpPr>
          <p:cNvPr id="6" name="Shape 4"/>
          <p:cNvSpPr/>
          <p:nvPr/>
        </p:nvSpPr>
        <p:spPr>
          <a:xfrm>
            <a:off x="548640" y="1307592"/>
            <a:ext cx="6400800" cy="5029200"/>
          </a:xfrm>
          <a:prstGeom prst="roundRect">
            <a:avLst>
              <a:gd name="adj" fmla="val 2182"/>
            </a:avLst>
          </a:prstGeom>
          <a:solidFill>
            <a:srgbClr val="19263A"/>
          </a:solidFill>
          <a:ln w="15240">
            <a:solidFill>
              <a:srgbClr val="3A4A63"/>
            </a:solidFill>
            <a:prstDash val="solid"/>
          </a:ln>
        </p:spPr>
      </p:sp>
      <p:pic>
        <p:nvPicPr>
          <p:cNvPr id="7" name="Image 0" descr="/mnt/data/AI-NIDS-Final-Dashboard-Screenshots/07_portscan_input.png">    </p:cNvPr>
          <p:cNvPicPr>
            <a:picLocks noChangeAspect="1"/>
          </p:cNvPicPr>
          <p:nvPr/>
        </p:nvPicPr>
        <p:blipFill>
          <a:blip r:embed="rId1"/>
          <a:stretch>
            <a:fillRect/>
          </a:stretch>
        </p:blipFill>
        <p:spPr>
          <a:xfrm>
            <a:off x="809845" y="1481328"/>
            <a:ext cx="5887534" cy="4681728"/>
          </a:xfrm>
          <a:prstGeom prst="rect">
            <a:avLst/>
          </a:prstGeom>
        </p:spPr>
      </p:pic>
      <p:sp>
        <p:nvSpPr>
          <p:cNvPr id="8" name="Shape 5"/>
          <p:cNvSpPr/>
          <p:nvPr/>
        </p:nvSpPr>
        <p:spPr>
          <a:xfrm>
            <a:off x="7315200" y="1508760"/>
            <a:ext cx="1828800" cy="1234440"/>
          </a:xfrm>
          <a:prstGeom prst="roundRect">
            <a:avLst>
              <a:gd name="adj" fmla="val 8889"/>
            </a:avLst>
          </a:prstGeom>
          <a:solidFill>
            <a:srgbClr val="19263A"/>
          </a:solidFill>
          <a:ln w="15240">
            <a:solidFill>
              <a:srgbClr val="F59E5B"/>
            </a:solidFill>
            <a:prstDash val="solid"/>
          </a:ln>
        </p:spPr>
      </p:sp>
      <p:sp>
        <p:nvSpPr>
          <p:cNvPr id="9" name="Text 6"/>
          <p:cNvSpPr/>
          <p:nvPr/>
        </p:nvSpPr>
        <p:spPr>
          <a:xfrm>
            <a:off x="7443216" y="1618488"/>
            <a:ext cx="157276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SYN PROBES</a:t>
            </a:r>
            <a:endParaRPr lang="en-US" sz="950" dirty="0"/>
          </a:p>
        </p:txBody>
      </p:sp>
      <p:sp>
        <p:nvSpPr>
          <p:cNvPr id="10" name="Text 7"/>
          <p:cNvSpPr/>
          <p:nvPr/>
        </p:nvSpPr>
        <p:spPr>
          <a:xfrm>
            <a:off x="7406640" y="1892808"/>
            <a:ext cx="1645920" cy="438912"/>
          </a:xfrm>
          <a:prstGeom prst="rect">
            <a:avLst/>
          </a:prstGeom>
          <a:noFill/>
          <a:ln/>
        </p:spPr>
        <p:txBody>
          <a:bodyPr wrap="square" lIns="0" tIns="0" rIns="0" bIns="0" rtlCol="0" anchor="ctr"/>
          <a:lstStyle/>
          <a:p>
            <a:pPr algn="ctr" indent="0" marL="0">
              <a:buNone/>
            </a:pPr>
            <a:r>
              <a:rPr lang="en-US" sz="2400" b="1" dirty="0">
                <a:solidFill>
                  <a:srgbClr val="F59E5B"/>
                </a:solidFill>
                <a:latin typeface="Arial" pitchFamily="34" charset="0"/>
                <a:ea typeface="Arial" pitchFamily="34" charset="-122"/>
                <a:cs typeface="Arial" pitchFamily="34" charset="-120"/>
              </a:rPr>
              <a:t>502</a:t>
            </a:r>
            <a:endParaRPr lang="en-US" sz="2400" dirty="0"/>
          </a:p>
        </p:txBody>
      </p:sp>
      <p:sp>
        <p:nvSpPr>
          <p:cNvPr id="11" name="Shape 8"/>
          <p:cNvSpPr/>
          <p:nvPr/>
        </p:nvSpPr>
        <p:spPr>
          <a:xfrm>
            <a:off x="9372600" y="1508760"/>
            <a:ext cx="1828800" cy="1234440"/>
          </a:xfrm>
          <a:prstGeom prst="roundRect">
            <a:avLst>
              <a:gd name="adj" fmla="val 8889"/>
            </a:avLst>
          </a:prstGeom>
          <a:solidFill>
            <a:srgbClr val="19263A"/>
          </a:solidFill>
          <a:ln w="15240">
            <a:solidFill>
              <a:srgbClr val="F59E5B"/>
            </a:solidFill>
            <a:prstDash val="solid"/>
          </a:ln>
        </p:spPr>
      </p:sp>
      <p:sp>
        <p:nvSpPr>
          <p:cNvPr id="12" name="Text 9"/>
          <p:cNvSpPr/>
          <p:nvPr/>
        </p:nvSpPr>
        <p:spPr>
          <a:xfrm>
            <a:off x="9500616" y="1618488"/>
            <a:ext cx="157276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DESTINATION PORTS</a:t>
            </a:r>
            <a:endParaRPr lang="en-US" sz="950" dirty="0"/>
          </a:p>
        </p:txBody>
      </p:sp>
      <p:sp>
        <p:nvSpPr>
          <p:cNvPr id="13" name="Text 10"/>
          <p:cNvSpPr/>
          <p:nvPr/>
        </p:nvSpPr>
        <p:spPr>
          <a:xfrm>
            <a:off x="9464040" y="1892808"/>
            <a:ext cx="1645920" cy="438912"/>
          </a:xfrm>
          <a:prstGeom prst="rect">
            <a:avLst/>
          </a:prstGeom>
          <a:noFill/>
          <a:ln/>
        </p:spPr>
        <p:txBody>
          <a:bodyPr wrap="square" lIns="0" tIns="0" rIns="0" bIns="0" rtlCol="0" anchor="ctr"/>
          <a:lstStyle/>
          <a:p>
            <a:pPr algn="ctr" indent="0" marL="0">
              <a:buNone/>
            </a:pPr>
            <a:r>
              <a:rPr lang="en-US" sz="2400" b="1" dirty="0">
                <a:solidFill>
                  <a:srgbClr val="F59E5B"/>
                </a:solidFill>
                <a:latin typeface="Arial" pitchFamily="34" charset="0"/>
                <a:ea typeface="Arial" pitchFamily="34" charset="-122"/>
                <a:cs typeface="Arial" pitchFamily="34" charset="-120"/>
              </a:rPr>
              <a:t>502</a:t>
            </a:r>
            <a:endParaRPr lang="en-US" sz="2400" dirty="0"/>
          </a:p>
        </p:txBody>
      </p:sp>
      <p:sp>
        <p:nvSpPr>
          <p:cNvPr id="14" name="Shape 11"/>
          <p:cNvSpPr/>
          <p:nvPr/>
        </p:nvSpPr>
        <p:spPr>
          <a:xfrm>
            <a:off x="7315200" y="3017520"/>
            <a:ext cx="3886200" cy="2286000"/>
          </a:xfrm>
          <a:prstGeom prst="roundRect">
            <a:avLst>
              <a:gd name="adj" fmla="val 4800"/>
            </a:avLst>
          </a:prstGeom>
          <a:solidFill>
            <a:srgbClr val="131C2B"/>
          </a:solidFill>
          <a:ln w="15240">
            <a:solidFill>
              <a:srgbClr val="F59E5B"/>
            </a:solidFill>
            <a:prstDash val="solid"/>
          </a:ln>
        </p:spPr>
      </p:sp>
      <p:sp>
        <p:nvSpPr>
          <p:cNvPr id="15" name="Text 12"/>
          <p:cNvSpPr/>
          <p:nvPr/>
        </p:nvSpPr>
        <p:spPr>
          <a:xfrm>
            <a:off x="7635240" y="3401568"/>
            <a:ext cx="3246120" cy="960120"/>
          </a:xfrm>
          <a:prstGeom prst="rect">
            <a:avLst/>
          </a:prstGeom>
          <a:noFill/>
          <a:ln/>
        </p:spPr>
        <p:txBody>
          <a:bodyPr wrap="square" lIns="254" tIns="254" rIns="254" bIns="254" rtlCol="0" anchor="ctr"/>
          <a:lstStyle/>
          <a:p>
            <a:pPr algn="ctr" indent="0" marL="0">
              <a:buNone/>
            </a:pPr>
            <a:r>
              <a:rPr lang="en-US" sz="1800" b="1" dirty="0">
                <a:solidFill>
                  <a:srgbClr val="F7FAFC"/>
                </a:solidFill>
                <a:latin typeface="Arial" pitchFamily="34" charset="0"/>
                <a:ea typeface="Arial" pitchFamily="34" charset="-122"/>
                <a:cs typeface="Arial" pitchFamily="34" charset="-120"/>
              </a:rPr>
              <a:t>A port scan is like trying hundreds of door handles to find out which doors are open.</a:t>
            </a:r>
            <a:endParaRPr lang="en-US" sz="1800" dirty="0"/>
          </a:p>
        </p:txBody>
      </p:sp>
      <p:sp>
        <p:nvSpPr>
          <p:cNvPr id="16" name="Shape 13"/>
          <p:cNvSpPr/>
          <p:nvPr/>
        </p:nvSpPr>
        <p:spPr>
          <a:xfrm>
            <a:off x="8001000" y="4617720"/>
            <a:ext cx="2514600" cy="329184"/>
          </a:xfrm>
          <a:prstGeom prst="roundRect">
            <a:avLst/>
          </a:prstGeom>
          <a:solidFill>
            <a:srgbClr val="19263A"/>
          </a:solidFill>
          <a:ln w="17780">
            <a:solidFill>
              <a:srgbClr val="F59E5B"/>
            </a:solidFill>
            <a:prstDash val="solid"/>
          </a:ln>
        </p:spPr>
      </p:sp>
      <p:sp>
        <p:nvSpPr>
          <p:cNvPr id="17" name="Text 14"/>
          <p:cNvSpPr/>
          <p:nvPr/>
        </p:nvSpPr>
        <p:spPr>
          <a:xfrm>
            <a:off x="8074152" y="4681728"/>
            <a:ext cx="2368296" cy="182880"/>
          </a:xfrm>
          <a:prstGeom prst="rect">
            <a:avLst/>
          </a:prstGeom>
          <a:noFill/>
          <a:ln/>
        </p:spPr>
        <p:txBody>
          <a:bodyPr wrap="square" lIns="0" tIns="0" rIns="0" bIns="0" rtlCol="0" anchor="ctr"/>
          <a:lstStyle/>
          <a:p>
            <a:pPr algn="ctr" indent="0" marL="0">
              <a:buNone/>
            </a:pPr>
            <a:r>
              <a:rPr lang="en-US" sz="950" b="1" dirty="0">
                <a:solidFill>
                  <a:srgbClr val="F59E5B"/>
                </a:solidFill>
                <a:latin typeface="Arial" pitchFamily="34" charset="0"/>
                <a:ea typeface="Arial" pitchFamily="34" charset="-122"/>
                <a:cs typeface="Arial" pitchFamily="34" charset="-120"/>
              </a:rPr>
              <a:t>Ground truth: PORT SCAN</a:t>
            </a:r>
            <a:endParaRPr lang="en-US" sz="95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FF6B6B"/>
          </a:solidFill>
          <a:ln w="12700">
            <a:solidFill>
              <a:srgbClr val="FF6B6B"/>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FAILURE ANALYSIS</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Every original per-flow layer missed the scan</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The miss was far below the saved decision thresholds.</a:t>
            </a:r>
            <a:endParaRPr lang="en-US" sz="1150" dirty="0"/>
          </a:p>
        </p:txBody>
      </p:sp>
      <p:sp>
        <p:nvSpPr>
          <p:cNvPr id="6" name="Shape 4"/>
          <p:cNvSpPr/>
          <p:nvPr/>
        </p:nvSpPr>
        <p:spPr>
          <a:xfrm>
            <a:off x="502920" y="1280160"/>
            <a:ext cx="5669280" cy="5074920"/>
          </a:xfrm>
          <a:prstGeom prst="roundRect">
            <a:avLst>
              <a:gd name="adj" fmla="val 2162"/>
            </a:avLst>
          </a:prstGeom>
          <a:solidFill>
            <a:srgbClr val="19263A"/>
          </a:solidFill>
          <a:ln w="15240">
            <a:solidFill>
              <a:srgbClr val="3A4A63"/>
            </a:solidFill>
            <a:prstDash val="solid"/>
          </a:ln>
        </p:spPr>
      </p:sp>
      <p:pic>
        <p:nvPicPr>
          <p:cNvPr id="7" name="Image 0" descr="/mnt/data/AI-NIDS-Final-Dashboard-Screenshots/08_portscan_per_flow_miss.png">    </p:cNvPr>
          <p:cNvPicPr>
            <a:picLocks noChangeAspect="1"/>
          </p:cNvPicPr>
          <p:nvPr/>
        </p:nvPicPr>
        <p:blipFill>
          <a:blip r:embed="rId1"/>
          <a:stretch>
            <a:fillRect/>
          </a:stretch>
        </p:blipFill>
        <p:spPr>
          <a:xfrm>
            <a:off x="658368" y="2161709"/>
            <a:ext cx="5349240" cy="3284389"/>
          </a:xfrm>
          <a:prstGeom prst="rect">
            <a:avLst/>
          </a:prstGeom>
        </p:spPr>
      </p:pic>
      <p:sp>
        <p:nvSpPr>
          <p:cNvPr id="8" name="Shape 5"/>
          <p:cNvSpPr/>
          <p:nvPr/>
        </p:nvSpPr>
        <p:spPr>
          <a:xfrm>
            <a:off x="6400800" y="1280160"/>
            <a:ext cx="5257800" cy="5074920"/>
          </a:xfrm>
          <a:prstGeom prst="roundRect">
            <a:avLst>
              <a:gd name="adj" fmla="val 2162"/>
            </a:avLst>
          </a:prstGeom>
          <a:solidFill>
            <a:srgbClr val="131C2B"/>
          </a:solidFill>
          <a:ln w="15240">
            <a:solidFill>
              <a:srgbClr val="FF6B6B"/>
            </a:solidFill>
            <a:prstDash val="solid"/>
          </a:ln>
        </p:spPr>
      </p:sp>
      <p:sp>
        <p:nvSpPr>
          <p:cNvPr id="9" name="Text 6"/>
          <p:cNvSpPr/>
          <p:nvPr/>
        </p:nvSpPr>
        <p:spPr>
          <a:xfrm>
            <a:off x="6720840" y="1645920"/>
            <a:ext cx="2468880" cy="274320"/>
          </a:xfrm>
          <a:prstGeom prst="rect">
            <a:avLst/>
          </a:prstGeom>
          <a:noFill/>
          <a:ln/>
        </p:spPr>
        <p:txBody>
          <a:bodyPr wrap="square" lIns="0" tIns="0" rIns="0" bIns="0" rtlCol="0" anchor="ctr"/>
          <a:lstStyle/>
          <a:p>
            <a:pPr indent="0" marL="0">
              <a:buNone/>
            </a:pPr>
            <a:r>
              <a:rPr lang="en-US" sz="1400" b="1" dirty="0">
                <a:solidFill>
                  <a:srgbClr val="40C982"/>
                </a:solidFill>
                <a:latin typeface="Arial" pitchFamily="34" charset="0"/>
                <a:ea typeface="Arial" pitchFamily="34" charset="-122"/>
                <a:cs typeface="Arial" pitchFamily="34" charset="-120"/>
              </a:rPr>
              <a:t>SUPERVISED MODEL</a:t>
            </a:r>
            <a:endParaRPr lang="en-US" sz="1400" dirty="0"/>
          </a:p>
        </p:txBody>
      </p:sp>
      <p:sp>
        <p:nvSpPr>
          <p:cNvPr id="10" name="Text 7"/>
          <p:cNvSpPr/>
          <p:nvPr/>
        </p:nvSpPr>
        <p:spPr>
          <a:xfrm>
            <a:off x="6720840" y="2057400"/>
            <a:ext cx="2468880" cy="228600"/>
          </a:xfrm>
          <a:prstGeom prst="rect">
            <a:avLst/>
          </a:prstGeom>
          <a:noFill/>
          <a:ln/>
        </p:spPr>
        <p:txBody>
          <a:bodyPr wrap="square" lIns="0" tIns="0" rIns="0" bIns="0" rtlCol="0" anchor="ctr"/>
          <a:lstStyle/>
          <a:p>
            <a:pPr indent="0" marL="0">
              <a:buNone/>
            </a:pPr>
            <a:r>
              <a:rPr lang="en-US" sz="1050" dirty="0">
                <a:solidFill>
                  <a:srgbClr val="A9B5C8"/>
                </a:solidFill>
                <a:latin typeface="Arial" pitchFamily="34" charset="0"/>
                <a:ea typeface="Arial" pitchFamily="34" charset="-122"/>
                <a:cs typeface="Arial" pitchFamily="34" charset="-120"/>
              </a:rPr>
              <a:t>Highest attack probability</a:t>
            </a:r>
            <a:endParaRPr lang="en-US" sz="1050" dirty="0"/>
          </a:p>
        </p:txBody>
      </p:sp>
      <p:sp>
        <p:nvSpPr>
          <p:cNvPr id="11" name="Text 8"/>
          <p:cNvSpPr/>
          <p:nvPr/>
        </p:nvSpPr>
        <p:spPr>
          <a:xfrm>
            <a:off x="9326880" y="1956816"/>
            <a:ext cx="1783080" cy="365760"/>
          </a:xfrm>
          <a:prstGeom prst="rect">
            <a:avLst/>
          </a:prstGeom>
          <a:noFill/>
          <a:ln/>
        </p:spPr>
        <p:txBody>
          <a:bodyPr wrap="square" lIns="0" tIns="0" rIns="0" bIns="0" rtlCol="0" anchor="ctr"/>
          <a:lstStyle/>
          <a:p>
            <a:pPr algn="r" indent="0" marL="0">
              <a:buNone/>
            </a:pPr>
            <a:r>
              <a:rPr lang="en-US" sz="2300" b="1" dirty="0">
                <a:solidFill>
                  <a:srgbClr val="FF6B6B"/>
                </a:solidFill>
                <a:latin typeface="Arial" pitchFamily="34" charset="0"/>
                <a:ea typeface="Arial" pitchFamily="34" charset="-122"/>
                <a:cs typeface="Arial" pitchFamily="34" charset="-120"/>
              </a:rPr>
              <a:t>0.011319</a:t>
            </a:r>
            <a:endParaRPr lang="en-US" sz="2300" dirty="0"/>
          </a:p>
        </p:txBody>
      </p:sp>
      <p:sp>
        <p:nvSpPr>
          <p:cNvPr id="12" name="Shape 9"/>
          <p:cNvSpPr/>
          <p:nvPr/>
        </p:nvSpPr>
        <p:spPr>
          <a:xfrm>
            <a:off x="6720840" y="2487168"/>
            <a:ext cx="4389120" cy="237744"/>
          </a:xfrm>
          <a:prstGeom prst="roundRect">
            <a:avLst/>
          </a:prstGeom>
          <a:solidFill>
            <a:srgbClr val="2D394B"/>
          </a:solidFill>
          <a:ln w="12700">
            <a:solidFill>
              <a:srgbClr val="2D394B"/>
            </a:solidFill>
            <a:prstDash val="solid"/>
          </a:ln>
        </p:spPr>
      </p:sp>
      <p:sp>
        <p:nvSpPr>
          <p:cNvPr id="13" name="Shape 10"/>
          <p:cNvSpPr/>
          <p:nvPr/>
        </p:nvSpPr>
        <p:spPr>
          <a:xfrm>
            <a:off x="6720840" y="2487168"/>
            <a:ext cx="118872" cy="237744"/>
          </a:xfrm>
          <a:prstGeom prst="roundRect">
            <a:avLst/>
          </a:prstGeom>
          <a:solidFill>
            <a:srgbClr val="FF6B6B"/>
          </a:solidFill>
          <a:ln w="12700">
            <a:solidFill>
              <a:srgbClr val="FF6B6B"/>
            </a:solidFill>
            <a:prstDash val="solid"/>
          </a:ln>
        </p:spPr>
      </p:sp>
      <p:sp>
        <p:nvSpPr>
          <p:cNvPr id="14" name="Text 11"/>
          <p:cNvSpPr/>
          <p:nvPr/>
        </p:nvSpPr>
        <p:spPr>
          <a:xfrm>
            <a:off x="8686800" y="2788920"/>
            <a:ext cx="2423160" cy="228600"/>
          </a:xfrm>
          <a:prstGeom prst="rect">
            <a:avLst/>
          </a:prstGeom>
          <a:noFill/>
          <a:ln/>
        </p:spPr>
        <p:txBody>
          <a:bodyPr wrap="square" lIns="0" tIns="0" rIns="0" bIns="0" rtlCol="0" anchor="ctr"/>
          <a:lstStyle/>
          <a:p>
            <a:pPr algn="r" indent="0" marL="0">
              <a:buNone/>
            </a:pPr>
            <a:r>
              <a:rPr lang="en-US" sz="1050" dirty="0">
                <a:solidFill>
                  <a:srgbClr val="A9B5C8"/>
                </a:solidFill>
                <a:latin typeface="Arial" pitchFamily="34" charset="0"/>
                <a:ea typeface="Arial" pitchFamily="34" charset="-122"/>
                <a:cs typeface="Arial" pitchFamily="34" charset="-120"/>
              </a:rPr>
              <a:t>Threshold: 0.420000</a:t>
            </a:r>
            <a:endParaRPr lang="en-US" sz="1050" dirty="0"/>
          </a:p>
        </p:txBody>
      </p:sp>
      <p:sp>
        <p:nvSpPr>
          <p:cNvPr id="15" name="Text 12"/>
          <p:cNvSpPr/>
          <p:nvPr/>
        </p:nvSpPr>
        <p:spPr>
          <a:xfrm>
            <a:off x="6720840" y="3310128"/>
            <a:ext cx="2468880" cy="274320"/>
          </a:xfrm>
          <a:prstGeom prst="rect">
            <a:avLst/>
          </a:prstGeom>
          <a:noFill/>
          <a:ln/>
        </p:spPr>
        <p:txBody>
          <a:bodyPr wrap="square" lIns="0" tIns="0" rIns="0" bIns="0" rtlCol="0" anchor="ctr"/>
          <a:lstStyle/>
          <a:p>
            <a:pPr indent="0" marL="0">
              <a:buNone/>
            </a:pPr>
            <a:r>
              <a:rPr lang="en-US" sz="1400" b="1" dirty="0">
                <a:solidFill>
                  <a:srgbClr val="F1C75B"/>
                </a:solidFill>
                <a:latin typeface="Arial" pitchFamily="34" charset="0"/>
                <a:ea typeface="Arial" pitchFamily="34" charset="-122"/>
                <a:cs typeface="Arial" pitchFamily="34" charset="-120"/>
              </a:rPr>
              <a:t>ANOMALY MODEL</a:t>
            </a:r>
            <a:endParaRPr lang="en-US" sz="1400" dirty="0"/>
          </a:p>
        </p:txBody>
      </p:sp>
      <p:sp>
        <p:nvSpPr>
          <p:cNvPr id="16" name="Text 13"/>
          <p:cNvSpPr/>
          <p:nvPr/>
        </p:nvSpPr>
        <p:spPr>
          <a:xfrm>
            <a:off x="6720840" y="3712464"/>
            <a:ext cx="2468880" cy="228600"/>
          </a:xfrm>
          <a:prstGeom prst="rect">
            <a:avLst/>
          </a:prstGeom>
          <a:noFill/>
          <a:ln/>
        </p:spPr>
        <p:txBody>
          <a:bodyPr wrap="square" lIns="0" tIns="0" rIns="0" bIns="0" rtlCol="0" anchor="ctr"/>
          <a:lstStyle/>
          <a:p>
            <a:pPr indent="0" marL="0">
              <a:buNone/>
            </a:pPr>
            <a:r>
              <a:rPr lang="en-US" sz="1050" dirty="0">
                <a:solidFill>
                  <a:srgbClr val="A9B5C8"/>
                </a:solidFill>
                <a:latin typeface="Arial" pitchFamily="34" charset="0"/>
                <a:ea typeface="Arial" pitchFamily="34" charset="-122"/>
                <a:cs typeface="Arial" pitchFamily="34" charset="-120"/>
              </a:rPr>
              <a:t>Highest anomaly score</a:t>
            </a:r>
            <a:endParaRPr lang="en-US" sz="1050" dirty="0"/>
          </a:p>
        </p:txBody>
      </p:sp>
      <p:sp>
        <p:nvSpPr>
          <p:cNvPr id="17" name="Text 14"/>
          <p:cNvSpPr/>
          <p:nvPr/>
        </p:nvSpPr>
        <p:spPr>
          <a:xfrm>
            <a:off x="9326880" y="3611880"/>
            <a:ext cx="1783080" cy="365760"/>
          </a:xfrm>
          <a:prstGeom prst="rect">
            <a:avLst/>
          </a:prstGeom>
          <a:noFill/>
          <a:ln/>
        </p:spPr>
        <p:txBody>
          <a:bodyPr wrap="square" lIns="0" tIns="0" rIns="0" bIns="0" rtlCol="0" anchor="ctr"/>
          <a:lstStyle/>
          <a:p>
            <a:pPr algn="r" indent="0" marL="0">
              <a:buNone/>
            </a:pPr>
            <a:r>
              <a:rPr lang="en-US" sz="2300" b="1" dirty="0">
                <a:solidFill>
                  <a:srgbClr val="FF6B6B"/>
                </a:solidFill>
                <a:latin typeface="Arial" pitchFamily="34" charset="0"/>
                <a:ea typeface="Arial" pitchFamily="34" charset="-122"/>
                <a:cs typeface="Arial" pitchFamily="34" charset="-120"/>
              </a:rPr>
              <a:t>0.380098</a:t>
            </a:r>
            <a:endParaRPr lang="en-US" sz="2300" dirty="0"/>
          </a:p>
        </p:txBody>
      </p:sp>
      <p:sp>
        <p:nvSpPr>
          <p:cNvPr id="18" name="Shape 15"/>
          <p:cNvSpPr/>
          <p:nvPr/>
        </p:nvSpPr>
        <p:spPr>
          <a:xfrm>
            <a:off x="6720840" y="4142232"/>
            <a:ext cx="4389120" cy="237744"/>
          </a:xfrm>
          <a:prstGeom prst="roundRect">
            <a:avLst/>
          </a:prstGeom>
          <a:solidFill>
            <a:srgbClr val="2D394B"/>
          </a:solidFill>
          <a:ln w="12700">
            <a:solidFill>
              <a:srgbClr val="2D394B"/>
            </a:solidFill>
            <a:prstDash val="solid"/>
          </a:ln>
        </p:spPr>
      </p:sp>
      <p:sp>
        <p:nvSpPr>
          <p:cNvPr id="19" name="Shape 16"/>
          <p:cNvSpPr/>
          <p:nvPr/>
        </p:nvSpPr>
        <p:spPr>
          <a:xfrm>
            <a:off x="6720840" y="4142232"/>
            <a:ext cx="3182112" cy="237744"/>
          </a:xfrm>
          <a:prstGeom prst="roundRect">
            <a:avLst/>
          </a:prstGeom>
          <a:solidFill>
            <a:srgbClr val="F1C75B"/>
          </a:solidFill>
          <a:ln w="12700">
            <a:solidFill>
              <a:srgbClr val="F1C75B"/>
            </a:solidFill>
            <a:prstDash val="solid"/>
          </a:ln>
        </p:spPr>
      </p:sp>
      <p:sp>
        <p:nvSpPr>
          <p:cNvPr id="20" name="Text 17"/>
          <p:cNvSpPr/>
          <p:nvPr/>
        </p:nvSpPr>
        <p:spPr>
          <a:xfrm>
            <a:off x="8686800" y="4443984"/>
            <a:ext cx="2423160" cy="228600"/>
          </a:xfrm>
          <a:prstGeom prst="rect">
            <a:avLst/>
          </a:prstGeom>
          <a:noFill/>
          <a:ln/>
        </p:spPr>
        <p:txBody>
          <a:bodyPr wrap="square" lIns="0" tIns="0" rIns="0" bIns="0" rtlCol="0" anchor="ctr"/>
          <a:lstStyle/>
          <a:p>
            <a:pPr algn="r" indent="0" marL="0">
              <a:buNone/>
            </a:pPr>
            <a:r>
              <a:rPr lang="en-US" sz="1050" dirty="0">
                <a:solidFill>
                  <a:srgbClr val="A9B5C8"/>
                </a:solidFill>
                <a:latin typeface="Arial" pitchFamily="34" charset="0"/>
                <a:ea typeface="Arial" pitchFamily="34" charset="-122"/>
                <a:cs typeface="Arial" pitchFamily="34" charset="-120"/>
              </a:rPr>
              <a:t>Threshold: 0.524440</a:t>
            </a:r>
            <a:endParaRPr lang="en-US" sz="1050" dirty="0"/>
          </a:p>
        </p:txBody>
      </p:sp>
      <p:sp>
        <p:nvSpPr>
          <p:cNvPr id="21" name="Shape 18"/>
          <p:cNvSpPr/>
          <p:nvPr/>
        </p:nvSpPr>
        <p:spPr>
          <a:xfrm>
            <a:off x="6720840" y="4983480"/>
            <a:ext cx="2011680" cy="329184"/>
          </a:xfrm>
          <a:prstGeom prst="roundRect">
            <a:avLst/>
          </a:prstGeom>
          <a:solidFill>
            <a:srgbClr val="19263A"/>
          </a:solidFill>
          <a:ln w="17780">
            <a:solidFill>
              <a:srgbClr val="FF6B6B"/>
            </a:solidFill>
            <a:prstDash val="solid"/>
          </a:ln>
        </p:spPr>
      </p:sp>
      <p:sp>
        <p:nvSpPr>
          <p:cNvPr id="22" name="Text 19"/>
          <p:cNvSpPr/>
          <p:nvPr/>
        </p:nvSpPr>
        <p:spPr>
          <a:xfrm>
            <a:off x="6793992" y="5047488"/>
            <a:ext cx="1865376" cy="182880"/>
          </a:xfrm>
          <a:prstGeom prst="rect">
            <a:avLst/>
          </a:prstGeom>
          <a:noFill/>
          <a:ln/>
        </p:spPr>
        <p:txBody>
          <a:bodyPr wrap="square" lIns="0" tIns="0" rIns="0" bIns="0" rtlCol="0" anchor="ctr"/>
          <a:lstStyle/>
          <a:p>
            <a:pPr algn="ctr" indent="0" marL="0">
              <a:buNone/>
            </a:pPr>
            <a:r>
              <a:rPr lang="en-US" sz="950" b="1" dirty="0">
                <a:solidFill>
                  <a:srgbClr val="FF6B6B"/>
                </a:solidFill>
                <a:latin typeface="Arial" pitchFamily="34" charset="0"/>
                <a:ea typeface="Arial" pitchFamily="34" charset="-122"/>
                <a:cs typeface="Arial" pitchFamily="34" charset="-120"/>
              </a:rPr>
              <a:t>502 BENIGN</a:t>
            </a:r>
            <a:endParaRPr lang="en-US" sz="950" dirty="0"/>
          </a:p>
        </p:txBody>
      </p:sp>
      <p:sp>
        <p:nvSpPr>
          <p:cNvPr id="23" name="Shape 20"/>
          <p:cNvSpPr/>
          <p:nvPr/>
        </p:nvSpPr>
        <p:spPr>
          <a:xfrm>
            <a:off x="8915400" y="4983480"/>
            <a:ext cx="2011680" cy="329184"/>
          </a:xfrm>
          <a:prstGeom prst="roundRect">
            <a:avLst/>
          </a:prstGeom>
          <a:solidFill>
            <a:srgbClr val="19263A"/>
          </a:solidFill>
          <a:ln w="17780">
            <a:solidFill>
              <a:srgbClr val="FF6B6B"/>
            </a:solidFill>
            <a:prstDash val="solid"/>
          </a:ln>
        </p:spPr>
      </p:sp>
      <p:sp>
        <p:nvSpPr>
          <p:cNvPr id="24" name="Text 21"/>
          <p:cNvSpPr/>
          <p:nvPr/>
        </p:nvSpPr>
        <p:spPr>
          <a:xfrm>
            <a:off x="8988552" y="5047488"/>
            <a:ext cx="1865376" cy="182880"/>
          </a:xfrm>
          <a:prstGeom prst="rect">
            <a:avLst/>
          </a:prstGeom>
          <a:noFill/>
          <a:ln/>
        </p:spPr>
        <p:txBody>
          <a:bodyPr wrap="square" lIns="0" tIns="0" rIns="0" bIns="0" rtlCol="0" anchor="ctr"/>
          <a:lstStyle/>
          <a:p>
            <a:pPr algn="ctr" indent="0" marL="0">
              <a:buNone/>
            </a:pPr>
            <a:r>
              <a:rPr lang="en-US" sz="950" b="1" dirty="0">
                <a:solidFill>
                  <a:srgbClr val="FF6B6B"/>
                </a:solidFill>
                <a:latin typeface="Arial" pitchFamily="34" charset="0"/>
                <a:ea typeface="Arial" pitchFamily="34" charset="-122"/>
                <a:cs typeface="Arial" pitchFamily="34" charset="-120"/>
              </a:rPr>
              <a:t>0 ANOMALIES</a:t>
            </a:r>
            <a:endParaRPr lang="en-US" sz="950" dirty="0"/>
          </a:p>
        </p:txBody>
      </p:sp>
      <p:sp>
        <p:nvSpPr>
          <p:cNvPr id="25" name="Text 22"/>
          <p:cNvSpPr/>
          <p:nvPr/>
        </p:nvSpPr>
        <p:spPr>
          <a:xfrm>
            <a:off x="6720840" y="5577840"/>
            <a:ext cx="4389120" cy="292608"/>
          </a:xfrm>
          <a:prstGeom prst="rect">
            <a:avLst/>
          </a:prstGeom>
          <a:noFill/>
          <a:ln/>
        </p:spPr>
        <p:txBody>
          <a:bodyPr wrap="square" lIns="0" tIns="0" rIns="0" bIns="0" rtlCol="0" anchor="ctr"/>
          <a:lstStyle/>
          <a:p>
            <a:pPr algn="ctr" indent="0" marL="0">
              <a:buNone/>
            </a:pPr>
            <a:r>
              <a:rPr lang="en-US" sz="1300" b="1" dirty="0">
                <a:solidFill>
                  <a:srgbClr val="FF6B6B"/>
                </a:solidFill>
                <a:latin typeface="Arial" pitchFamily="34" charset="0"/>
                <a:ea typeface="Arial" pitchFamily="34" charset="-122"/>
                <a:cs typeface="Arial" pitchFamily="34" charset="-120"/>
              </a:rPr>
              <a:t>Default Suricata also emitted 0 scan alerts.</a:t>
            </a:r>
            <a:endParaRPr lang="en-US" sz="130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FF6B6B"/>
          </a:solidFill>
          <a:ln w="12700">
            <a:solidFill>
              <a:srgbClr val="FF6B6B"/>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SURICATA</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A tuned Suricata threshold rule detected the same scan</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The rule added a laboratory-specific view of repeated SYN activity.</a:t>
            </a:r>
            <a:endParaRPr lang="en-US" sz="1150" dirty="0"/>
          </a:p>
        </p:txBody>
      </p:sp>
      <p:sp>
        <p:nvSpPr>
          <p:cNvPr id="6" name="Shape 4"/>
          <p:cNvSpPr/>
          <p:nvPr/>
        </p:nvSpPr>
        <p:spPr>
          <a:xfrm>
            <a:off x="685800" y="1508760"/>
            <a:ext cx="6583680" cy="3017520"/>
          </a:xfrm>
          <a:prstGeom prst="roundRect">
            <a:avLst>
              <a:gd name="adj" fmla="val 3636"/>
            </a:avLst>
          </a:prstGeom>
          <a:solidFill>
            <a:srgbClr val="101827"/>
          </a:solidFill>
          <a:ln w="15240">
            <a:solidFill>
              <a:srgbClr val="FF6B6B"/>
            </a:solidFill>
            <a:prstDash val="solid"/>
          </a:ln>
        </p:spPr>
      </p:sp>
      <p:sp>
        <p:nvSpPr>
          <p:cNvPr id="7" name="Text 5"/>
          <p:cNvSpPr/>
          <p:nvPr/>
        </p:nvSpPr>
        <p:spPr>
          <a:xfrm>
            <a:off x="960120" y="1810512"/>
            <a:ext cx="1371600" cy="274320"/>
          </a:xfrm>
          <a:prstGeom prst="rect">
            <a:avLst/>
          </a:prstGeom>
          <a:noFill/>
          <a:ln/>
        </p:spPr>
        <p:txBody>
          <a:bodyPr wrap="square" lIns="0" tIns="0" rIns="0" bIns="0" rtlCol="0" anchor="ctr"/>
          <a:lstStyle/>
          <a:p>
            <a:pPr indent="0" marL="0">
              <a:buNone/>
            </a:pPr>
            <a:r>
              <a:rPr lang="en-US" sz="1300" b="1" dirty="0">
                <a:solidFill>
                  <a:srgbClr val="FF6B6B"/>
                </a:solidFill>
                <a:latin typeface="Arial" pitchFamily="34" charset="0"/>
                <a:ea typeface="Arial" pitchFamily="34" charset="-122"/>
                <a:cs typeface="Arial" pitchFamily="34" charset="-120"/>
              </a:rPr>
              <a:t>LAB RULE</a:t>
            </a:r>
            <a:endParaRPr lang="en-US" sz="1300" dirty="0"/>
          </a:p>
        </p:txBody>
      </p:sp>
      <p:sp>
        <p:nvSpPr>
          <p:cNvPr id="8" name="Text 6"/>
          <p:cNvSpPr/>
          <p:nvPr/>
        </p:nvSpPr>
        <p:spPr>
          <a:xfrm>
            <a:off x="960120" y="2331720"/>
            <a:ext cx="6035040" cy="1417320"/>
          </a:xfrm>
          <a:prstGeom prst="rect">
            <a:avLst/>
          </a:prstGeom>
          <a:noFill/>
          <a:ln/>
        </p:spPr>
        <p:txBody>
          <a:bodyPr wrap="square" lIns="0" tIns="0" rIns="0" bIns="0" rtlCol="0" anchor="ctr"/>
          <a:lstStyle/>
          <a:p>
            <a:pPr algn="ctr" indent="0" marL="0">
              <a:buNone/>
            </a:pPr>
            <a:r>
              <a:rPr lang="en-US" sz="2600" b="1" dirty="0">
                <a:solidFill>
                  <a:srgbClr val="F7FAFC"/>
                </a:solidFill>
                <a:latin typeface="Courier New" pitchFamily="34" charset="0"/>
                <a:ea typeface="Courier New" pitchFamily="34" charset="-122"/>
                <a:cs typeface="Courier New" pitchFamily="34" charset="-120"/>
              </a:rPr>
              <a:t>20 SYN packets</a:t>
            </a:r>
            <a:endParaRPr lang="en-US" sz="2600" dirty="0"/>
          </a:p>
          <a:p>
            <a:pPr algn="ctr" indent="0" marL="0">
              <a:buNone/>
            </a:pPr>
            <a:r>
              <a:rPr lang="en-US" sz="2600" b="1" dirty="0">
                <a:solidFill>
                  <a:srgbClr val="F7FAFC"/>
                </a:solidFill>
                <a:latin typeface="Courier New" pitchFamily="34" charset="0"/>
                <a:ea typeface="Courier New" pitchFamily="34" charset="-122"/>
                <a:cs typeface="Courier New" pitchFamily="34" charset="-120"/>
              </a:rPr>
              <a:t>from one source</a:t>
            </a:r>
            <a:endParaRPr lang="en-US" sz="2600" dirty="0"/>
          </a:p>
          <a:p>
            <a:pPr algn="ctr" indent="0" marL="0">
              <a:buNone/>
            </a:pPr>
            <a:r>
              <a:rPr lang="en-US" sz="2600" b="1" dirty="0">
                <a:solidFill>
                  <a:srgbClr val="F7FAFC"/>
                </a:solidFill>
                <a:latin typeface="Courier New" pitchFamily="34" charset="0"/>
                <a:ea typeface="Courier New" pitchFamily="34" charset="-122"/>
                <a:cs typeface="Courier New" pitchFamily="34" charset="-120"/>
              </a:rPr>
              <a:t>within 10 seconds</a:t>
            </a:r>
            <a:endParaRPr lang="en-US" sz="2600" dirty="0"/>
          </a:p>
        </p:txBody>
      </p:sp>
      <p:sp>
        <p:nvSpPr>
          <p:cNvPr id="9" name="Shape 7"/>
          <p:cNvSpPr/>
          <p:nvPr/>
        </p:nvSpPr>
        <p:spPr>
          <a:xfrm>
            <a:off x="7635240" y="1508760"/>
            <a:ext cx="1828800" cy="1234440"/>
          </a:xfrm>
          <a:prstGeom prst="roundRect">
            <a:avLst>
              <a:gd name="adj" fmla="val 8889"/>
            </a:avLst>
          </a:prstGeom>
          <a:solidFill>
            <a:srgbClr val="19263A"/>
          </a:solidFill>
          <a:ln w="15240">
            <a:solidFill>
              <a:srgbClr val="FF6B6B"/>
            </a:solidFill>
            <a:prstDash val="solid"/>
          </a:ln>
        </p:spPr>
      </p:sp>
      <p:sp>
        <p:nvSpPr>
          <p:cNvPr id="10" name="Text 8"/>
          <p:cNvSpPr/>
          <p:nvPr/>
        </p:nvSpPr>
        <p:spPr>
          <a:xfrm>
            <a:off x="7763256" y="1618488"/>
            <a:ext cx="157276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NOTIFICATIONS</a:t>
            </a:r>
            <a:endParaRPr lang="en-US" sz="950" dirty="0"/>
          </a:p>
        </p:txBody>
      </p:sp>
      <p:sp>
        <p:nvSpPr>
          <p:cNvPr id="11" name="Text 9"/>
          <p:cNvSpPr/>
          <p:nvPr/>
        </p:nvSpPr>
        <p:spPr>
          <a:xfrm>
            <a:off x="7726680" y="1892808"/>
            <a:ext cx="1645920" cy="438912"/>
          </a:xfrm>
          <a:prstGeom prst="rect">
            <a:avLst/>
          </a:prstGeom>
          <a:noFill/>
          <a:ln/>
        </p:spPr>
        <p:txBody>
          <a:bodyPr wrap="square" lIns="0" tIns="0" rIns="0" bIns="0" rtlCol="0" anchor="ctr"/>
          <a:lstStyle/>
          <a:p>
            <a:pPr algn="ctr" indent="0" marL="0">
              <a:buNone/>
            </a:pPr>
            <a:r>
              <a:rPr lang="en-US" sz="2400" b="1" dirty="0">
                <a:solidFill>
                  <a:srgbClr val="FF6B6B"/>
                </a:solidFill>
                <a:latin typeface="Arial" pitchFamily="34" charset="0"/>
                <a:ea typeface="Arial" pitchFamily="34" charset="-122"/>
                <a:cs typeface="Arial" pitchFamily="34" charset="-120"/>
              </a:rPr>
              <a:t>24</a:t>
            </a:r>
            <a:endParaRPr lang="en-US" sz="2400" dirty="0"/>
          </a:p>
        </p:txBody>
      </p:sp>
      <p:sp>
        <p:nvSpPr>
          <p:cNvPr id="12" name="Text 10"/>
          <p:cNvSpPr/>
          <p:nvPr/>
        </p:nvSpPr>
        <p:spPr>
          <a:xfrm>
            <a:off x="7744968" y="2432304"/>
            <a:ext cx="1609344" cy="201168"/>
          </a:xfrm>
          <a:prstGeom prst="rect">
            <a:avLst/>
          </a:prstGeom>
          <a:noFill/>
          <a:ln/>
        </p:spPr>
        <p:txBody>
          <a:bodyPr wrap="square" lIns="0" tIns="0" rIns="0" bIns="0" rtlCol="0" anchor="ctr"/>
          <a:lstStyle/>
          <a:p>
            <a:pPr algn="ctr" indent="0" marL="0">
              <a:buNone/>
            </a:pPr>
            <a:r>
              <a:rPr lang="en-US" sz="780" dirty="0">
                <a:solidFill>
                  <a:srgbClr val="A9B5C8"/>
                </a:solidFill>
                <a:latin typeface="Arial" pitchFamily="34" charset="0"/>
                <a:ea typeface="Arial" pitchFamily="34" charset="-122"/>
                <a:cs typeface="Arial" pitchFamily="34" charset="-120"/>
              </a:rPr>
              <a:t>same scan</a:t>
            </a:r>
            <a:endParaRPr lang="en-US" sz="780" dirty="0"/>
          </a:p>
        </p:txBody>
      </p:sp>
      <p:sp>
        <p:nvSpPr>
          <p:cNvPr id="13" name="Shape 11"/>
          <p:cNvSpPr/>
          <p:nvPr/>
        </p:nvSpPr>
        <p:spPr>
          <a:xfrm>
            <a:off x="9692640" y="1508760"/>
            <a:ext cx="1828800" cy="1234440"/>
          </a:xfrm>
          <a:prstGeom prst="roundRect">
            <a:avLst>
              <a:gd name="adj" fmla="val 8889"/>
            </a:avLst>
          </a:prstGeom>
          <a:solidFill>
            <a:srgbClr val="19263A"/>
          </a:solidFill>
          <a:ln w="15240">
            <a:solidFill>
              <a:srgbClr val="F59E5B"/>
            </a:solidFill>
            <a:prstDash val="solid"/>
          </a:ln>
        </p:spPr>
      </p:sp>
      <p:sp>
        <p:nvSpPr>
          <p:cNvPr id="14" name="Text 12"/>
          <p:cNvSpPr/>
          <p:nvPr/>
        </p:nvSpPr>
        <p:spPr>
          <a:xfrm>
            <a:off x="9820656" y="1618488"/>
            <a:ext cx="157276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SEPARATE ATTACKS</a:t>
            </a:r>
            <a:endParaRPr lang="en-US" sz="950" dirty="0"/>
          </a:p>
        </p:txBody>
      </p:sp>
      <p:sp>
        <p:nvSpPr>
          <p:cNvPr id="15" name="Text 13"/>
          <p:cNvSpPr/>
          <p:nvPr/>
        </p:nvSpPr>
        <p:spPr>
          <a:xfrm>
            <a:off x="9784080" y="1892808"/>
            <a:ext cx="1645920" cy="438912"/>
          </a:xfrm>
          <a:prstGeom prst="rect">
            <a:avLst/>
          </a:prstGeom>
          <a:noFill/>
          <a:ln/>
        </p:spPr>
        <p:txBody>
          <a:bodyPr wrap="square" lIns="0" tIns="0" rIns="0" bIns="0" rtlCol="0" anchor="ctr"/>
          <a:lstStyle/>
          <a:p>
            <a:pPr algn="ctr" indent="0" marL="0">
              <a:buNone/>
            </a:pPr>
            <a:r>
              <a:rPr lang="en-US" sz="2400" b="1" dirty="0">
                <a:solidFill>
                  <a:srgbClr val="F59E5B"/>
                </a:solidFill>
                <a:latin typeface="Arial" pitchFamily="34" charset="0"/>
                <a:ea typeface="Arial" pitchFamily="34" charset="-122"/>
                <a:cs typeface="Arial" pitchFamily="34" charset="-120"/>
              </a:rPr>
              <a:t>1</a:t>
            </a:r>
            <a:endParaRPr lang="en-US" sz="2400" dirty="0"/>
          </a:p>
        </p:txBody>
      </p:sp>
      <p:sp>
        <p:nvSpPr>
          <p:cNvPr id="16" name="Text 14"/>
          <p:cNvSpPr/>
          <p:nvPr/>
        </p:nvSpPr>
        <p:spPr>
          <a:xfrm>
            <a:off x="9802368" y="2432304"/>
            <a:ext cx="1609344" cy="201168"/>
          </a:xfrm>
          <a:prstGeom prst="rect">
            <a:avLst/>
          </a:prstGeom>
          <a:noFill/>
          <a:ln/>
        </p:spPr>
        <p:txBody>
          <a:bodyPr wrap="square" lIns="0" tIns="0" rIns="0" bIns="0" rtlCol="0" anchor="ctr"/>
          <a:lstStyle/>
          <a:p>
            <a:pPr algn="ctr" indent="0" marL="0">
              <a:buNone/>
            </a:pPr>
            <a:r>
              <a:rPr lang="en-US" sz="780" dirty="0">
                <a:solidFill>
                  <a:srgbClr val="A9B5C8"/>
                </a:solidFill>
                <a:latin typeface="Arial" pitchFamily="34" charset="0"/>
                <a:ea typeface="Arial" pitchFamily="34" charset="-122"/>
                <a:cs typeface="Arial" pitchFamily="34" charset="-120"/>
              </a:rPr>
              <a:t>not 24</a:t>
            </a:r>
            <a:endParaRPr lang="en-US" sz="780" dirty="0"/>
          </a:p>
        </p:txBody>
      </p:sp>
      <p:sp>
        <p:nvSpPr>
          <p:cNvPr id="17" name="Shape 15"/>
          <p:cNvSpPr/>
          <p:nvPr/>
        </p:nvSpPr>
        <p:spPr>
          <a:xfrm>
            <a:off x="7635240" y="3063240"/>
            <a:ext cx="1828800" cy="1234440"/>
          </a:xfrm>
          <a:prstGeom prst="roundRect">
            <a:avLst>
              <a:gd name="adj" fmla="val 8889"/>
            </a:avLst>
          </a:prstGeom>
          <a:solidFill>
            <a:srgbClr val="19263A"/>
          </a:solidFill>
          <a:ln w="15240">
            <a:solidFill>
              <a:srgbClr val="57D3E8"/>
            </a:solidFill>
            <a:prstDash val="solid"/>
          </a:ln>
        </p:spPr>
      </p:sp>
      <p:sp>
        <p:nvSpPr>
          <p:cNvPr id="18" name="Text 16"/>
          <p:cNvSpPr/>
          <p:nvPr/>
        </p:nvSpPr>
        <p:spPr>
          <a:xfrm>
            <a:off x="7763256" y="3172968"/>
            <a:ext cx="157276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SURICATA MODE</a:t>
            </a:r>
            <a:endParaRPr lang="en-US" sz="950" dirty="0"/>
          </a:p>
        </p:txBody>
      </p:sp>
      <p:sp>
        <p:nvSpPr>
          <p:cNvPr id="19" name="Text 17"/>
          <p:cNvSpPr/>
          <p:nvPr/>
        </p:nvSpPr>
        <p:spPr>
          <a:xfrm>
            <a:off x="7726680" y="3447288"/>
            <a:ext cx="1645920" cy="438912"/>
          </a:xfrm>
          <a:prstGeom prst="rect">
            <a:avLst/>
          </a:prstGeom>
          <a:noFill/>
          <a:ln/>
        </p:spPr>
        <p:txBody>
          <a:bodyPr wrap="square" lIns="0" tIns="0" rIns="0" bIns="0" rtlCol="0" anchor="ctr"/>
          <a:lstStyle/>
          <a:p>
            <a:pPr algn="ctr" indent="0" marL="0">
              <a:buNone/>
            </a:pPr>
            <a:r>
              <a:rPr lang="en-US" sz="2400" b="1" dirty="0">
                <a:solidFill>
                  <a:srgbClr val="57D3E8"/>
                </a:solidFill>
                <a:latin typeface="Arial" pitchFamily="34" charset="0"/>
                <a:ea typeface="Arial" pitchFamily="34" charset="-122"/>
                <a:cs typeface="Arial" pitchFamily="34" charset="-120"/>
              </a:rPr>
              <a:t>IDS</a:t>
            </a:r>
            <a:endParaRPr lang="en-US" sz="2400" dirty="0"/>
          </a:p>
        </p:txBody>
      </p:sp>
      <p:sp>
        <p:nvSpPr>
          <p:cNvPr id="20" name="Text 18"/>
          <p:cNvSpPr/>
          <p:nvPr/>
        </p:nvSpPr>
        <p:spPr>
          <a:xfrm>
            <a:off x="7744968" y="3986784"/>
            <a:ext cx="1609344" cy="201168"/>
          </a:xfrm>
          <a:prstGeom prst="rect">
            <a:avLst/>
          </a:prstGeom>
          <a:noFill/>
          <a:ln/>
        </p:spPr>
        <p:txBody>
          <a:bodyPr wrap="square" lIns="0" tIns="0" rIns="0" bIns="0" rtlCol="0" anchor="ctr"/>
          <a:lstStyle/>
          <a:p>
            <a:pPr algn="ctr" indent="0" marL="0">
              <a:buNone/>
            </a:pPr>
            <a:r>
              <a:rPr lang="en-US" sz="780" dirty="0">
                <a:solidFill>
                  <a:srgbClr val="A9B5C8"/>
                </a:solidFill>
                <a:latin typeface="Arial" pitchFamily="34" charset="0"/>
                <a:ea typeface="Arial" pitchFamily="34" charset="-122"/>
                <a:cs typeface="Arial" pitchFamily="34" charset="-120"/>
              </a:rPr>
              <a:t>logged, not blocked</a:t>
            </a:r>
            <a:endParaRPr lang="en-US" sz="780" dirty="0"/>
          </a:p>
        </p:txBody>
      </p:sp>
      <p:sp>
        <p:nvSpPr>
          <p:cNvPr id="21" name="Shape 19"/>
          <p:cNvSpPr/>
          <p:nvPr/>
        </p:nvSpPr>
        <p:spPr>
          <a:xfrm>
            <a:off x="9692640" y="3063240"/>
            <a:ext cx="1828800" cy="1234440"/>
          </a:xfrm>
          <a:prstGeom prst="roundRect">
            <a:avLst>
              <a:gd name="adj" fmla="val 8889"/>
            </a:avLst>
          </a:prstGeom>
          <a:solidFill>
            <a:srgbClr val="19263A"/>
          </a:solidFill>
          <a:ln w="15240">
            <a:solidFill>
              <a:srgbClr val="40C982"/>
            </a:solidFill>
            <a:prstDash val="solid"/>
          </a:ln>
        </p:spPr>
      </p:sp>
      <p:sp>
        <p:nvSpPr>
          <p:cNvPr id="22" name="Text 20"/>
          <p:cNvSpPr/>
          <p:nvPr/>
        </p:nvSpPr>
        <p:spPr>
          <a:xfrm>
            <a:off x="9820656" y="3172968"/>
            <a:ext cx="157276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ACTION</a:t>
            </a:r>
            <a:endParaRPr lang="en-US" sz="950" dirty="0"/>
          </a:p>
        </p:txBody>
      </p:sp>
      <p:sp>
        <p:nvSpPr>
          <p:cNvPr id="23" name="Text 21"/>
          <p:cNvSpPr/>
          <p:nvPr/>
        </p:nvSpPr>
        <p:spPr>
          <a:xfrm>
            <a:off x="9784080" y="3447288"/>
            <a:ext cx="1645920" cy="438912"/>
          </a:xfrm>
          <a:prstGeom prst="rect">
            <a:avLst/>
          </a:prstGeom>
          <a:noFill/>
          <a:ln/>
        </p:spPr>
        <p:txBody>
          <a:bodyPr wrap="square" lIns="0" tIns="0" rIns="0" bIns="0" rtlCol="0" anchor="ctr"/>
          <a:lstStyle/>
          <a:p>
            <a:pPr algn="ctr" indent="0" marL="0">
              <a:buNone/>
            </a:pPr>
            <a:r>
              <a:rPr lang="en-US" sz="2400" b="1" dirty="0">
                <a:solidFill>
                  <a:srgbClr val="40C982"/>
                </a:solidFill>
                <a:latin typeface="Arial" pitchFamily="34" charset="0"/>
                <a:ea typeface="Arial" pitchFamily="34" charset="-122"/>
                <a:cs typeface="Arial" pitchFamily="34" charset="-120"/>
              </a:rPr>
              <a:t>ALLOWED</a:t>
            </a:r>
            <a:endParaRPr lang="en-US" sz="2400" dirty="0"/>
          </a:p>
        </p:txBody>
      </p:sp>
      <p:sp>
        <p:nvSpPr>
          <p:cNvPr id="24" name="Shape 22"/>
          <p:cNvSpPr/>
          <p:nvPr/>
        </p:nvSpPr>
        <p:spPr>
          <a:xfrm>
            <a:off x="685800" y="4800600"/>
            <a:ext cx="10835640" cy="914400"/>
          </a:xfrm>
          <a:prstGeom prst="roundRect">
            <a:avLst>
              <a:gd name="adj" fmla="val 12000"/>
            </a:avLst>
          </a:prstGeom>
          <a:solidFill>
            <a:srgbClr val="131C2B"/>
          </a:solidFill>
          <a:ln w="15240">
            <a:solidFill>
              <a:srgbClr val="3A4A63"/>
            </a:solidFill>
            <a:prstDash val="solid"/>
          </a:ln>
        </p:spPr>
      </p:sp>
      <p:sp>
        <p:nvSpPr>
          <p:cNvPr id="25" name="Text 23"/>
          <p:cNvSpPr/>
          <p:nvPr/>
        </p:nvSpPr>
        <p:spPr>
          <a:xfrm>
            <a:off x="914400" y="5102352"/>
            <a:ext cx="10378440" cy="310896"/>
          </a:xfrm>
          <a:prstGeom prst="rect">
            <a:avLst/>
          </a:prstGeom>
          <a:noFill/>
          <a:ln/>
        </p:spPr>
        <p:txBody>
          <a:bodyPr wrap="square" lIns="0" tIns="0" rIns="0" bIns="0" rtlCol="0" anchor="ctr"/>
          <a:lstStyle/>
          <a:p>
            <a:pPr algn="ctr" indent="0" marL="0">
              <a:buNone/>
            </a:pPr>
            <a:r>
              <a:rPr lang="en-US" sz="1500" b="1" dirty="0">
                <a:solidFill>
                  <a:srgbClr val="F1C75B"/>
                </a:solidFill>
                <a:latin typeface="Arial" pitchFamily="34" charset="0"/>
                <a:ea typeface="Arial" pitchFamily="34" charset="-122"/>
                <a:cs typeface="Arial" pitchFamily="34" charset="-120"/>
              </a:rPr>
              <a:t>The 24 records were repeated threshold notifications during one controlled scan. They were not 24 different attacks.</a:t>
            </a:r>
            <a:endParaRPr lang="en-US" sz="150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F59E5B"/>
          </a:solidFill>
          <a:ln w="12700">
            <a:solidFill>
              <a:srgbClr val="F59E5B"/>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CORRELATION</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Cross-flow correlation supplied the missing context</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It grouped related flows from one source inside a rolling time window.</a:t>
            </a:r>
            <a:endParaRPr lang="en-US" sz="1150" dirty="0"/>
          </a:p>
        </p:txBody>
      </p:sp>
      <p:sp>
        <p:nvSpPr>
          <p:cNvPr id="6" name="Shape 4"/>
          <p:cNvSpPr/>
          <p:nvPr/>
        </p:nvSpPr>
        <p:spPr>
          <a:xfrm>
            <a:off x="502920" y="1298448"/>
            <a:ext cx="6720840" cy="5074920"/>
          </a:xfrm>
          <a:prstGeom prst="roundRect">
            <a:avLst>
              <a:gd name="adj" fmla="val 2162"/>
            </a:avLst>
          </a:prstGeom>
          <a:solidFill>
            <a:srgbClr val="19263A"/>
          </a:solidFill>
          <a:ln w="15240">
            <a:solidFill>
              <a:srgbClr val="3A4A63"/>
            </a:solidFill>
            <a:prstDash val="solid"/>
          </a:ln>
        </p:spPr>
      </p:sp>
      <p:pic>
        <p:nvPicPr>
          <p:cNvPr id="7" name="Image 0" descr="/mnt/data/AI-NIDS-Final-Dashboard-Screenshots/01_cross_flow_overview.png">    </p:cNvPr>
          <p:cNvPicPr>
            <a:picLocks noChangeAspect="1"/>
          </p:cNvPicPr>
          <p:nvPr/>
        </p:nvPicPr>
        <p:blipFill>
          <a:blip r:embed="rId1"/>
          <a:stretch>
            <a:fillRect/>
          </a:stretch>
        </p:blipFill>
        <p:spPr>
          <a:xfrm>
            <a:off x="1311688" y="1481328"/>
            <a:ext cx="5094160" cy="4709160"/>
          </a:xfrm>
          <a:prstGeom prst="rect">
            <a:avLst/>
          </a:prstGeom>
        </p:spPr>
      </p:pic>
      <p:sp>
        <p:nvSpPr>
          <p:cNvPr id="8" name="Shape 5"/>
          <p:cNvSpPr/>
          <p:nvPr/>
        </p:nvSpPr>
        <p:spPr>
          <a:xfrm>
            <a:off x="7498080" y="1298448"/>
            <a:ext cx="4160520" cy="5074920"/>
          </a:xfrm>
          <a:prstGeom prst="roundRect">
            <a:avLst>
              <a:gd name="adj" fmla="val 2637"/>
            </a:avLst>
          </a:prstGeom>
          <a:solidFill>
            <a:srgbClr val="131C2B"/>
          </a:solidFill>
          <a:ln w="15240">
            <a:solidFill>
              <a:srgbClr val="F59E5B"/>
            </a:solidFill>
            <a:prstDash val="solid"/>
          </a:ln>
        </p:spPr>
      </p:sp>
      <p:sp>
        <p:nvSpPr>
          <p:cNvPr id="9" name="Text 6"/>
          <p:cNvSpPr/>
          <p:nvPr/>
        </p:nvSpPr>
        <p:spPr>
          <a:xfrm>
            <a:off x="7818120" y="1664208"/>
            <a:ext cx="3520440" cy="292608"/>
          </a:xfrm>
          <a:prstGeom prst="rect">
            <a:avLst/>
          </a:prstGeom>
          <a:noFill/>
          <a:ln/>
        </p:spPr>
        <p:txBody>
          <a:bodyPr wrap="square" lIns="0" tIns="0" rIns="0" bIns="0" rtlCol="0" anchor="ctr"/>
          <a:lstStyle/>
          <a:p>
            <a:pPr algn="ctr" indent="0" marL="0">
              <a:buNone/>
            </a:pPr>
            <a:r>
              <a:rPr lang="en-US" sz="1300" b="1" dirty="0">
                <a:solidFill>
                  <a:srgbClr val="F59E5B"/>
                </a:solidFill>
                <a:latin typeface="Arial" pitchFamily="34" charset="0"/>
                <a:ea typeface="Arial" pitchFamily="34" charset="-122"/>
                <a:cs typeface="Arial" pitchFamily="34" charset="-120"/>
              </a:rPr>
              <a:t>DETECTION CONDITION</a:t>
            </a:r>
            <a:endParaRPr lang="en-US" sz="1300" dirty="0"/>
          </a:p>
        </p:txBody>
      </p:sp>
      <p:sp>
        <p:nvSpPr>
          <p:cNvPr id="10" name="Text 7"/>
          <p:cNvSpPr/>
          <p:nvPr/>
        </p:nvSpPr>
        <p:spPr>
          <a:xfrm>
            <a:off x="7818120" y="2148840"/>
            <a:ext cx="3520440" cy="1600200"/>
          </a:xfrm>
          <a:prstGeom prst="rect">
            <a:avLst/>
          </a:prstGeom>
          <a:noFill/>
          <a:ln/>
        </p:spPr>
        <p:txBody>
          <a:bodyPr wrap="square" lIns="381" tIns="381" rIns="381" bIns="381" rtlCol="0" anchor="ctr"/>
          <a:lstStyle/>
          <a:p>
            <a:pPr algn="ctr" indent="0" marL="0">
              <a:buNone/>
            </a:pPr>
            <a:r>
              <a:rPr lang="en-US" sz="1800" b="1" dirty="0">
                <a:solidFill>
                  <a:srgbClr val="F7FAFC"/>
                </a:solidFill>
                <a:latin typeface="Arial" pitchFamily="34" charset="0"/>
                <a:ea typeface="Arial" pitchFamily="34" charset="-122"/>
                <a:cs typeface="Arial" pitchFamily="34" charset="-120"/>
              </a:rPr>
              <a:t>At least 20 SYN-bearing flows</a:t>
            </a:r>
            <a:endParaRPr lang="en-US" sz="1800" dirty="0"/>
          </a:p>
          <a:p>
            <a:pPr algn="ctr" indent="0" marL="0">
              <a:buNone/>
            </a:pPr>
            <a:r>
              <a:rPr lang="en-US" sz="1800" b="1" dirty="0">
                <a:solidFill>
                  <a:srgbClr val="F7FAFC"/>
                </a:solidFill>
                <a:latin typeface="Arial" pitchFamily="34" charset="0"/>
                <a:ea typeface="Arial" pitchFamily="34" charset="-122"/>
                <a:cs typeface="Arial" pitchFamily="34" charset="-120"/>
              </a:rPr>
              <a:t>to at least 20 unique ports</a:t>
            </a:r>
            <a:endParaRPr lang="en-US" sz="1800" dirty="0"/>
          </a:p>
          <a:p>
            <a:pPr algn="ctr" indent="0" marL="0">
              <a:buNone/>
            </a:pPr>
            <a:r>
              <a:rPr lang="en-US" sz="1800" b="1" dirty="0">
                <a:solidFill>
                  <a:srgbClr val="F7FAFC"/>
                </a:solidFill>
                <a:latin typeface="Arial" pitchFamily="34" charset="0"/>
                <a:ea typeface="Arial" pitchFamily="34" charset="-122"/>
                <a:cs typeface="Arial" pitchFamily="34" charset="-120"/>
              </a:rPr>
              <a:t>from one source</a:t>
            </a:r>
            <a:endParaRPr lang="en-US" sz="1800" dirty="0"/>
          </a:p>
          <a:p>
            <a:pPr algn="ctr" indent="0" marL="0">
              <a:buNone/>
            </a:pPr>
            <a:r>
              <a:rPr lang="en-US" sz="1800" b="1" dirty="0">
                <a:solidFill>
                  <a:srgbClr val="F7FAFC"/>
                </a:solidFill>
                <a:latin typeface="Arial" pitchFamily="34" charset="0"/>
                <a:ea typeface="Arial" pitchFamily="34" charset="-122"/>
                <a:cs typeface="Arial" pitchFamily="34" charset="-120"/>
              </a:rPr>
              <a:t>within 10 seconds</a:t>
            </a:r>
            <a:endParaRPr lang="en-US" sz="1800" dirty="0"/>
          </a:p>
        </p:txBody>
      </p:sp>
      <p:sp>
        <p:nvSpPr>
          <p:cNvPr id="11" name="Shape 8"/>
          <p:cNvSpPr/>
          <p:nvPr/>
        </p:nvSpPr>
        <p:spPr>
          <a:xfrm>
            <a:off x="8092440" y="3977640"/>
            <a:ext cx="2971800" cy="329184"/>
          </a:xfrm>
          <a:prstGeom prst="roundRect">
            <a:avLst/>
          </a:prstGeom>
          <a:solidFill>
            <a:srgbClr val="19263A"/>
          </a:solidFill>
          <a:ln w="17780">
            <a:solidFill>
              <a:srgbClr val="40C982"/>
            </a:solidFill>
            <a:prstDash val="solid"/>
          </a:ln>
        </p:spPr>
      </p:sp>
      <p:sp>
        <p:nvSpPr>
          <p:cNvPr id="12" name="Text 9"/>
          <p:cNvSpPr/>
          <p:nvPr/>
        </p:nvSpPr>
        <p:spPr>
          <a:xfrm>
            <a:off x="8165592" y="4041648"/>
            <a:ext cx="2825496" cy="182880"/>
          </a:xfrm>
          <a:prstGeom prst="rect">
            <a:avLst/>
          </a:prstGeom>
          <a:noFill/>
          <a:ln/>
        </p:spPr>
        <p:txBody>
          <a:bodyPr wrap="square" lIns="0" tIns="0" rIns="0" bIns="0" rtlCol="0" anchor="ctr"/>
          <a:lstStyle/>
          <a:p>
            <a:pPr algn="ctr" indent="0" marL="0">
              <a:buNone/>
            </a:pPr>
            <a:r>
              <a:rPr lang="en-US" sz="950" b="1" dirty="0">
                <a:solidFill>
                  <a:srgbClr val="40C982"/>
                </a:solidFill>
                <a:latin typeface="Arial" pitchFamily="34" charset="0"/>
                <a:ea typeface="Arial" pitchFamily="34" charset="-122"/>
                <a:cs typeface="Arial" pitchFamily="34" charset="-120"/>
              </a:rPr>
              <a:t>BENIGN: NO_SCAN_PATTERN</a:t>
            </a:r>
            <a:endParaRPr lang="en-US" sz="950" dirty="0"/>
          </a:p>
        </p:txBody>
      </p:sp>
      <p:sp>
        <p:nvSpPr>
          <p:cNvPr id="13" name="Shape 10"/>
          <p:cNvSpPr/>
          <p:nvPr/>
        </p:nvSpPr>
        <p:spPr>
          <a:xfrm>
            <a:off x="8092440" y="4498848"/>
            <a:ext cx="2971800" cy="329184"/>
          </a:xfrm>
          <a:prstGeom prst="roundRect">
            <a:avLst/>
          </a:prstGeom>
          <a:solidFill>
            <a:srgbClr val="19263A"/>
          </a:solidFill>
          <a:ln w="17780">
            <a:solidFill>
              <a:srgbClr val="FF6B6B"/>
            </a:solidFill>
            <a:prstDash val="solid"/>
          </a:ln>
        </p:spPr>
      </p:sp>
      <p:sp>
        <p:nvSpPr>
          <p:cNvPr id="14" name="Text 11"/>
          <p:cNvSpPr/>
          <p:nvPr/>
        </p:nvSpPr>
        <p:spPr>
          <a:xfrm>
            <a:off x="8165592" y="4562856"/>
            <a:ext cx="2825496" cy="182880"/>
          </a:xfrm>
          <a:prstGeom prst="rect">
            <a:avLst/>
          </a:prstGeom>
          <a:noFill/>
          <a:ln/>
        </p:spPr>
        <p:txBody>
          <a:bodyPr wrap="square" lIns="0" tIns="0" rIns="0" bIns="0" rtlCol="0" anchor="ctr"/>
          <a:lstStyle/>
          <a:p>
            <a:pPr algn="ctr" indent="0" marL="0">
              <a:buNone/>
            </a:pPr>
            <a:r>
              <a:rPr lang="en-US" sz="950" b="1" dirty="0">
                <a:solidFill>
                  <a:srgbClr val="FF6B6B"/>
                </a:solidFill>
                <a:latin typeface="Arial" pitchFamily="34" charset="0"/>
                <a:ea typeface="Arial" pitchFamily="34" charset="-122"/>
                <a:cs typeface="Arial" pitchFamily="34" charset="-120"/>
              </a:rPr>
              <a:t>SCAN: PORT_SCAN</a:t>
            </a:r>
            <a:endParaRPr lang="en-US" sz="950" dirty="0"/>
          </a:p>
        </p:txBody>
      </p:sp>
      <p:sp>
        <p:nvSpPr>
          <p:cNvPr id="15" name="Shape 12"/>
          <p:cNvSpPr/>
          <p:nvPr/>
        </p:nvSpPr>
        <p:spPr>
          <a:xfrm>
            <a:off x="8092440" y="5047488"/>
            <a:ext cx="1325880" cy="932688"/>
          </a:xfrm>
          <a:prstGeom prst="roundRect">
            <a:avLst>
              <a:gd name="adj" fmla="val 11765"/>
            </a:avLst>
          </a:prstGeom>
          <a:solidFill>
            <a:srgbClr val="19263A"/>
          </a:solidFill>
          <a:ln w="15240">
            <a:solidFill>
              <a:srgbClr val="F59E5B"/>
            </a:solidFill>
            <a:prstDash val="solid"/>
          </a:ln>
        </p:spPr>
      </p:sp>
      <p:sp>
        <p:nvSpPr>
          <p:cNvPr id="16" name="Text 13"/>
          <p:cNvSpPr/>
          <p:nvPr/>
        </p:nvSpPr>
        <p:spPr>
          <a:xfrm>
            <a:off x="8220456" y="5157216"/>
            <a:ext cx="106984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MAX PORTS / WINDOW</a:t>
            </a:r>
            <a:endParaRPr lang="en-US" sz="950" dirty="0"/>
          </a:p>
        </p:txBody>
      </p:sp>
      <p:sp>
        <p:nvSpPr>
          <p:cNvPr id="17" name="Text 14"/>
          <p:cNvSpPr/>
          <p:nvPr/>
        </p:nvSpPr>
        <p:spPr>
          <a:xfrm>
            <a:off x="8183880" y="5431536"/>
            <a:ext cx="1143000" cy="438912"/>
          </a:xfrm>
          <a:prstGeom prst="rect">
            <a:avLst/>
          </a:prstGeom>
          <a:noFill/>
          <a:ln/>
        </p:spPr>
        <p:txBody>
          <a:bodyPr wrap="square" lIns="0" tIns="0" rIns="0" bIns="0" rtlCol="0" anchor="ctr"/>
          <a:lstStyle/>
          <a:p>
            <a:pPr algn="ctr" indent="0" marL="0">
              <a:buNone/>
            </a:pPr>
            <a:r>
              <a:rPr lang="en-US" sz="2400" b="1" dirty="0">
                <a:solidFill>
                  <a:srgbClr val="F59E5B"/>
                </a:solidFill>
                <a:latin typeface="Arial" pitchFamily="34" charset="0"/>
                <a:ea typeface="Arial" pitchFamily="34" charset="-122"/>
                <a:cs typeface="Arial" pitchFamily="34" charset="-120"/>
              </a:rPr>
              <a:t>276</a:t>
            </a:r>
            <a:endParaRPr lang="en-US" sz="2400" dirty="0"/>
          </a:p>
        </p:txBody>
      </p:sp>
      <p:sp>
        <p:nvSpPr>
          <p:cNvPr id="18" name="Shape 15"/>
          <p:cNvSpPr/>
          <p:nvPr/>
        </p:nvSpPr>
        <p:spPr>
          <a:xfrm>
            <a:off x="9738360" y="5047488"/>
            <a:ext cx="1325880" cy="932688"/>
          </a:xfrm>
          <a:prstGeom prst="roundRect">
            <a:avLst>
              <a:gd name="adj" fmla="val 11765"/>
            </a:avLst>
          </a:prstGeom>
          <a:solidFill>
            <a:srgbClr val="19263A"/>
          </a:solidFill>
          <a:ln w="15240">
            <a:solidFill>
              <a:srgbClr val="FF6B6B"/>
            </a:solidFill>
            <a:prstDash val="solid"/>
          </a:ln>
        </p:spPr>
      </p:sp>
      <p:sp>
        <p:nvSpPr>
          <p:cNvPr id="19" name="Text 16"/>
          <p:cNvSpPr/>
          <p:nvPr/>
        </p:nvSpPr>
        <p:spPr>
          <a:xfrm>
            <a:off x="9866376" y="5157216"/>
            <a:ext cx="1069848" cy="237744"/>
          </a:xfrm>
          <a:prstGeom prst="rect">
            <a:avLst/>
          </a:prstGeom>
          <a:noFill/>
          <a:ln/>
        </p:spPr>
        <p:txBody>
          <a:bodyPr wrap="square" lIns="0" tIns="0" rIns="0" bIns="0" rtlCol="0" anchor="ctr"/>
          <a:lstStyle/>
          <a:p>
            <a:pPr algn="ctr" indent="0" marL="0">
              <a:buNone/>
            </a:pPr>
            <a:r>
              <a:rPr lang="en-US" sz="950" b="1" dirty="0">
                <a:solidFill>
                  <a:srgbClr val="A9B5C8"/>
                </a:solidFill>
                <a:latin typeface="Arial" pitchFamily="34" charset="0"/>
                <a:ea typeface="Arial" pitchFamily="34" charset="-122"/>
                <a:cs typeface="Arial" pitchFamily="34" charset="-120"/>
              </a:rPr>
              <a:t>FINAL ALERTS</a:t>
            </a:r>
            <a:endParaRPr lang="en-US" sz="950" dirty="0"/>
          </a:p>
        </p:txBody>
      </p:sp>
      <p:sp>
        <p:nvSpPr>
          <p:cNvPr id="20" name="Text 17"/>
          <p:cNvSpPr/>
          <p:nvPr/>
        </p:nvSpPr>
        <p:spPr>
          <a:xfrm>
            <a:off x="9829800" y="5431536"/>
            <a:ext cx="1143000" cy="438912"/>
          </a:xfrm>
          <a:prstGeom prst="rect">
            <a:avLst/>
          </a:prstGeom>
          <a:noFill/>
          <a:ln/>
        </p:spPr>
        <p:txBody>
          <a:bodyPr wrap="square" lIns="0" tIns="0" rIns="0" bIns="0" rtlCol="0" anchor="ctr"/>
          <a:lstStyle/>
          <a:p>
            <a:pPr algn="ctr" indent="0" marL="0">
              <a:buNone/>
            </a:pPr>
            <a:r>
              <a:rPr lang="en-US" sz="2400" b="1" dirty="0">
                <a:solidFill>
                  <a:srgbClr val="FF6B6B"/>
                </a:solidFill>
                <a:latin typeface="Arial" pitchFamily="34" charset="0"/>
                <a:ea typeface="Arial" pitchFamily="34" charset="-122"/>
                <a:cs typeface="Arial" pitchFamily="34" charset="-120"/>
              </a:rPr>
              <a:t>1</a:t>
            </a:r>
            <a:endParaRPr lang="en-US" sz="2400" dirty="0"/>
          </a:p>
        </p:txBody>
      </p:sp>
      <p:sp>
        <p:nvSpPr>
          <p:cNvPr id="21" name="Text 18"/>
          <p:cNvSpPr/>
          <p:nvPr/>
        </p:nvSpPr>
        <p:spPr>
          <a:xfrm>
            <a:off x="9848088" y="5669280"/>
            <a:ext cx="1106424" cy="201168"/>
          </a:xfrm>
          <a:prstGeom prst="rect">
            <a:avLst/>
          </a:prstGeom>
          <a:noFill/>
          <a:ln/>
        </p:spPr>
        <p:txBody>
          <a:bodyPr wrap="square" lIns="0" tIns="0" rIns="0" bIns="0" rtlCol="0" anchor="ctr"/>
          <a:lstStyle/>
          <a:p>
            <a:pPr algn="ctr" indent="0" marL="0">
              <a:buNone/>
            </a:pPr>
            <a:r>
              <a:rPr lang="en-US" sz="780" dirty="0">
                <a:solidFill>
                  <a:srgbClr val="A9B5C8"/>
                </a:solidFill>
                <a:latin typeface="Arial" pitchFamily="34" charset="0"/>
                <a:ea typeface="Arial" pitchFamily="34" charset="-122"/>
                <a:cs typeface="Arial" pitchFamily="34" charset="-120"/>
              </a:rPr>
              <a:t>High severity</a:t>
            </a:r>
            <a:endParaRPr lang="en-US" sz="78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57D3E8"/>
          </a:solidFill>
          <a:ln w="12700">
            <a:solidFill>
              <a:srgbClr val="57D3E8"/>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COMPARISON</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Final detection-layer comparison</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The strongest result came from using several layers together.</a:t>
            </a:r>
            <a:endParaRPr lang="en-US" sz="1150" dirty="0"/>
          </a:p>
        </p:txBody>
      </p:sp>
      <p:sp>
        <p:nvSpPr>
          <p:cNvPr id="6" name="Shape 4"/>
          <p:cNvSpPr/>
          <p:nvPr/>
        </p:nvSpPr>
        <p:spPr>
          <a:xfrm>
            <a:off x="685800" y="1444752"/>
            <a:ext cx="2880360" cy="502920"/>
          </a:xfrm>
          <a:prstGeom prst="rect">
            <a:avLst/>
          </a:prstGeom>
          <a:solidFill>
            <a:srgbClr val="22314A"/>
          </a:solidFill>
          <a:ln w="12700">
            <a:solidFill>
              <a:srgbClr val="3A4A63"/>
            </a:solidFill>
            <a:prstDash val="solid"/>
          </a:ln>
        </p:spPr>
      </p:sp>
      <p:sp>
        <p:nvSpPr>
          <p:cNvPr id="7" name="Text 5"/>
          <p:cNvSpPr/>
          <p:nvPr/>
        </p:nvSpPr>
        <p:spPr>
          <a:xfrm>
            <a:off x="740664" y="1581912"/>
            <a:ext cx="2770632" cy="201168"/>
          </a:xfrm>
          <a:prstGeom prst="rect">
            <a:avLst/>
          </a:prstGeom>
          <a:noFill/>
          <a:ln/>
        </p:spPr>
        <p:txBody>
          <a:bodyPr wrap="square" lIns="0" tIns="0" rIns="0" bIns="0" rtlCol="0" anchor="ctr"/>
          <a:lstStyle/>
          <a:p>
            <a:pPr algn="l" indent="0" marL="0">
              <a:buNone/>
            </a:pPr>
            <a:r>
              <a:rPr lang="en-US" sz="1000" b="1" dirty="0">
                <a:solidFill>
                  <a:srgbClr val="F7FAFC"/>
                </a:solidFill>
                <a:latin typeface="Arial" pitchFamily="34" charset="0"/>
                <a:ea typeface="Arial" pitchFamily="34" charset="-122"/>
                <a:cs typeface="Arial" pitchFamily="34" charset="-120"/>
              </a:rPr>
              <a:t>Detection layer</a:t>
            </a:r>
            <a:endParaRPr lang="en-US" sz="1000" dirty="0"/>
          </a:p>
        </p:txBody>
      </p:sp>
      <p:sp>
        <p:nvSpPr>
          <p:cNvPr id="8" name="Shape 6"/>
          <p:cNvSpPr/>
          <p:nvPr/>
        </p:nvSpPr>
        <p:spPr>
          <a:xfrm>
            <a:off x="3657600" y="1444752"/>
            <a:ext cx="2468880" cy="502920"/>
          </a:xfrm>
          <a:prstGeom prst="rect">
            <a:avLst/>
          </a:prstGeom>
          <a:solidFill>
            <a:srgbClr val="22314A"/>
          </a:solidFill>
          <a:ln w="12700">
            <a:solidFill>
              <a:srgbClr val="3A4A63"/>
            </a:solidFill>
            <a:prstDash val="solid"/>
          </a:ln>
        </p:spPr>
      </p:sp>
      <p:sp>
        <p:nvSpPr>
          <p:cNvPr id="9" name="Text 7"/>
          <p:cNvSpPr/>
          <p:nvPr/>
        </p:nvSpPr>
        <p:spPr>
          <a:xfrm>
            <a:off x="3712464" y="1581912"/>
            <a:ext cx="2359152" cy="201168"/>
          </a:xfrm>
          <a:prstGeom prst="rect">
            <a:avLst/>
          </a:prstGeom>
          <a:noFill/>
          <a:ln/>
        </p:spPr>
        <p:txBody>
          <a:bodyPr wrap="square" lIns="0" tIns="0" rIns="0" bIns="0" rtlCol="0" anchor="ctr"/>
          <a:lstStyle/>
          <a:p>
            <a:pPr algn="ctr" indent="0" marL="0">
              <a:buNone/>
            </a:pPr>
            <a:r>
              <a:rPr lang="en-US" sz="1000" b="1" dirty="0">
                <a:solidFill>
                  <a:srgbClr val="F7FAFC"/>
                </a:solidFill>
                <a:latin typeface="Arial" pitchFamily="34" charset="0"/>
                <a:ea typeface="Arial" pitchFamily="34" charset="-122"/>
                <a:cs typeface="Arial" pitchFamily="34" charset="-120"/>
              </a:rPr>
              <a:t>Benign baseline</a:t>
            </a:r>
            <a:endParaRPr lang="en-US" sz="1000" dirty="0"/>
          </a:p>
        </p:txBody>
      </p:sp>
      <p:sp>
        <p:nvSpPr>
          <p:cNvPr id="10" name="Shape 8"/>
          <p:cNvSpPr/>
          <p:nvPr/>
        </p:nvSpPr>
        <p:spPr>
          <a:xfrm>
            <a:off x="6217920" y="1444752"/>
            <a:ext cx="2880360" cy="502920"/>
          </a:xfrm>
          <a:prstGeom prst="rect">
            <a:avLst/>
          </a:prstGeom>
          <a:solidFill>
            <a:srgbClr val="22314A"/>
          </a:solidFill>
          <a:ln w="12700">
            <a:solidFill>
              <a:srgbClr val="3A4A63"/>
            </a:solidFill>
            <a:prstDash val="solid"/>
          </a:ln>
        </p:spPr>
      </p:sp>
      <p:sp>
        <p:nvSpPr>
          <p:cNvPr id="11" name="Text 9"/>
          <p:cNvSpPr/>
          <p:nvPr/>
        </p:nvSpPr>
        <p:spPr>
          <a:xfrm>
            <a:off x="6272784" y="1581912"/>
            <a:ext cx="2770632" cy="201168"/>
          </a:xfrm>
          <a:prstGeom prst="rect">
            <a:avLst/>
          </a:prstGeom>
          <a:noFill/>
          <a:ln/>
        </p:spPr>
        <p:txBody>
          <a:bodyPr wrap="square" lIns="0" tIns="0" rIns="0" bIns="0" rtlCol="0" anchor="ctr"/>
          <a:lstStyle/>
          <a:p>
            <a:pPr algn="ctr" indent="0" marL="0">
              <a:buNone/>
            </a:pPr>
            <a:r>
              <a:rPr lang="en-US" sz="1000" b="1" dirty="0">
                <a:solidFill>
                  <a:srgbClr val="F7FAFC"/>
                </a:solidFill>
                <a:latin typeface="Arial" pitchFamily="34" charset="0"/>
                <a:ea typeface="Arial" pitchFamily="34" charset="-122"/>
                <a:cs typeface="Arial" pitchFamily="34" charset="-120"/>
              </a:rPr>
              <a:t>Controlled scan</a:t>
            </a:r>
            <a:endParaRPr lang="en-US" sz="1000" dirty="0"/>
          </a:p>
        </p:txBody>
      </p:sp>
      <p:sp>
        <p:nvSpPr>
          <p:cNvPr id="12" name="Shape 10"/>
          <p:cNvSpPr/>
          <p:nvPr/>
        </p:nvSpPr>
        <p:spPr>
          <a:xfrm>
            <a:off x="9189720" y="1444752"/>
            <a:ext cx="1874520" cy="502920"/>
          </a:xfrm>
          <a:prstGeom prst="rect">
            <a:avLst/>
          </a:prstGeom>
          <a:solidFill>
            <a:srgbClr val="22314A"/>
          </a:solidFill>
          <a:ln w="12700">
            <a:solidFill>
              <a:srgbClr val="3A4A63"/>
            </a:solidFill>
            <a:prstDash val="solid"/>
          </a:ln>
        </p:spPr>
      </p:sp>
      <p:sp>
        <p:nvSpPr>
          <p:cNvPr id="13" name="Text 11"/>
          <p:cNvSpPr/>
          <p:nvPr/>
        </p:nvSpPr>
        <p:spPr>
          <a:xfrm>
            <a:off x="9244584" y="1581912"/>
            <a:ext cx="1764792" cy="201168"/>
          </a:xfrm>
          <a:prstGeom prst="rect">
            <a:avLst/>
          </a:prstGeom>
          <a:noFill/>
          <a:ln/>
        </p:spPr>
        <p:txBody>
          <a:bodyPr wrap="square" lIns="0" tIns="0" rIns="0" bIns="0" rtlCol="0" anchor="ctr"/>
          <a:lstStyle/>
          <a:p>
            <a:pPr algn="ctr" indent="0" marL="0">
              <a:buNone/>
            </a:pPr>
            <a:r>
              <a:rPr lang="en-US" sz="1000" b="1" dirty="0">
                <a:solidFill>
                  <a:srgbClr val="F7FAFC"/>
                </a:solidFill>
                <a:latin typeface="Arial" pitchFamily="34" charset="0"/>
                <a:ea typeface="Arial" pitchFamily="34" charset="-122"/>
                <a:cs typeface="Arial" pitchFamily="34" charset="-120"/>
              </a:rPr>
              <a:t>Analyst result</a:t>
            </a:r>
            <a:endParaRPr lang="en-US" sz="1000" dirty="0"/>
          </a:p>
        </p:txBody>
      </p:sp>
      <p:sp>
        <p:nvSpPr>
          <p:cNvPr id="14" name="Shape 12"/>
          <p:cNvSpPr/>
          <p:nvPr/>
        </p:nvSpPr>
        <p:spPr>
          <a:xfrm>
            <a:off x="11155680" y="1444752"/>
            <a:ext cx="960120" cy="502920"/>
          </a:xfrm>
          <a:prstGeom prst="rect">
            <a:avLst/>
          </a:prstGeom>
          <a:solidFill>
            <a:srgbClr val="22314A"/>
          </a:solidFill>
          <a:ln w="12700">
            <a:solidFill>
              <a:srgbClr val="3A4A63"/>
            </a:solidFill>
            <a:prstDash val="solid"/>
          </a:ln>
        </p:spPr>
      </p:sp>
      <p:sp>
        <p:nvSpPr>
          <p:cNvPr id="15" name="Text 13"/>
          <p:cNvSpPr/>
          <p:nvPr/>
        </p:nvSpPr>
        <p:spPr>
          <a:xfrm>
            <a:off x="11210544" y="1581912"/>
            <a:ext cx="850392" cy="201168"/>
          </a:xfrm>
          <a:prstGeom prst="rect">
            <a:avLst/>
          </a:prstGeom>
          <a:noFill/>
          <a:ln/>
        </p:spPr>
        <p:txBody>
          <a:bodyPr wrap="square" lIns="0" tIns="0" rIns="0" bIns="0" rtlCol="0" anchor="ctr"/>
          <a:lstStyle/>
          <a:p>
            <a:pPr algn="ctr" indent="0" marL="0">
              <a:buNone/>
            </a:pPr>
            <a:r>
              <a:rPr lang="en-US" sz="1000" b="1" dirty="0">
                <a:solidFill>
                  <a:srgbClr val="F7FAFC"/>
                </a:solidFill>
                <a:latin typeface="Arial" pitchFamily="34" charset="0"/>
                <a:ea typeface="Arial" pitchFamily="34" charset="-122"/>
                <a:cs typeface="Arial" pitchFamily="34" charset="-120"/>
              </a:rPr>
              <a:t>Events</a:t>
            </a:r>
            <a:endParaRPr lang="en-US" sz="1000" dirty="0"/>
          </a:p>
        </p:txBody>
      </p:sp>
      <p:sp>
        <p:nvSpPr>
          <p:cNvPr id="16" name="Shape 14"/>
          <p:cNvSpPr/>
          <p:nvPr/>
        </p:nvSpPr>
        <p:spPr>
          <a:xfrm>
            <a:off x="685800" y="1947672"/>
            <a:ext cx="2880360" cy="658368"/>
          </a:xfrm>
          <a:prstGeom prst="rect">
            <a:avLst/>
          </a:prstGeom>
          <a:solidFill>
            <a:srgbClr val="131C2B"/>
          </a:solidFill>
          <a:ln w="8890">
            <a:solidFill>
              <a:srgbClr val="3A4A63"/>
            </a:solidFill>
            <a:prstDash val="solid"/>
          </a:ln>
        </p:spPr>
      </p:sp>
      <p:sp>
        <p:nvSpPr>
          <p:cNvPr id="17" name="Text 15"/>
          <p:cNvSpPr/>
          <p:nvPr/>
        </p:nvSpPr>
        <p:spPr>
          <a:xfrm>
            <a:off x="758952" y="2121408"/>
            <a:ext cx="2734056" cy="274320"/>
          </a:xfrm>
          <a:prstGeom prst="rect">
            <a:avLst/>
          </a:prstGeom>
          <a:noFill/>
          <a:ln/>
        </p:spPr>
        <p:txBody>
          <a:bodyPr wrap="square" lIns="0" tIns="0" rIns="0" bIns="0" rtlCol="0" anchor="ctr"/>
          <a:lstStyle/>
          <a:p>
            <a:pPr algn="l" indent="0" marL="0">
              <a:buNone/>
            </a:pPr>
            <a:r>
              <a:rPr lang="en-US" sz="1100" b="1" dirty="0">
                <a:solidFill>
                  <a:srgbClr val="F7FAFC"/>
                </a:solidFill>
                <a:latin typeface="Arial" pitchFamily="34" charset="0"/>
                <a:ea typeface="Arial" pitchFamily="34" charset="-122"/>
                <a:cs typeface="Arial" pitchFamily="34" charset="-120"/>
              </a:rPr>
              <a:t>Default Suricata</a:t>
            </a:r>
            <a:endParaRPr lang="en-US" sz="1100" dirty="0"/>
          </a:p>
        </p:txBody>
      </p:sp>
      <p:sp>
        <p:nvSpPr>
          <p:cNvPr id="18" name="Shape 16"/>
          <p:cNvSpPr/>
          <p:nvPr/>
        </p:nvSpPr>
        <p:spPr>
          <a:xfrm>
            <a:off x="3657600" y="1947672"/>
            <a:ext cx="2468880" cy="658368"/>
          </a:xfrm>
          <a:prstGeom prst="rect">
            <a:avLst/>
          </a:prstGeom>
          <a:solidFill>
            <a:srgbClr val="131C2B"/>
          </a:solidFill>
          <a:ln w="8890">
            <a:solidFill>
              <a:srgbClr val="3A4A63"/>
            </a:solidFill>
            <a:prstDash val="solid"/>
          </a:ln>
        </p:spPr>
      </p:sp>
      <p:sp>
        <p:nvSpPr>
          <p:cNvPr id="19" name="Text 17"/>
          <p:cNvSpPr/>
          <p:nvPr/>
        </p:nvSpPr>
        <p:spPr>
          <a:xfrm>
            <a:off x="3730752" y="2121408"/>
            <a:ext cx="232257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Informational records</a:t>
            </a:r>
            <a:endParaRPr lang="en-US" sz="1050" dirty="0"/>
          </a:p>
        </p:txBody>
      </p:sp>
      <p:sp>
        <p:nvSpPr>
          <p:cNvPr id="20" name="Shape 18"/>
          <p:cNvSpPr/>
          <p:nvPr/>
        </p:nvSpPr>
        <p:spPr>
          <a:xfrm>
            <a:off x="6217920" y="1947672"/>
            <a:ext cx="2880360" cy="658368"/>
          </a:xfrm>
          <a:prstGeom prst="rect">
            <a:avLst/>
          </a:prstGeom>
          <a:solidFill>
            <a:srgbClr val="131C2B"/>
          </a:solidFill>
          <a:ln w="8890">
            <a:solidFill>
              <a:srgbClr val="3A4A63"/>
            </a:solidFill>
            <a:prstDash val="solid"/>
          </a:ln>
        </p:spPr>
      </p:sp>
      <p:sp>
        <p:nvSpPr>
          <p:cNvPr id="21" name="Text 19"/>
          <p:cNvSpPr/>
          <p:nvPr/>
        </p:nvSpPr>
        <p:spPr>
          <a:xfrm>
            <a:off x="6291072" y="2121408"/>
            <a:ext cx="273405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No emitted alert</a:t>
            </a:r>
            <a:endParaRPr lang="en-US" sz="1050" dirty="0"/>
          </a:p>
        </p:txBody>
      </p:sp>
      <p:sp>
        <p:nvSpPr>
          <p:cNvPr id="22" name="Shape 20"/>
          <p:cNvSpPr/>
          <p:nvPr/>
        </p:nvSpPr>
        <p:spPr>
          <a:xfrm>
            <a:off x="9189720" y="1947672"/>
            <a:ext cx="1874520" cy="658368"/>
          </a:xfrm>
          <a:prstGeom prst="rect">
            <a:avLst/>
          </a:prstGeom>
          <a:solidFill>
            <a:srgbClr val="131C2B"/>
          </a:solidFill>
          <a:ln w="8890">
            <a:solidFill>
              <a:srgbClr val="3A4A63"/>
            </a:solidFill>
            <a:prstDash val="solid"/>
          </a:ln>
        </p:spPr>
      </p:sp>
      <p:sp>
        <p:nvSpPr>
          <p:cNvPr id="23" name="Text 21"/>
          <p:cNvSpPr/>
          <p:nvPr/>
        </p:nvSpPr>
        <p:spPr>
          <a:xfrm>
            <a:off x="9262872" y="2121408"/>
            <a:ext cx="1728216" cy="274320"/>
          </a:xfrm>
          <a:prstGeom prst="rect">
            <a:avLst/>
          </a:prstGeom>
          <a:noFill/>
          <a:ln/>
        </p:spPr>
        <p:txBody>
          <a:bodyPr wrap="square" lIns="0" tIns="0" rIns="0" bIns="0" rtlCol="0" anchor="ctr"/>
          <a:lstStyle/>
          <a:p>
            <a:pPr algn="ctr" indent="0" marL="0">
              <a:buNone/>
            </a:pPr>
            <a:r>
              <a:rPr lang="en-US" sz="1050" b="1" dirty="0">
                <a:solidFill>
                  <a:srgbClr val="FF6B6B"/>
                </a:solidFill>
                <a:latin typeface="Arial" pitchFamily="34" charset="0"/>
                <a:ea typeface="Arial" pitchFamily="34" charset="-122"/>
                <a:cs typeface="Arial" pitchFamily="34" charset="-120"/>
              </a:rPr>
              <a:t>MISSED</a:t>
            </a:r>
            <a:endParaRPr lang="en-US" sz="1050" dirty="0"/>
          </a:p>
        </p:txBody>
      </p:sp>
      <p:sp>
        <p:nvSpPr>
          <p:cNvPr id="24" name="Shape 22"/>
          <p:cNvSpPr/>
          <p:nvPr/>
        </p:nvSpPr>
        <p:spPr>
          <a:xfrm>
            <a:off x="11155680" y="1947672"/>
            <a:ext cx="960120" cy="658368"/>
          </a:xfrm>
          <a:prstGeom prst="rect">
            <a:avLst/>
          </a:prstGeom>
          <a:solidFill>
            <a:srgbClr val="131C2B"/>
          </a:solidFill>
          <a:ln w="8890">
            <a:solidFill>
              <a:srgbClr val="3A4A63"/>
            </a:solidFill>
            <a:prstDash val="solid"/>
          </a:ln>
        </p:spPr>
      </p:sp>
      <p:sp>
        <p:nvSpPr>
          <p:cNvPr id="25" name="Text 23"/>
          <p:cNvSpPr/>
          <p:nvPr/>
        </p:nvSpPr>
        <p:spPr>
          <a:xfrm>
            <a:off x="11228832" y="2121408"/>
            <a:ext cx="81381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0</a:t>
            </a:r>
            <a:endParaRPr lang="en-US" sz="1050" dirty="0"/>
          </a:p>
        </p:txBody>
      </p:sp>
      <p:sp>
        <p:nvSpPr>
          <p:cNvPr id="26" name="Shape 24"/>
          <p:cNvSpPr/>
          <p:nvPr/>
        </p:nvSpPr>
        <p:spPr>
          <a:xfrm>
            <a:off x="685800" y="2606040"/>
            <a:ext cx="2880360" cy="658368"/>
          </a:xfrm>
          <a:prstGeom prst="rect">
            <a:avLst/>
          </a:prstGeom>
          <a:solidFill>
            <a:srgbClr val="172235"/>
          </a:solidFill>
          <a:ln w="8890">
            <a:solidFill>
              <a:srgbClr val="3A4A63"/>
            </a:solidFill>
            <a:prstDash val="solid"/>
          </a:ln>
        </p:spPr>
      </p:sp>
      <p:sp>
        <p:nvSpPr>
          <p:cNvPr id="27" name="Text 25"/>
          <p:cNvSpPr/>
          <p:nvPr/>
        </p:nvSpPr>
        <p:spPr>
          <a:xfrm>
            <a:off x="758952" y="2779776"/>
            <a:ext cx="2734056" cy="274320"/>
          </a:xfrm>
          <a:prstGeom prst="rect">
            <a:avLst/>
          </a:prstGeom>
          <a:noFill/>
          <a:ln/>
        </p:spPr>
        <p:txBody>
          <a:bodyPr wrap="square" lIns="0" tIns="0" rIns="0" bIns="0" rtlCol="0" anchor="ctr"/>
          <a:lstStyle/>
          <a:p>
            <a:pPr algn="l" indent="0" marL="0">
              <a:buNone/>
            </a:pPr>
            <a:r>
              <a:rPr lang="en-US" sz="1100" b="1" dirty="0">
                <a:solidFill>
                  <a:srgbClr val="F7FAFC"/>
                </a:solidFill>
                <a:latin typeface="Arial" pitchFamily="34" charset="0"/>
                <a:ea typeface="Arial" pitchFamily="34" charset="-122"/>
                <a:cs typeface="Arial" pitchFamily="34" charset="-120"/>
              </a:rPr>
              <a:t>Tuned Suricata</a:t>
            </a:r>
            <a:endParaRPr lang="en-US" sz="1100" dirty="0"/>
          </a:p>
        </p:txBody>
      </p:sp>
      <p:sp>
        <p:nvSpPr>
          <p:cNvPr id="28" name="Shape 26"/>
          <p:cNvSpPr/>
          <p:nvPr/>
        </p:nvSpPr>
        <p:spPr>
          <a:xfrm>
            <a:off x="3657600" y="2606040"/>
            <a:ext cx="2468880" cy="658368"/>
          </a:xfrm>
          <a:prstGeom prst="rect">
            <a:avLst/>
          </a:prstGeom>
          <a:solidFill>
            <a:srgbClr val="172235"/>
          </a:solidFill>
          <a:ln w="8890">
            <a:solidFill>
              <a:srgbClr val="3A4A63"/>
            </a:solidFill>
            <a:prstDash val="solid"/>
          </a:ln>
        </p:spPr>
      </p:sp>
      <p:sp>
        <p:nvSpPr>
          <p:cNvPr id="29" name="Text 27"/>
          <p:cNvSpPr/>
          <p:nvPr/>
        </p:nvSpPr>
        <p:spPr>
          <a:xfrm>
            <a:off x="3730752" y="2779776"/>
            <a:ext cx="232257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Not used</a:t>
            </a:r>
            <a:endParaRPr lang="en-US" sz="1050" dirty="0"/>
          </a:p>
        </p:txBody>
      </p:sp>
      <p:sp>
        <p:nvSpPr>
          <p:cNvPr id="30" name="Shape 28"/>
          <p:cNvSpPr/>
          <p:nvPr/>
        </p:nvSpPr>
        <p:spPr>
          <a:xfrm>
            <a:off x="6217920" y="2606040"/>
            <a:ext cx="2880360" cy="658368"/>
          </a:xfrm>
          <a:prstGeom prst="rect">
            <a:avLst/>
          </a:prstGeom>
          <a:solidFill>
            <a:srgbClr val="172235"/>
          </a:solidFill>
          <a:ln w="8890">
            <a:solidFill>
              <a:srgbClr val="3A4A63"/>
            </a:solidFill>
            <a:prstDash val="solid"/>
          </a:ln>
        </p:spPr>
      </p:sp>
      <p:sp>
        <p:nvSpPr>
          <p:cNvPr id="31" name="Text 29"/>
          <p:cNvSpPr/>
          <p:nvPr/>
        </p:nvSpPr>
        <p:spPr>
          <a:xfrm>
            <a:off x="6291072" y="2779776"/>
            <a:ext cx="273405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Threshold matched</a:t>
            </a:r>
            <a:endParaRPr lang="en-US" sz="1050" dirty="0"/>
          </a:p>
        </p:txBody>
      </p:sp>
      <p:sp>
        <p:nvSpPr>
          <p:cNvPr id="32" name="Shape 30"/>
          <p:cNvSpPr/>
          <p:nvPr/>
        </p:nvSpPr>
        <p:spPr>
          <a:xfrm>
            <a:off x="9189720" y="2606040"/>
            <a:ext cx="1874520" cy="658368"/>
          </a:xfrm>
          <a:prstGeom prst="rect">
            <a:avLst/>
          </a:prstGeom>
          <a:solidFill>
            <a:srgbClr val="172235"/>
          </a:solidFill>
          <a:ln w="8890">
            <a:solidFill>
              <a:srgbClr val="3A4A63"/>
            </a:solidFill>
            <a:prstDash val="solid"/>
          </a:ln>
        </p:spPr>
      </p:sp>
      <p:sp>
        <p:nvSpPr>
          <p:cNvPr id="33" name="Text 31"/>
          <p:cNvSpPr/>
          <p:nvPr/>
        </p:nvSpPr>
        <p:spPr>
          <a:xfrm>
            <a:off x="9262872" y="2779776"/>
            <a:ext cx="1728216" cy="274320"/>
          </a:xfrm>
          <a:prstGeom prst="rect">
            <a:avLst/>
          </a:prstGeom>
          <a:noFill/>
          <a:ln/>
        </p:spPr>
        <p:txBody>
          <a:bodyPr wrap="square" lIns="0" tIns="0" rIns="0" bIns="0" rtlCol="0" anchor="ctr"/>
          <a:lstStyle/>
          <a:p>
            <a:pPr algn="ctr" indent="0" marL="0">
              <a:buNone/>
            </a:pPr>
            <a:r>
              <a:rPr lang="en-US" sz="1050" b="1" dirty="0">
                <a:solidFill>
                  <a:srgbClr val="40C982"/>
                </a:solidFill>
                <a:latin typeface="Arial" pitchFamily="34" charset="0"/>
                <a:ea typeface="Arial" pitchFamily="34" charset="-122"/>
                <a:cs typeface="Arial" pitchFamily="34" charset="-120"/>
              </a:rPr>
              <a:t>DETECTED</a:t>
            </a:r>
            <a:endParaRPr lang="en-US" sz="1050" dirty="0"/>
          </a:p>
        </p:txBody>
      </p:sp>
      <p:sp>
        <p:nvSpPr>
          <p:cNvPr id="34" name="Shape 32"/>
          <p:cNvSpPr/>
          <p:nvPr/>
        </p:nvSpPr>
        <p:spPr>
          <a:xfrm>
            <a:off x="11155680" y="2606040"/>
            <a:ext cx="960120" cy="658368"/>
          </a:xfrm>
          <a:prstGeom prst="rect">
            <a:avLst/>
          </a:prstGeom>
          <a:solidFill>
            <a:srgbClr val="172235"/>
          </a:solidFill>
          <a:ln w="8890">
            <a:solidFill>
              <a:srgbClr val="3A4A63"/>
            </a:solidFill>
            <a:prstDash val="solid"/>
          </a:ln>
        </p:spPr>
      </p:sp>
      <p:sp>
        <p:nvSpPr>
          <p:cNvPr id="35" name="Text 33"/>
          <p:cNvSpPr/>
          <p:nvPr/>
        </p:nvSpPr>
        <p:spPr>
          <a:xfrm>
            <a:off x="11228832" y="2779776"/>
            <a:ext cx="81381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24</a:t>
            </a:r>
            <a:endParaRPr lang="en-US" sz="1050" dirty="0"/>
          </a:p>
        </p:txBody>
      </p:sp>
      <p:sp>
        <p:nvSpPr>
          <p:cNvPr id="36" name="Shape 34"/>
          <p:cNvSpPr/>
          <p:nvPr/>
        </p:nvSpPr>
        <p:spPr>
          <a:xfrm>
            <a:off x="685800" y="3264408"/>
            <a:ext cx="2880360" cy="658368"/>
          </a:xfrm>
          <a:prstGeom prst="rect">
            <a:avLst/>
          </a:prstGeom>
          <a:solidFill>
            <a:srgbClr val="131C2B"/>
          </a:solidFill>
          <a:ln w="8890">
            <a:solidFill>
              <a:srgbClr val="3A4A63"/>
            </a:solidFill>
            <a:prstDash val="solid"/>
          </a:ln>
        </p:spPr>
      </p:sp>
      <p:sp>
        <p:nvSpPr>
          <p:cNvPr id="37" name="Text 35"/>
          <p:cNvSpPr/>
          <p:nvPr/>
        </p:nvSpPr>
        <p:spPr>
          <a:xfrm>
            <a:off x="758952" y="3438144"/>
            <a:ext cx="2734056" cy="274320"/>
          </a:xfrm>
          <a:prstGeom prst="rect">
            <a:avLst/>
          </a:prstGeom>
          <a:noFill/>
          <a:ln/>
        </p:spPr>
        <p:txBody>
          <a:bodyPr wrap="square" lIns="0" tIns="0" rIns="0" bIns="0" rtlCol="0" anchor="ctr"/>
          <a:lstStyle/>
          <a:p>
            <a:pPr algn="l" indent="0" marL="0">
              <a:buNone/>
            </a:pPr>
            <a:r>
              <a:rPr lang="en-US" sz="1100" b="1" dirty="0">
                <a:solidFill>
                  <a:srgbClr val="F7FAFC"/>
                </a:solidFill>
                <a:latin typeface="Arial" pitchFamily="34" charset="0"/>
                <a:ea typeface="Arial" pitchFamily="34" charset="-122"/>
                <a:cs typeface="Arial" pitchFamily="34" charset="-120"/>
              </a:rPr>
              <a:t>Supervised ML</a:t>
            </a:r>
            <a:endParaRPr lang="en-US" sz="1100" dirty="0"/>
          </a:p>
        </p:txBody>
      </p:sp>
      <p:sp>
        <p:nvSpPr>
          <p:cNvPr id="38" name="Shape 36"/>
          <p:cNvSpPr/>
          <p:nvPr/>
        </p:nvSpPr>
        <p:spPr>
          <a:xfrm>
            <a:off x="3657600" y="3264408"/>
            <a:ext cx="2468880" cy="658368"/>
          </a:xfrm>
          <a:prstGeom prst="rect">
            <a:avLst/>
          </a:prstGeom>
          <a:solidFill>
            <a:srgbClr val="131C2B"/>
          </a:solidFill>
          <a:ln w="8890">
            <a:solidFill>
              <a:srgbClr val="3A4A63"/>
            </a:solidFill>
            <a:prstDash val="solid"/>
          </a:ln>
        </p:spPr>
      </p:sp>
      <p:sp>
        <p:nvSpPr>
          <p:cNvPr id="39" name="Text 37"/>
          <p:cNvSpPr/>
          <p:nvPr/>
        </p:nvSpPr>
        <p:spPr>
          <a:xfrm>
            <a:off x="3730752" y="3438144"/>
            <a:ext cx="232257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5 of 5 BENIGN</a:t>
            </a:r>
            <a:endParaRPr lang="en-US" sz="1050" dirty="0"/>
          </a:p>
        </p:txBody>
      </p:sp>
      <p:sp>
        <p:nvSpPr>
          <p:cNvPr id="40" name="Shape 38"/>
          <p:cNvSpPr/>
          <p:nvPr/>
        </p:nvSpPr>
        <p:spPr>
          <a:xfrm>
            <a:off x="6217920" y="3264408"/>
            <a:ext cx="2880360" cy="658368"/>
          </a:xfrm>
          <a:prstGeom prst="rect">
            <a:avLst/>
          </a:prstGeom>
          <a:solidFill>
            <a:srgbClr val="131C2B"/>
          </a:solidFill>
          <a:ln w="8890">
            <a:solidFill>
              <a:srgbClr val="3A4A63"/>
            </a:solidFill>
            <a:prstDash val="solid"/>
          </a:ln>
        </p:spPr>
      </p:sp>
      <p:sp>
        <p:nvSpPr>
          <p:cNvPr id="41" name="Text 39"/>
          <p:cNvSpPr/>
          <p:nvPr/>
        </p:nvSpPr>
        <p:spPr>
          <a:xfrm>
            <a:off x="6291072" y="3438144"/>
            <a:ext cx="273405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502 of 502 BENIGN</a:t>
            </a:r>
            <a:endParaRPr lang="en-US" sz="1050" dirty="0"/>
          </a:p>
        </p:txBody>
      </p:sp>
      <p:sp>
        <p:nvSpPr>
          <p:cNvPr id="42" name="Shape 40"/>
          <p:cNvSpPr/>
          <p:nvPr/>
        </p:nvSpPr>
        <p:spPr>
          <a:xfrm>
            <a:off x="9189720" y="3264408"/>
            <a:ext cx="1874520" cy="658368"/>
          </a:xfrm>
          <a:prstGeom prst="rect">
            <a:avLst/>
          </a:prstGeom>
          <a:solidFill>
            <a:srgbClr val="131C2B"/>
          </a:solidFill>
          <a:ln w="8890">
            <a:solidFill>
              <a:srgbClr val="3A4A63"/>
            </a:solidFill>
            <a:prstDash val="solid"/>
          </a:ln>
        </p:spPr>
      </p:sp>
      <p:sp>
        <p:nvSpPr>
          <p:cNvPr id="43" name="Text 41"/>
          <p:cNvSpPr/>
          <p:nvPr/>
        </p:nvSpPr>
        <p:spPr>
          <a:xfrm>
            <a:off x="9262872" y="3438144"/>
            <a:ext cx="1728216" cy="274320"/>
          </a:xfrm>
          <a:prstGeom prst="rect">
            <a:avLst/>
          </a:prstGeom>
          <a:noFill/>
          <a:ln/>
        </p:spPr>
        <p:txBody>
          <a:bodyPr wrap="square" lIns="0" tIns="0" rIns="0" bIns="0" rtlCol="0" anchor="ctr"/>
          <a:lstStyle/>
          <a:p>
            <a:pPr algn="ctr" indent="0" marL="0">
              <a:buNone/>
            </a:pPr>
            <a:r>
              <a:rPr lang="en-US" sz="1050" b="1" dirty="0">
                <a:solidFill>
                  <a:srgbClr val="FF6B6B"/>
                </a:solidFill>
                <a:latin typeface="Arial" pitchFamily="34" charset="0"/>
                <a:ea typeface="Arial" pitchFamily="34" charset="-122"/>
                <a:cs typeface="Arial" pitchFamily="34" charset="-120"/>
              </a:rPr>
              <a:t>MISSED</a:t>
            </a:r>
            <a:endParaRPr lang="en-US" sz="1050" dirty="0"/>
          </a:p>
        </p:txBody>
      </p:sp>
      <p:sp>
        <p:nvSpPr>
          <p:cNvPr id="44" name="Shape 42"/>
          <p:cNvSpPr/>
          <p:nvPr/>
        </p:nvSpPr>
        <p:spPr>
          <a:xfrm>
            <a:off x="11155680" y="3264408"/>
            <a:ext cx="960120" cy="658368"/>
          </a:xfrm>
          <a:prstGeom prst="rect">
            <a:avLst/>
          </a:prstGeom>
          <a:solidFill>
            <a:srgbClr val="131C2B"/>
          </a:solidFill>
          <a:ln w="8890">
            <a:solidFill>
              <a:srgbClr val="3A4A63"/>
            </a:solidFill>
            <a:prstDash val="solid"/>
          </a:ln>
        </p:spPr>
      </p:sp>
      <p:sp>
        <p:nvSpPr>
          <p:cNvPr id="45" name="Text 43"/>
          <p:cNvSpPr/>
          <p:nvPr/>
        </p:nvSpPr>
        <p:spPr>
          <a:xfrm>
            <a:off x="11228832" y="3438144"/>
            <a:ext cx="81381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0</a:t>
            </a:r>
            <a:endParaRPr lang="en-US" sz="1050" dirty="0"/>
          </a:p>
        </p:txBody>
      </p:sp>
      <p:sp>
        <p:nvSpPr>
          <p:cNvPr id="46" name="Shape 44"/>
          <p:cNvSpPr/>
          <p:nvPr/>
        </p:nvSpPr>
        <p:spPr>
          <a:xfrm>
            <a:off x="685800" y="3922776"/>
            <a:ext cx="2880360" cy="658368"/>
          </a:xfrm>
          <a:prstGeom prst="rect">
            <a:avLst/>
          </a:prstGeom>
          <a:solidFill>
            <a:srgbClr val="172235"/>
          </a:solidFill>
          <a:ln w="8890">
            <a:solidFill>
              <a:srgbClr val="3A4A63"/>
            </a:solidFill>
            <a:prstDash val="solid"/>
          </a:ln>
        </p:spPr>
      </p:sp>
      <p:sp>
        <p:nvSpPr>
          <p:cNvPr id="47" name="Text 45"/>
          <p:cNvSpPr/>
          <p:nvPr/>
        </p:nvSpPr>
        <p:spPr>
          <a:xfrm>
            <a:off x="758952" y="4096512"/>
            <a:ext cx="2734056" cy="274320"/>
          </a:xfrm>
          <a:prstGeom prst="rect">
            <a:avLst/>
          </a:prstGeom>
          <a:noFill/>
          <a:ln/>
        </p:spPr>
        <p:txBody>
          <a:bodyPr wrap="square" lIns="0" tIns="0" rIns="0" bIns="0" rtlCol="0" anchor="ctr"/>
          <a:lstStyle/>
          <a:p>
            <a:pPr algn="l" indent="0" marL="0">
              <a:buNone/>
            </a:pPr>
            <a:r>
              <a:rPr lang="en-US" sz="1100" b="1" dirty="0">
                <a:solidFill>
                  <a:srgbClr val="F7FAFC"/>
                </a:solidFill>
                <a:latin typeface="Arial" pitchFamily="34" charset="0"/>
                <a:ea typeface="Arial" pitchFamily="34" charset="-122"/>
                <a:cs typeface="Arial" pitchFamily="34" charset="-120"/>
              </a:rPr>
              <a:t>Attack-family model</a:t>
            </a:r>
            <a:endParaRPr lang="en-US" sz="1100" dirty="0"/>
          </a:p>
        </p:txBody>
      </p:sp>
      <p:sp>
        <p:nvSpPr>
          <p:cNvPr id="48" name="Shape 46"/>
          <p:cNvSpPr/>
          <p:nvPr/>
        </p:nvSpPr>
        <p:spPr>
          <a:xfrm>
            <a:off x="3657600" y="3922776"/>
            <a:ext cx="2468880" cy="658368"/>
          </a:xfrm>
          <a:prstGeom prst="rect">
            <a:avLst/>
          </a:prstGeom>
          <a:solidFill>
            <a:srgbClr val="172235"/>
          </a:solidFill>
          <a:ln w="8890">
            <a:solidFill>
              <a:srgbClr val="3A4A63"/>
            </a:solidFill>
            <a:prstDash val="solid"/>
          </a:ln>
        </p:spPr>
      </p:sp>
      <p:sp>
        <p:nvSpPr>
          <p:cNvPr id="49" name="Text 47"/>
          <p:cNvSpPr/>
          <p:nvPr/>
        </p:nvSpPr>
        <p:spPr>
          <a:xfrm>
            <a:off x="3730752" y="4096512"/>
            <a:ext cx="232257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Not invoked</a:t>
            </a:r>
            <a:endParaRPr lang="en-US" sz="1050" dirty="0"/>
          </a:p>
        </p:txBody>
      </p:sp>
      <p:sp>
        <p:nvSpPr>
          <p:cNvPr id="50" name="Shape 48"/>
          <p:cNvSpPr/>
          <p:nvPr/>
        </p:nvSpPr>
        <p:spPr>
          <a:xfrm>
            <a:off x="6217920" y="3922776"/>
            <a:ext cx="2880360" cy="658368"/>
          </a:xfrm>
          <a:prstGeom prst="rect">
            <a:avLst/>
          </a:prstGeom>
          <a:solidFill>
            <a:srgbClr val="172235"/>
          </a:solidFill>
          <a:ln w="8890">
            <a:solidFill>
              <a:srgbClr val="3A4A63"/>
            </a:solidFill>
            <a:prstDash val="solid"/>
          </a:ln>
        </p:spPr>
      </p:sp>
      <p:sp>
        <p:nvSpPr>
          <p:cNvPr id="51" name="Text 49"/>
          <p:cNvSpPr/>
          <p:nvPr/>
        </p:nvSpPr>
        <p:spPr>
          <a:xfrm>
            <a:off x="6291072" y="4096512"/>
            <a:ext cx="273405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Not invoked</a:t>
            </a:r>
            <a:endParaRPr lang="en-US" sz="1050" dirty="0"/>
          </a:p>
        </p:txBody>
      </p:sp>
      <p:sp>
        <p:nvSpPr>
          <p:cNvPr id="52" name="Shape 50"/>
          <p:cNvSpPr/>
          <p:nvPr/>
        </p:nvSpPr>
        <p:spPr>
          <a:xfrm>
            <a:off x="9189720" y="3922776"/>
            <a:ext cx="1874520" cy="658368"/>
          </a:xfrm>
          <a:prstGeom prst="rect">
            <a:avLst/>
          </a:prstGeom>
          <a:solidFill>
            <a:srgbClr val="172235"/>
          </a:solidFill>
          <a:ln w="8890">
            <a:solidFill>
              <a:srgbClr val="3A4A63"/>
            </a:solidFill>
            <a:prstDash val="solid"/>
          </a:ln>
        </p:spPr>
      </p:sp>
      <p:sp>
        <p:nvSpPr>
          <p:cNvPr id="53" name="Text 51"/>
          <p:cNvSpPr/>
          <p:nvPr/>
        </p:nvSpPr>
        <p:spPr>
          <a:xfrm>
            <a:off x="9262872" y="4096512"/>
            <a:ext cx="1728216" cy="274320"/>
          </a:xfrm>
          <a:prstGeom prst="rect">
            <a:avLst/>
          </a:prstGeom>
          <a:noFill/>
          <a:ln/>
        </p:spPr>
        <p:txBody>
          <a:bodyPr wrap="square" lIns="0" tIns="0" rIns="0" bIns="0" rtlCol="0" anchor="ctr"/>
          <a:lstStyle/>
          <a:p>
            <a:pPr algn="ctr" indent="0" marL="0">
              <a:buNone/>
            </a:pPr>
            <a:r>
              <a:rPr lang="en-US" sz="1050" b="1" dirty="0">
                <a:solidFill>
                  <a:srgbClr val="FF6B6B"/>
                </a:solidFill>
                <a:latin typeface="Arial" pitchFamily="34" charset="0"/>
                <a:ea typeface="Arial" pitchFamily="34" charset="-122"/>
                <a:cs typeface="Arial" pitchFamily="34" charset="-120"/>
              </a:rPr>
              <a:t>MISSED</a:t>
            </a:r>
            <a:endParaRPr lang="en-US" sz="1050" dirty="0"/>
          </a:p>
        </p:txBody>
      </p:sp>
      <p:sp>
        <p:nvSpPr>
          <p:cNvPr id="54" name="Shape 52"/>
          <p:cNvSpPr/>
          <p:nvPr/>
        </p:nvSpPr>
        <p:spPr>
          <a:xfrm>
            <a:off x="11155680" y="3922776"/>
            <a:ext cx="960120" cy="658368"/>
          </a:xfrm>
          <a:prstGeom prst="rect">
            <a:avLst/>
          </a:prstGeom>
          <a:solidFill>
            <a:srgbClr val="172235"/>
          </a:solidFill>
          <a:ln w="8890">
            <a:solidFill>
              <a:srgbClr val="3A4A63"/>
            </a:solidFill>
            <a:prstDash val="solid"/>
          </a:ln>
        </p:spPr>
      </p:sp>
      <p:sp>
        <p:nvSpPr>
          <p:cNvPr id="55" name="Text 53"/>
          <p:cNvSpPr/>
          <p:nvPr/>
        </p:nvSpPr>
        <p:spPr>
          <a:xfrm>
            <a:off x="11228832" y="4096512"/>
            <a:ext cx="81381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0</a:t>
            </a:r>
            <a:endParaRPr lang="en-US" sz="1050" dirty="0"/>
          </a:p>
        </p:txBody>
      </p:sp>
      <p:sp>
        <p:nvSpPr>
          <p:cNvPr id="56" name="Shape 54"/>
          <p:cNvSpPr/>
          <p:nvPr/>
        </p:nvSpPr>
        <p:spPr>
          <a:xfrm>
            <a:off x="685800" y="4581144"/>
            <a:ext cx="2880360" cy="658368"/>
          </a:xfrm>
          <a:prstGeom prst="rect">
            <a:avLst/>
          </a:prstGeom>
          <a:solidFill>
            <a:srgbClr val="131C2B"/>
          </a:solidFill>
          <a:ln w="8890">
            <a:solidFill>
              <a:srgbClr val="3A4A63"/>
            </a:solidFill>
            <a:prstDash val="solid"/>
          </a:ln>
        </p:spPr>
      </p:sp>
      <p:sp>
        <p:nvSpPr>
          <p:cNvPr id="57" name="Text 55"/>
          <p:cNvSpPr/>
          <p:nvPr/>
        </p:nvSpPr>
        <p:spPr>
          <a:xfrm>
            <a:off x="758952" y="4754880"/>
            <a:ext cx="2734056" cy="274320"/>
          </a:xfrm>
          <a:prstGeom prst="rect">
            <a:avLst/>
          </a:prstGeom>
          <a:noFill/>
          <a:ln/>
        </p:spPr>
        <p:txBody>
          <a:bodyPr wrap="square" lIns="0" tIns="0" rIns="0" bIns="0" rtlCol="0" anchor="ctr"/>
          <a:lstStyle/>
          <a:p>
            <a:pPr algn="l" indent="0" marL="0">
              <a:buNone/>
            </a:pPr>
            <a:r>
              <a:rPr lang="en-US" sz="1100" b="1" dirty="0">
                <a:solidFill>
                  <a:srgbClr val="F7FAFC"/>
                </a:solidFill>
                <a:latin typeface="Arial" pitchFamily="34" charset="0"/>
                <a:ea typeface="Arial" pitchFamily="34" charset="-122"/>
                <a:cs typeface="Arial" pitchFamily="34" charset="-120"/>
              </a:rPr>
              <a:t>Isolation Forest</a:t>
            </a:r>
            <a:endParaRPr lang="en-US" sz="1100" dirty="0"/>
          </a:p>
        </p:txBody>
      </p:sp>
      <p:sp>
        <p:nvSpPr>
          <p:cNvPr id="58" name="Shape 56"/>
          <p:cNvSpPr/>
          <p:nvPr/>
        </p:nvSpPr>
        <p:spPr>
          <a:xfrm>
            <a:off x="3657600" y="4581144"/>
            <a:ext cx="2468880" cy="658368"/>
          </a:xfrm>
          <a:prstGeom prst="rect">
            <a:avLst/>
          </a:prstGeom>
          <a:solidFill>
            <a:srgbClr val="131C2B"/>
          </a:solidFill>
          <a:ln w="8890">
            <a:solidFill>
              <a:srgbClr val="3A4A63"/>
            </a:solidFill>
            <a:prstDash val="solid"/>
          </a:ln>
        </p:spPr>
      </p:sp>
      <p:sp>
        <p:nvSpPr>
          <p:cNvPr id="59" name="Text 57"/>
          <p:cNvSpPr/>
          <p:nvPr/>
        </p:nvSpPr>
        <p:spPr>
          <a:xfrm>
            <a:off x="3730752" y="4754880"/>
            <a:ext cx="232257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0 anomaly flags</a:t>
            </a:r>
            <a:endParaRPr lang="en-US" sz="1050" dirty="0"/>
          </a:p>
        </p:txBody>
      </p:sp>
      <p:sp>
        <p:nvSpPr>
          <p:cNvPr id="60" name="Shape 58"/>
          <p:cNvSpPr/>
          <p:nvPr/>
        </p:nvSpPr>
        <p:spPr>
          <a:xfrm>
            <a:off x="6217920" y="4581144"/>
            <a:ext cx="2880360" cy="658368"/>
          </a:xfrm>
          <a:prstGeom prst="rect">
            <a:avLst/>
          </a:prstGeom>
          <a:solidFill>
            <a:srgbClr val="131C2B"/>
          </a:solidFill>
          <a:ln w="8890">
            <a:solidFill>
              <a:srgbClr val="3A4A63"/>
            </a:solidFill>
            <a:prstDash val="solid"/>
          </a:ln>
        </p:spPr>
      </p:sp>
      <p:sp>
        <p:nvSpPr>
          <p:cNvPr id="61" name="Text 59"/>
          <p:cNvSpPr/>
          <p:nvPr/>
        </p:nvSpPr>
        <p:spPr>
          <a:xfrm>
            <a:off x="6291072" y="4754880"/>
            <a:ext cx="273405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0 anomaly flags</a:t>
            </a:r>
            <a:endParaRPr lang="en-US" sz="1050" dirty="0"/>
          </a:p>
        </p:txBody>
      </p:sp>
      <p:sp>
        <p:nvSpPr>
          <p:cNvPr id="62" name="Shape 60"/>
          <p:cNvSpPr/>
          <p:nvPr/>
        </p:nvSpPr>
        <p:spPr>
          <a:xfrm>
            <a:off x="9189720" y="4581144"/>
            <a:ext cx="1874520" cy="658368"/>
          </a:xfrm>
          <a:prstGeom prst="rect">
            <a:avLst/>
          </a:prstGeom>
          <a:solidFill>
            <a:srgbClr val="131C2B"/>
          </a:solidFill>
          <a:ln w="8890">
            <a:solidFill>
              <a:srgbClr val="3A4A63"/>
            </a:solidFill>
            <a:prstDash val="solid"/>
          </a:ln>
        </p:spPr>
      </p:sp>
      <p:sp>
        <p:nvSpPr>
          <p:cNvPr id="63" name="Text 61"/>
          <p:cNvSpPr/>
          <p:nvPr/>
        </p:nvSpPr>
        <p:spPr>
          <a:xfrm>
            <a:off x="9262872" y="4754880"/>
            <a:ext cx="1728216" cy="274320"/>
          </a:xfrm>
          <a:prstGeom prst="rect">
            <a:avLst/>
          </a:prstGeom>
          <a:noFill/>
          <a:ln/>
        </p:spPr>
        <p:txBody>
          <a:bodyPr wrap="square" lIns="0" tIns="0" rIns="0" bIns="0" rtlCol="0" anchor="ctr"/>
          <a:lstStyle/>
          <a:p>
            <a:pPr algn="ctr" indent="0" marL="0">
              <a:buNone/>
            </a:pPr>
            <a:r>
              <a:rPr lang="en-US" sz="1050" b="1" dirty="0">
                <a:solidFill>
                  <a:srgbClr val="FF6B6B"/>
                </a:solidFill>
                <a:latin typeface="Arial" pitchFamily="34" charset="0"/>
                <a:ea typeface="Arial" pitchFamily="34" charset="-122"/>
                <a:cs typeface="Arial" pitchFamily="34" charset="-120"/>
              </a:rPr>
              <a:t>MISSED</a:t>
            </a:r>
            <a:endParaRPr lang="en-US" sz="1050" dirty="0"/>
          </a:p>
        </p:txBody>
      </p:sp>
      <p:sp>
        <p:nvSpPr>
          <p:cNvPr id="64" name="Shape 62"/>
          <p:cNvSpPr/>
          <p:nvPr/>
        </p:nvSpPr>
        <p:spPr>
          <a:xfrm>
            <a:off x="11155680" y="4581144"/>
            <a:ext cx="960120" cy="658368"/>
          </a:xfrm>
          <a:prstGeom prst="rect">
            <a:avLst/>
          </a:prstGeom>
          <a:solidFill>
            <a:srgbClr val="131C2B"/>
          </a:solidFill>
          <a:ln w="8890">
            <a:solidFill>
              <a:srgbClr val="3A4A63"/>
            </a:solidFill>
            <a:prstDash val="solid"/>
          </a:ln>
        </p:spPr>
      </p:sp>
      <p:sp>
        <p:nvSpPr>
          <p:cNvPr id="65" name="Text 63"/>
          <p:cNvSpPr/>
          <p:nvPr/>
        </p:nvSpPr>
        <p:spPr>
          <a:xfrm>
            <a:off x="11228832" y="4754880"/>
            <a:ext cx="81381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0</a:t>
            </a:r>
            <a:endParaRPr lang="en-US" sz="1050" dirty="0"/>
          </a:p>
        </p:txBody>
      </p:sp>
      <p:sp>
        <p:nvSpPr>
          <p:cNvPr id="66" name="Shape 64"/>
          <p:cNvSpPr/>
          <p:nvPr/>
        </p:nvSpPr>
        <p:spPr>
          <a:xfrm>
            <a:off x="685800" y="5239512"/>
            <a:ext cx="2880360" cy="658368"/>
          </a:xfrm>
          <a:prstGeom prst="rect">
            <a:avLst/>
          </a:prstGeom>
          <a:solidFill>
            <a:srgbClr val="172235"/>
          </a:solidFill>
          <a:ln w="8890">
            <a:solidFill>
              <a:srgbClr val="3A4A63"/>
            </a:solidFill>
            <a:prstDash val="solid"/>
          </a:ln>
        </p:spPr>
      </p:sp>
      <p:sp>
        <p:nvSpPr>
          <p:cNvPr id="67" name="Text 65"/>
          <p:cNvSpPr/>
          <p:nvPr/>
        </p:nvSpPr>
        <p:spPr>
          <a:xfrm>
            <a:off x="758952" y="5413248"/>
            <a:ext cx="2734056" cy="274320"/>
          </a:xfrm>
          <a:prstGeom prst="rect">
            <a:avLst/>
          </a:prstGeom>
          <a:noFill/>
          <a:ln/>
        </p:spPr>
        <p:txBody>
          <a:bodyPr wrap="square" lIns="0" tIns="0" rIns="0" bIns="0" rtlCol="0" anchor="ctr"/>
          <a:lstStyle/>
          <a:p>
            <a:pPr algn="l" indent="0" marL="0">
              <a:buNone/>
            </a:pPr>
            <a:r>
              <a:rPr lang="en-US" sz="1100" b="1" dirty="0">
                <a:solidFill>
                  <a:srgbClr val="F7FAFC"/>
                </a:solidFill>
                <a:latin typeface="Arial" pitchFamily="34" charset="0"/>
                <a:ea typeface="Arial" pitchFamily="34" charset="-122"/>
                <a:cs typeface="Arial" pitchFamily="34" charset="-120"/>
              </a:rPr>
              <a:t>Cross-flow correlation</a:t>
            </a:r>
            <a:endParaRPr lang="en-US" sz="1100" dirty="0"/>
          </a:p>
        </p:txBody>
      </p:sp>
      <p:sp>
        <p:nvSpPr>
          <p:cNvPr id="68" name="Shape 66"/>
          <p:cNvSpPr/>
          <p:nvPr/>
        </p:nvSpPr>
        <p:spPr>
          <a:xfrm>
            <a:off x="3657600" y="5239512"/>
            <a:ext cx="2468880" cy="658368"/>
          </a:xfrm>
          <a:prstGeom prst="rect">
            <a:avLst/>
          </a:prstGeom>
          <a:solidFill>
            <a:srgbClr val="172235"/>
          </a:solidFill>
          <a:ln w="8890">
            <a:solidFill>
              <a:srgbClr val="3A4A63"/>
            </a:solidFill>
            <a:prstDash val="solid"/>
          </a:ln>
        </p:spPr>
      </p:sp>
      <p:sp>
        <p:nvSpPr>
          <p:cNvPr id="69" name="Text 67"/>
          <p:cNvSpPr/>
          <p:nvPr/>
        </p:nvSpPr>
        <p:spPr>
          <a:xfrm>
            <a:off x="3730752" y="5413248"/>
            <a:ext cx="232257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NO_SCAN_PATTERN</a:t>
            </a:r>
            <a:endParaRPr lang="en-US" sz="1050" dirty="0"/>
          </a:p>
        </p:txBody>
      </p:sp>
      <p:sp>
        <p:nvSpPr>
          <p:cNvPr id="70" name="Shape 68"/>
          <p:cNvSpPr/>
          <p:nvPr/>
        </p:nvSpPr>
        <p:spPr>
          <a:xfrm>
            <a:off x="6217920" y="5239512"/>
            <a:ext cx="2880360" cy="658368"/>
          </a:xfrm>
          <a:prstGeom prst="rect">
            <a:avLst/>
          </a:prstGeom>
          <a:solidFill>
            <a:srgbClr val="172235"/>
          </a:solidFill>
          <a:ln w="8890">
            <a:solidFill>
              <a:srgbClr val="3A4A63"/>
            </a:solidFill>
            <a:prstDash val="solid"/>
          </a:ln>
        </p:spPr>
      </p:sp>
      <p:sp>
        <p:nvSpPr>
          <p:cNvPr id="71" name="Text 69"/>
          <p:cNvSpPr/>
          <p:nvPr/>
        </p:nvSpPr>
        <p:spPr>
          <a:xfrm>
            <a:off x="6291072" y="5413248"/>
            <a:ext cx="273405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PORT_SCAN</a:t>
            </a:r>
            <a:endParaRPr lang="en-US" sz="1050" dirty="0"/>
          </a:p>
        </p:txBody>
      </p:sp>
      <p:sp>
        <p:nvSpPr>
          <p:cNvPr id="72" name="Shape 70"/>
          <p:cNvSpPr/>
          <p:nvPr/>
        </p:nvSpPr>
        <p:spPr>
          <a:xfrm>
            <a:off x="9189720" y="5239512"/>
            <a:ext cx="1874520" cy="658368"/>
          </a:xfrm>
          <a:prstGeom prst="rect">
            <a:avLst/>
          </a:prstGeom>
          <a:solidFill>
            <a:srgbClr val="172235"/>
          </a:solidFill>
          <a:ln w="8890">
            <a:solidFill>
              <a:srgbClr val="3A4A63"/>
            </a:solidFill>
            <a:prstDash val="solid"/>
          </a:ln>
        </p:spPr>
      </p:sp>
      <p:sp>
        <p:nvSpPr>
          <p:cNvPr id="73" name="Text 71"/>
          <p:cNvSpPr/>
          <p:nvPr/>
        </p:nvSpPr>
        <p:spPr>
          <a:xfrm>
            <a:off x="9262872" y="5413248"/>
            <a:ext cx="1728216" cy="274320"/>
          </a:xfrm>
          <a:prstGeom prst="rect">
            <a:avLst/>
          </a:prstGeom>
          <a:noFill/>
          <a:ln/>
        </p:spPr>
        <p:txBody>
          <a:bodyPr wrap="square" lIns="0" tIns="0" rIns="0" bIns="0" rtlCol="0" anchor="ctr"/>
          <a:lstStyle/>
          <a:p>
            <a:pPr algn="ctr" indent="0" marL="0">
              <a:buNone/>
            </a:pPr>
            <a:r>
              <a:rPr lang="en-US" sz="1050" b="1" dirty="0">
                <a:solidFill>
                  <a:srgbClr val="40C982"/>
                </a:solidFill>
                <a:latin typeface="Arial" pitchFamily="34" charset="0"/>
                <a:ea typeface="Arial" pitchFamily="34" charset="-122"/>
                <a:cs typeface="Arial" pitchFamily="34" charset="-120"/>
              </a:rPr>
              <a:t>DETECTED</a:t>
            </a:r>
            <a:endParaRPr lang="en-US" sz="1050" dirty="0"/>
          </a:p>
        </p:txBody>
      </p:sp>
      <p:sp>
        <p:nvSpPr>
          <p:cNvPr id="74" name="Shape 72"/>
          <p:cNvSpPr/>
          <p:nvPr/>
        </p:nvSpPr>
        <p:spPr>
          <a:xfrm>
            <a:off x="11155680" y="5239512"/>
            <a:ext cx="960120" cy="658368"/>
          </a:xfrm>
          <a:prstGeom prst="rect">
            <a:avLst/>
          </a:prstGeom>
          <a:solidFill>
            <a:srgbClr val="172235"/>
          </a:solidFill>
          <a:ln w="8890">
            <a:solidFill>
              <a:srgbClr val="3A4A63"/>
            </a:solidFill>
            <a:prstDash val="solid"/>
          </a:ln>
        </p:spPr>
      </p:sp>
      <p:sp>
        <p:nvSpPr>
          <p:cNvPr id="75" name="Text 73"/>
          <p:cNvSpPr/>
          <p:nvPr/>
        </p:nvSpPr>
        <p:spPr>
          <a:xfrm>
            <a:off x="11228832" y="5413248"/>
            <a:ext cx="813816" cy="274320"/>
          </a:xfrm>
          <a:prstGeom prst="rect">
            <a:avLst/>
          </a:prstGeom>
          <a:noFill/>
          <a:ln/>
        </p:spPr>
        <p:txBody>
          <a:bodyPr wrap="square" lIns="0" tIns="0" rIns="0" bIns="0" rtlCol="0" anchor="ctr"/>
          <a:lstStyle/>
          <a:p>
            <a:pPr algn="ctr" indent="0" marL="0">
              <a:buNone/>
            </a:pPr>
            <a:r>
              <a:rPr lang="en-US" sz="1050" dirty="0">
                <a:solidFill>
                  <a:srgbClr val="F7FAFC"/>
                </a:solidFill>
                <a:latin typeface="Arial" pitchFamily="34" charset="0"/>
                <a:ea typeface="Arial" pitchFamily="34" charset="-122"/>
                <a:cs typeface="Arial" pitchFamily="34" charset="-120"/>
              </a:rPr>
              <a:t>1</a:t>
            </a:r>
            <a:endParaRPr lang="en-US" sz="1050" dirty="0"/>
          </a:p>
        </p:txBody>
      </p:sp>
      <p:sp>
        <p:nvSpPr>
          <p:cNvPr id="76" name="Shape 74"/>
          <p:cNvSpPr/>
          <p:nvPr/>
        </p:nvSpPr>
        <p:spPr>
          <a:xfrm>
            <a:off x="685800" y="5815584"/>
            <a:ext cx="10835640" cy="457200"/>
          </a:xfrm>
          <a:prstGeom prst="roundRect">
            <a:avLst>
              <a:gd name="adj" fmla="val 24000"/>
            </a:avLst>
          </a:prstGeom>
          <a:solidFill>
            <a:srgbClr val="19263A"/>
          </a:solidFill>
          <a:ln w="15240">
            <a:solidFill>
              <a:srgbClr val="57D3E8"/>
            </a:solidFill>
            <a:prstDash val="solid"/>
          </a:ln>
        </p:spPr>
      </p:sp>
      <p:sp>
        <p:nvSpPr>
          <p:cNvPr id="77" name="Text 75"/>
          <p:cNvSpPr/>
          <p:nvPr/>
        </p:nvSpPr>
        <p:spPr>
          <a:xfrm>
            <a:off x="914400" y="5943600"/>
            <a:ext cx="10378440" cy="182880"/>
          </a:xfrm>
          <a:prstGeom prst="rect">
            <a:avLst/>
          </a:prstGeom>
          <a:noFill/>
          <a:ln/>
        </p:spPr>
        <p:txBody>
          <a:bodyPr wrap="square" lIns="0" tIns="0" rIns="0" bIns="0" rtlCol="0" anchor="ctr"/>
          <a:lstStyle/>
          <a:p>
            <a:pPr algn="ctr" indent="0" marL="0">
              <a:buNone/>
            </a:pPr>
            <a:r>
              <a:rPr lang="en-US" sz="1350" b="1" dirty="0">
                <a:solidFill>
                  <a:srgbClr val="57D3E8"/>
                </a:solidFill>
                <a:latin typeface="Arial" pitchFamily="34" charset="0"/>
                <a:ea typeface="Arial" pitchFamily="34" charset="-122"/>
                <a:cs typeface="Arial" pitchFamily="34" charset="-120"/>
              </a:rPr>
              <a:t>Machine learning, rules, anomaly detection, and correlation each covered a different weakness.</a:t>
            </a:r>
            <a:endParaRPr lang="en-US" sz="135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F1C75B"/>
          </a:solidFill>
          <a:ln w="12700">
            <a:solidFill>
              <a:srgbClr val="F1C75B"/>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LESSONS</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What the project proved</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The failures were as useful as the successful detections.</a:t>
            </a:r>
            <a:endParaRPr lang="en-US" sz="1150" dirty="0"/>
          </a:p>
        </p:txBody>
      </p:sp>
      <p:sp>
        <p:nvSpPr>
          <p:cNvPr id="6" name="Shape 4"/>
          <p:cNvSpPr/>
          <p:nvPr/>
        </p:nvSpPr>
        <p:spPr>
          <a:xfrm>
            <a:off x="685800" y="1508760"/>
            <a:ext cx="5257800" cy="1920240"/>
          </a:xfrm>
          <a:prstGeom prst="roundRect">
            <a:avLst>
              <a:gd name="adj" fmla="val 5714"/>
            </a:avLst>
          </a:prstGeom>
          <a:solidFill>
            <a:srgbClr val="19263A"/>
          </a:solidFill>
          <a:ln w="15240">
            <a:solidFill>
              <a:srgbClr val="40C982"/>
            </a:solidFill>
            <a:prstDash val="solid"/>
          </a:ln>
        </p:spPr>
      </p:sp>
      <p:sp>
        <p:nvSpPr>
          <p:cNvPr id="7" name="Shape 5"/>
          <p:cNvSpPr/>
          <p:nvPr/>
        </p:nvSpPr>
        <p:spPr>
          <a:xfrm>
            <a:off x="914400" y="1764792"/>
            <a:ext cx="548640" cy="548640"/>
          </a:xfrm>
          <a:prstGeom prst="ellipse">
            <a:avLst/>
          </a:prstGeom>
          <a:solidFill>
            <a:srgbClr val="40C982"/>
          </a:solidFill>
          <a:ln w="12700">
            <a:solidFill>
              <a:srgbClr val="40C982"/>
            </a:solidFill>
            <a:prstDash val="solid"/>
          </a:ln>
        </p:spPr>
      </p:sp>
      <p:sp>
        <p:nvSpPr>
          <p:cNvPr id="8" name="Text 6"/>
          <p:cNvSpPr/>
          <p:nvPr/>
        </p:nvSpPr>
        <p:spPr>
          <a:xfrm>
            <a:off x="1051560" y="1920240"/>
            <a:ext cx="274320" cy="164592"/>
          </a:xfrm>
          <a:prstGeom prst="rect">
            <a:avLst/>
          </a:prstGeom>
          <a:noFill/>
          <a:ln/>
        </p:spPr>
        <p:txBody>
          <a:bodyPr wrap="square" lIns="0" tIns="0" rIns="0" bIns="0" rtlCol="0" anchor="ctr"/>
          <a:lstStyle/>
          <a:p>
            <a:pPr algn="ctr" indent="0" marL="0">
              <a:buNone/>
            </a:pPr>
            <a:r>
              <a:rPr lang="en-US" sz="1500" b="1" dirty="0">
                <a:solidFill>
                  <a:srgbClr val="0B1220"/>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1645920" y="1764792"/>
            <a:ext cx="4069080" cy="384048"/>
          </a:xfrm>
          <a:prstGeom prst="rect">
            <a:avLst/>
          </a:prstGeom>
          <a:noFill/>
          <a:ln/>
        </p:spPr>
        <p:txBody>
          <a:bodyPr wrap="square" lIns="0" tIns="0" rIns="0" bIns="0" rtlCol="0" anchor="ctr"/>
          <a:lstStyle/>
          <a:p>
            <a:pPr indent="0" marL="0">
              <a:buNone/>
            </a:pPr>
            <a:r>
              <a:rPr lang="en-US" sz="1500" b="1" dirty="0">
                <a:solidFill>
                  <a:srgbClr val="40C982"/>
                </a:solidFill>
                <a:latin typeface="Arial" pitchFamily="34" charset="0"/>
                <a:ea typeface="Arial" pitchFamily="34" charset="-122"/>
                <a:cs typeface="Arial" pitchFamily="34" charset="-120"/>
              </a:rPr>
              <a:t>High familiar-pattern scores are not enough</a:t>
            </a:r>
            <a:endParaRPr lang="en-US" sz="1500" dirty="0"/>
          </a:p>
        </p:txBody>
      </p:sp>
      <p:sp>
        <p:nvSpPr>
          <p:cNvPr id="10" name="Text 8"/>
          <p:cNvSpPr/>
          <p:nvPr/>
        </p:nvSpPr>
        <p:spPr>
          <a:xfrm>
            <a:off x="1645920" y="2286000"/>
            <a:ext cx="4069080" cy="822960"/>
          </a:xfrm>
          <a:prstGeom prst="rect">
            <a:avLst/>
          </a:prstGeom>
          <a:noFill/>
          <a:ln/>
        </p:spPr>
        <p:txBody>
          <a:bodyPr wrap="square" lIns="254" tIns="254" rIns="254" bIns="254" rtlCol="0" anchor="ctr"/>
          <a:lstStyle/>
          <a:p>
            <a:pPr indent="0" marL="0">
              <a:buNone/>
            </a:pPr>
            <a:r>
              <a:rPr lang="en-US" sz="1180" dirty="0">
                <a:solidFill>
                  <a:srgbClr val="F7FAFC"/>
                </a:solidFill>
                <a:latin typeface="Arial" pitchFamily="34" charset="0"/>
                <a:ea typeface="Arial" pitchFamily="34" charset="-122"/>
                <a:cs typeface="Arial" pitchFamily="34" charset="-120"/>
              </a:rPr>
              <a:t>A model can perform near 100% on known patterns and still miss a simple new laboratory scenario.</a:t>
            </a:r>
            <a:endParaRPr lang="en-US" sz="1180" dirty="0"/>
          </a:p>
        </p:txBody>
      </p:sp>
      <p:sp>
        <p:nvSpPr>
          <p:cNvPr id="11" name="Shape 9"/>
          <p:cNvSpPr/>
          <p:nvPr/>
        </p:nvSpPr>
        <p:spPr>
          <a:xfrm>
            <a:off x="6217920" y="1508760"/>
            <a:ext cx="5257800" cy="1920240"/>
          </a:xfrm>
          <a:prstGeom prst="roundRect">
            <a:avLst>
              <a:gd name="adj" fmla="val 5714"/>
            </a:avLst>
          </a:prstGeom>
          <a:solidFill>
            <a:srgbClr val="19263A"/>
          </a:solidFill>
          <a:ln w="15240">
            <a:solidFill>
              <a:srgbClr val="4AA3FF"/>
            </a:solidFill>
            <a:prstDash val="solid"/>
          </a:ln>
        </p:spPr>
      </p:sp>
      <p:sp>
        <p:nvSpPr>
          <p:cNvPr id="12" name="Shape 10"/>
          <p:cNvSpPr/>
          <p:nvPr/>
        </p:nvSpPr>
        <p:spPr>
          <a:xfrm>
            <a:off x="6446520" y="1764792"/>
            <a:ext cx="548640" cy="548640"/>
          </a:xfrm>
          <a:prstGeom prst="ellipse">
            <a:avLst/>
          </a:prstGeom>
          <a:solidFill>
            <a:srgbClr val="4AA3FF"/>
          </a:solidFill>
          <a:ln w="12700">
            <a:solidFill>
              <a:srgbClr val="4AA3FF"/>
            </a:solidFill>
            <a:prstDash val="solid"/>
          </a:ln>
        </p:spPr>
      </p:sp>
      <p:sp>
        <p:nvSpPr>
          <p:cNvPr id="13" name="Text 11"/>
          <p:cNvSpPr/>
          <p:nvPr/>
        </p:nvSpPr>
        <p:spPr>
          <a:xfrm>
            <a:off x="6583680" y="1920240"/>
            <a:ext cx="274320" cy="164592"/>
          </a:xfrm>
          <a:prstGeom prst="rect">
            <a:avLst/>
          </a:prstGeom>
          <a:noFill/>
          <a:ln/>
        </p:spPr>
        <p:txBody>
          <a:bodyPr wrap="square" lIns="0" tIns="0" rIns="0" bIns="0" rtlCol="0" anchor="ctr"/>
          <a:lstStyle/>
          <a:p>
            <a:pPr algn="ctr" indent="0" marL="0">
              <a:buNone/>
            </a:pPr>
            <a:r>
              <a:rPr lang="en-US" sz="1500" b="1" dirty="0">
                <a:solidFill>
                  <a:srgbClr val="0B1220"/>
                </a:solidFill>
                <a:latin typeface="Arial" pitchFamily="34" charset="0"/>
                <a:ea typeface="Arial" pitchFamily="34" charset="-122"/>
                <a:cs typeface="Arial" pitchFamily="34" charset="-120"/>
              </a:rPr>
              <a:t>2</a:t>
            </a:r>
            <a:endParaRPr lang="en-US" sz="1500" dirty="0"/>
          </a:p>
        </p:txBody>
      </p:sp>
      <p:sp>
        <p:nvSpPr>
          <p:cNvPr id="14" name="Text 12"/>
          <p:cNvSpPr/>
          <p:nvPr/>
        </p:nvSpPr>
        <p:spPr>
          <a:xfrm>
            <a:off x="7178040" y="1764792"/>
            <a:ext cx="4069080" cy="384048"/>
          </a:xfrm>
          <a:prstGeom prst="rect">
            <a:avLst/>
          </a:prstGeom>
          <a:noFill/>
          <a:ln/>
        </p:spPr>
        <p:txBody>
          <a:bodyPr wrap="square" lIns="0" tIns="0" rIns="0" bIns="0" rtlCol="0" anchor="ctr"/>
          <a:lstStyle/>
          <a:p>
            <a:pPr indent="0" marL="0">
              <a:buNone/>
            </a:pPr>
            <a:r>
              <a:rPr lang="en-US" sz="1500" b="1" dirty="0">
                <a:solidFill>
                  <a:srgbClr val="4AA3FF"/>
                </a:solidFill>
                <a:latin typeface="Arial" pitchFamily="34" charset="0"/>
                <a:ea typeface="Arial" pitchFamily="34" charset="-122"/>
                <a:cs typeface="Arial" pitchFamily="34" charset="-120"/>
              </a:rPr>
              <a:t>Context changes the decision</a:t>
            </a:r>
            <a:endParaRPr lang="en-US" sz="1500" dirty="0"/>
          </a:p>
        </p:txBody>
      </p:sp>
      <p:sp>
        <p:nvSpPr>
          <p:cNvPr id="15" name="Text 13"/>
          <p:cNvSpPr/>
          <p:nvPr/>
        </p:nvSpPr>
        <p:spPr>
          <a:xfrm>
            <a:off x="7178040" y="2286000"/>
            <a:ext cx="4069080" cy="822960"/>
          </a:xfrm>
          <a:prstGeom prst="rect">
            <a:avLst/>
          </a:prstGeom>
          <a:noFill/>
          <a:ln/>
        </p:spPr>
        <p:txBody>
          <a:bodyPr wrap="square" lIns="254" tIns="254" rIns="254" bIns="254" rtlCol="0" anchor="ctr"/>
          <a:lstStyle/>
          <a:p>
            <a:pPr indent="0" marL="0">
              <a:buNone/>
            </a:pPr>
            <a:r>
              <a:rPr lang="en-US" sz="1180" dirty="0">
                <a:solidFill>
                  <a:srgbClr val="F7FAFC"/>
                </a:solidFill>
                <a:latin typeface="Arial" pitchFamily="34" charset="0"/>
                <a:ea typeface="Arial" pitchFamily="34" charset="-122"/>
                <a:cs typeface="Arial" pitchFamily="34" charset="-120"/>
              </a:rPr>
              <a:t>One flow looked harmless. Hundreds of related flows from one source showed a clear scan.</a:t>
            </a:r>
            <a:endParaRPr lang="en-US" sz="1180" dirty="0"/>
          </a:p>
        </p:txBody>
      </p:sp>
      <p:sp>
        <p:nvSpPr>
          <p:cNvPr id="16" name="Shape 14"/>
          <p:cNvSpPr/>
          <p:nvPr/>
        </p:nvSpPr>
        <p:spPr>
          <a:xfrm>
            <a:off x="685800" y="3703320"/>
            <a:ext cx="5257800" cy="1920240"/>
          </a:xfrm>
          <a:prstGeom prst="roundRect">
            <a:avLst>
              <a:gd name="adj" fmla="val 5714"/>
            </a:avLst>
          </a:prstGeom>
          <a:solidFill>
            <a:srgbClr val="19263A"/>
          </a:solidFill>
          <a:ln w="15240">
            <a:solidFill>
              <a:srgbClr val="F59E5B"/>
            </a:solidFill>
            <a:prstDash val="solid"/>
          </a:ln>
        </p:spPr>
      </p:sp>
      <p:sp>
        <p:nvSpPr>
          <p:cNvPr id="17" name="Shape 15"/>
          <p:cNvSpPr/>
          <p:nvPr/>
        </p:nvSpPr>
        <p:spPr>
          <a:xfrm>
            <a:off x="914400" y="3959352"/>
            <a:ext cx="548640" cy="548640"/>
          </a:xfrm>
          <a:prstGeom prst="ellipse">
            <a:avLst/>
          </a:prstGeom>
          <a:solidFill>
            <a:srgbClr val="F59E5B"/>
          </a:solidFill>
          <a:ln w="12700">
            <a:solidFill>
              <a:srgbClr val="F59E5B"/>
            </a:solidFill>
            <a:prstDash val="solid"/>
          </a:ln>
        </p:spPr>
      </p:sp>
      <p:sp>
        <p:nvSpPr>
          <p:cNvPr id="18" name="Text 16"/>
          <p:cNvSpPr/>
          <p:nvPr/>
        </p:nvSpPr>
        <p:spPr>
          <a:xfrm>
            <a:off x="1051560" y="4114800"/>
            <a:ext cx="274320" cy="164592"/>
          </a:xfrm>
          <a:prstGeom prst="rect">
            <a:avLst/>
          </a:prstGeom>
          <a:noFill/>
          <a:ln/>
        </p:spPr>
        <p:txBody>
          <a:bodyPr wrap="square" lIns="0" tIns="0" rIns="0" bIns="0" rtlCol="0" anchor="ctr"/>
          <a:lstStyle/>
          <a:p>
            <a:pPr algn="ctr" indent="0" marL="0">
              <a:buNone/>
            </a:pPr>
            <a:r>
              <a:rPr lang="en-US" sz="1500" b="1" dirty="0">
                <a:solidFill>
                  <a:srgbClr val="0B1220"/>
                </a:solidFill>
                <a:latin typeface="Arial" pitchFamily="34" charset="0"/>
                <a:ea typeface="Arial" pitchFamily="34" charset="-122"/>
                <a:cs typeface="Arial" pitchFamily="34" charset="-120"/>
              </a:rPr>
              <a:t>3</a:t>
            </a:r>
            <a:endParaRPr lang="en-US" sz="1500" dirty="0"/>
          </a:p>
        </p:txBody>
      </p:sp>
      <p:sp>
        <p:nvSpPr>
          <p:cNvPr id="19" name="Text 17"/>
          <p:cNvSpPr/>
          <p:nvPr/>
        </p:nvSpPr>
        <p:spPr>
          <a:xfrm>
            <a:off x="1645920" y="3959352"/>
            <a:ext cx="4069080" cy="384048"/>
          </a:xfrm>
          <a:prstGeom prst="rect">
            <a:avLst/>
          </a:prstGeom>
          <a:noFill/>
          <a:ln/>
        </p:spPr>
        <p:txBody>
          <a:bodyPr wrap="square" lIns="0" tIns="0" rIns="0" bIns="0" rtlCol="0" anchor="ctr"/>
          <a:lstStyle/>
          <a:p>
            <a:pPr indent="0" marL="0">
              <a:buNone/>
            </a:pPr>
            <a:r>
              <a:rPr lang="en-US" sz="1500" b="1" dirty="0">
                <a:solidFill>
                  <a:srgbClr val="F59E5B"/>
                </a:solidFill>
                <a:latin typeface="Arial" pitchFamily="34" charset="0"/>
                <a:ea typeface="Arial" pitchFamily="34" charset="-122"/>
                <a:cs typeface="Arial" pitchFamily="34" charset="-120"/>
              </a:rPr>
              <a:t>Layered detection is stronger</a:t>
            </a:r>
            <a:endParaRPr lang="en-US" sz="1500" dirty="0"/>
          </a:p>
        </p:txBody>
      </p:sp>
      <p:sp>
        <p:nvSpPr>
          <p:cNvPr id="20" name="Text 18"/>
          <p:cNvSpPr/>
          <p:nvPr/>
        </p:nvSpPr>
        <p:spPr>
          <a:xfrm>
            <a:off x="1645920" y="4480560"/>
            <a:ext cx="4069080" cy="822960"/>
          </a:xfrm>
          <a:prstGeom prst="rect">
            <a:avLst/>
          </a:prstGeom>
          <a:noFill/>
          <a:ln/>
        </p:spPr>
        <p:txBody>
          <a:bodyPr wrap="square" lIns="254" tIns="254" rIns="254" bIns="254" rtlCol="0" anchor="ctr"/>
          <a:lstStyle/>
          <a:p>
            <a:pPr indent="0" marL="0">
              <a:buNone/>
            </a:pPr>
            <a:r>
              <a:rPr lang="en-US" sz="1180" dirty="0">
                <a:solidFill>
                  <a:srgbClr val="F7FAFC"/>
                </a:solidFill>
                <a:latin typeface="Arial" pitchFamily="34" charset="0"/>
                <a:ea typeface="Arial" pitchFamily="34" charset="-122"/>
                <a:cs typeface="Arial" pitchFamily="34" charset="-120"/>
              </a:rPr>
              <a:t>Supervised models, anomalies, Suricata, and correlation each cover different blind spots.</a:t>
            </a:r>
            <a:endParaRPr lang="en-US" sz="1180" dirty="0"/>
          </a:p>
        </p:txBody>
      </p:sp>
      <p:sp>
        <p:nvSpPr>
          <p:cNvPr id="21" name="Shape 19"/>
          <p:cNvSpPr/>
          <p:nvPr/>
        </p:nvSpPr>
        <p:spPr>
          <a:xfrm>
            <a:off x="6217920" y="3703320"/>
            <a:ext cx="5257800" cy="1920240"/>
          </a:xfrm>
          <a:prstGeom prst="roundRect">
            <a:avLst>
              <a:gd name="adj" fmla="val 5714"/>
            </a:avLst>
          </a:prstGeom>
          <a:solidFill>
            <a:srgbClr val="19263A"/>
          </a:solidFill>
          <a:ln w="15240">
            <a:solidFill>
              <a:srgbClr val="FF6B6B"/>
            </a:solidFill>
            <a:prstDash val="solid"/>
          </a:ln>
        </p:spPr>
      </p:sp>
      <p:sp>
        <p:nvSpPr>
          <p:cNvPr id="22" name="Shape 20"/>
          <p:cNvSpPr/>
          <p:nvPr/>
        </p:nvSpPr>
        <p:spPr>
          <a:xfrm>
            <a:off x="6446520" y="3959352"/>
            <a:ext cx="548640" cy="548640"/>
          </a:xfrm>
          <a:prstGeom prst="ellipse">
            <a:avLst/>
          </a:prstGeom>
          <a:solidFill>
            <a:srgbClr val="FF6B6B"/>
          </a:solidFill>
          <a:ln w="12700">
            <a:solidFill>
              <a:srgbClr val="FF6B6B"/>
            </a:solidFill>
            <a:prstDash val="solid"/>
          </a:ln>
        </p:spPr>
      </p:sp>
      <p:sp>
        <p:nvSpPr>
          <p:cNvPr id="23" name="Text 21"/>
          <p:cNvSpPr/>
          <p:nvPr/>
        </p:nvSpPr>
        <p:spPr>
          <a:xfrm>
            <a:off x="6583680" y="4114800"/>
            <a:ext cx="274320" cy="164592"/>
          </a:xfrm>
          <a:prstGeom prst="rect">
            <a:avLst/>
          </a:prstGeom>
          <a:noFill/>
          <a:ln/>
        </p:spPr>
        <p:txBody>
          <a:bodyPr wrap="square" lIns="0" tIns="0" rIns="0" bIns="0" rtlCol="0" anchor="ctr"/>
          <a:lstStyle/>
          <a:p>
            <a:pPr algn="ctr" indent="0" marL="0">
              <a:buNone/>
            </a:pPr>
            <a:r>
              <a:rPr lang="en-US" sz="1500" b="1" dirty="0">
                <a:solidFill>
                  <a:srgbClr val="0B1220"/>
                </a:solidFill>
                <a:latin typeface="Arial" pitchFamily="34" charset="0"/>
                <a:ea typeface="Arial" pitchFamily="34" charset="-122"/>
                <a:cs typeface="Arial" pitchFamily="34" charset="-120"/>
              </a:rPr>
              <a:t>4</a:t>
            </a:r>
            <a:endParaRPr lang="en-US" sz="1500" dirty="0"/>
          </a:p>
        </p:txBody>
      </p:sp>
      <p:sp>
        <p:nvSpPr>
          <p:cNvPr id="24" name="Text 22"/>
          <p:cNvSpPr/>
          <p:nvPr/>
        </p:nvSpPr>
        <p:spPr>
          <a:xfrm>
            <a:off x="7178040" y="3959352"/>
            <a:ext cx="4069080" cy="384048"/>
          </a:xfrm>
          <a:prstGeom prst="rect">
            <a:avLst/>
          </a:prstGeom>
          <a:noFill/>
          <a:ln/>
        </p:spPr>
        <p:txBody>
          <a:bodyPr wrap="square" lIns="0" tIns="0" rIns="0" bIns="0" rtlCol="0" anchor="ctr"/>
          <a:lstStyle/>
          <a:p>
            <a:pPr indent="0" marL="0">
              <a:buNone/>
            </a:pPr>
            <a:r>
              <a:rPr lang="en-US" sz="1500" b="1" dirty="0">
                <a:solidFill>
                  <a:srgbClr val="FF6B6B"/>
                </a:solidFill>
                <a:latin typeface="Arial" pitchFamily="34" charset="0"/>
                <a:ea typeface="Arial" pitchFamily="34" charset="-122"/>
                <a:cs typeface="Arial" pitchFamily="34" charset="-120"/>
              </a:rPr>
              <a:t>Honest negative results matter</a:t>
            </a:r>
            <a:endParaRPr lang="en-US" sz="1500" dirty="0"/>
          </a:p>
        </p:txBody>
      </p:sp>
      <p:sp>
        <p:nvSpPr>
          <p:cNvPr id="25" name="Text 23"/>
          <p:cNvSpPr/>
          <p:nvPr/>
        </p:nvSpPr>
        <p:spPr>
          <a:xfrm>
            <a:off x="7178040" y="4480560"/>
            <a:ext cx="4069080" cy="822960"/>
          </a:xfrm>
          <a:prstGeom prst="rect">
            <a:avLst/>
          </a:prstGeom>
          <a:noFill/>
          <a:ln/>
        </p:spPr>
        <p:txBody>
          <a:bodyPr wrap="square" lIns="254" tIns="254" rIns="254" bIns="254" rtlCol="0" anchor="ctr"/>
          <a:lstStyle/>
          <a:p>
            <a:pPr indent="0" marL="0">
              <a:buNone/>
            </a:pPr>
            <a:r>
              <a:rPr lang="en-US" sz="1180" dirty="0">
                <a:solidFill>
                  <a:srgbClr val="F7FAFC"/>
                </a:solidFill>
                <a:latin typeface="Arial" pitchFamily="34" charset="0"/>
                <a:ea typeface="Arial" pitchFamily="34" charset="-122"/>
                <a:cs typeface="Arial" pitchFamily="34" charset="-120"/>
              </a:rPr>
              <a:t>The project kept the misses visible, investigated why they happened, and improved the design.</a:t>
            </a:r>
            <a:endParaRPr lang="en-US" sz="118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F59E5B"/>
          </a:solidFill>
          <a:ln w="12700">
            <a:solidFill>
              <a:srgbClr val="F59E5B"/>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NEXT STEPS</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The prototype is complete, but production work remains</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The correct claim is a working portfolio-grade prototype, not a production sensor.</a:t>
            </a:r>
            <a:endParaRPr lang="en-US" sz="1150" dirty="0"/>
          </a:p>
        </p:txBody>
      </p:sp>
      <p:sp>
        <p:nvSpPr>
          <p:cNvPr id="6" name="Shape 4"/>
          <p:cNvSpPr/>
          <p:nvPr/>
        </p:nvSpPr>
        <p:spPr>
          <a:xfrm>
            <a:off x="685800" y="1417320"/>
            <a:ext cx="5349240" cy="4526280"/>
          </a:xfrm>
          <a:prstGeom prst="roundRect">
            <a:avLst>
              <a:gd name="adj" fmla="val 2424"/>
            </a:avLst>
          </a:prstGeom>
          <a:solidFill>
            <a:srgbClr val="131C2B"/>
          </a:solidFill>
          <a:ln w="15240">
            <a:solidFill>
              <a:srgbClr val="FF6B6B"/>
            </a:solidFill>
            <a:prstDash val="solid"/>
          </a:ln>
        </p:spPr>
      </p:sp>
      <p:sp>
        <p:nvSpPr>
          <p:cNvPr id="7" name="Text 5"/>
          <p:cNvSpPr/>
          <p:nvPr/>
        </p:nvSpPr>
        <p:spPr>
          <a:xfrm>
            <a:off x="960120" y="1737360"/>
            <a:ext cx="3108960" cy="292608"/>
          </a:xfrm>
          <a:prstGeom prst="rect">
            <a:avLst/>
          </a:prstGeom>
          <a:noFill/>
          <a:ln/>
        </p:spPr>
        <p:txBody>
          <a:bodyPr wrap="square" lIns="0" tIns="0" rIns="0" bIns="0" rtlCol="0" anchor="ctr"/>
          <a:lstStyle/>
          <a:p>
            <a:pPr indent="0" marL="0">
              <a:buNone/>
            </a:pPr>
            <a:r>
              <a:rPr lang="en-US" sz="1500" b="1" dirty="0">
                <a:solidFill>
                  <a:srgbClr val="FF6B6B"/>
                </a:solidFill>
                <a:latin typeface="Arial" pitchFamily="34" charset="0"/>
                <a:ea typeface="Arial" pitchFamily="34" charset="-122"/>
                <a:cs typeface="Arial" pitchFamily="34" charset="-120"/>
              </a:rPr>
              <a:t>CURRENT LIMITATIONS</a:t>
            </a:r>
            <a:endParaRPr lang="en-US" sz="1500" dirty="0"/>
          </a:p>
        </p:txBody>
      </p:sp>
      <p:sp>
        <p:nvSpPr>
          <p:cNvPr id="8" name="Text 6"/>
          <p:cNvSpPr/>
          <p:nvPr/>
        </p:nvSpPr>
        <p:spPr>
          <a:xfrm>
            <a:off x="960120" y="2240280"/>
            <a:ext cx="4663440" cy="3154680"/>
          </a:xfrm>
          <a:prstGeom prst="rect">
            <a:avLst/>
          </a:prstGeom>
          <a:noFill/>
          <a:ln/>
        </p:spPr>
        <p:txBody>
          <a:bodyPr wrap="square" lIns="381" tIns="381" rIns="381" bIns="381" rtlCol="0" anchor="t"/>
          <a:lstStyle/>
          <a:p>
            <a:pPr marL="182562" indent="-182562">
              <a:buSzPct val="100000"/>
              <a:buChar char="•"/>
            </a:pPr>
            <a:r>
              <a:rPr lang="en-US" sz="1250" dirty="0">
                <a:solidFill>
                  <a:srgbClr val="F7FAFC"/>
                </a:solidFill>
                <a:latin typeface="Arial" pitchFamily="34" charset="0"/>
                <a:ea typeface="Arial" pitchFamily="34" charset="-122"/>
                <a:cs typeface="Arial" pitchFamily="34" charset="-120"/>
              </a:rPr>
              <a:t>Historical training data from one dataset family</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Small benign live-lab baseline</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Per-flow binary gate can block family classification</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Cross-flow and Suricata thresholds are lab-specific</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Capture-to-alert workflow is not fully automated</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No validation yet on current enterprise traffic</a:t>
            </a:r>
            <a:endParaRPr lang="en-US" sz="1250" dirty="0"/>
          </a:p>
        </p:txBody>
      </p:sp>
      <p:sp>
        <p:nvSpPr>
          <p:cNvPr id="9" name="Shape 7"/>
          <p:cNvSpPr/>
          <p:nvPr/>
        </p:nvSpPr>
        <p:spPr>
          <a:xfrm>
            <a:off x="6263640" y="1417320"/>
            <a:ext cx="5212080" cy="4526280"/>
          </a:xfrm>
          <a:prstGeom prst="roundRect">
            <a:avLst>
              <a:gd name="adj" fmla="val 2424"/>
            </a:avLst>
          </a:prstGeom>
          <a:solidFill>
            <a:srgbClr val="131C2B"/>
          </a:solidFill>
          <a:ln w="15240">
            <a:solidFill>
              <a:srgbClr val="40C982"/>
            </a:solidFill>
            <a:prstDash val="solid"/>
          </a:ln>
        </p:spPr>
      </p:sp>
      <p:sp>
        <p:nvSpPr>
          <p:cNvPr id="10" name="Text 8"/>
          <p:cNvSpPr/>
          <p:nvPr/>
        </p:nvSpPr>
        <p:spPr>
          <a:xfrm>
            <a:off x="6537960" y="1737360"/>
            <a:ext cx="3383280" cy="292608"/>
          </a:xfrm>
          <a:prstGeom prst="rect">
            <a:avLst/>
          </a:prstGeom>
          <a:noFill/>
          <a:ln/>
        </p:spPr>
        <p:txBody>
          <a:bodyPr wrap="square" lIns="0" tIns="0" rIns="0" bIns="0" rtlCol="0" anchor="ctr"/>
          <a:lstStyle/>
          <a:p>
            <a:pPr indent="0" marL="0">
              <a:buNone/>
            </a:pPr>
            <a:r>
              <a:rPr lang="en-US" sz="1500" b="1" dirty="0">
                <a:solidFill>
                  <a:srgbClr val="40C982"/>
                </a:solidFill>
                <a:latin typeface="Arial" pitchFamily="34" charset="0"/>
                <a:ea typeface="Arial" pitchFamily="34" charset="-122"/>
                <a:cs typeface="Arial" pitchFamily="34" charset="-120"/>
              </a:rPr>
              <a:t>RECOMMENDED NEXT STEPS</a:t>
            </a:r>
            <a:endParaRPr lang="en-US" sz="1500" dirty="0"/>
          </a:p>
        </p:txBody>
      </p:sp>
      <p:sp>
        <p:nvSpPr>
          <p:cNvPr id="11" name="Text 9"/>
          <p:cNvSpPr/>
          <p:nvPr/>
        </p:nvSpPr>
        <p:spPr>
          <a:xfrm>
            <a:off x="6537960" y="2240280"/>
            <a:ext cx="4526280" cy="3154680"/>
          </a:xfrm>
          <a:prstGeom prst="rect">
            <a:avLst/>
          </a:prstGeom>
          <a:noFill/>
          <a:ln/>
        </p:spPr>
        <p:txBody>
          <a:bodyPr wrap="square" lIns="381" tIns="381" rIns="381" bIns="381" rtlCol="0" anchor="t"/>
          <a:lstStyle/>
          <a:p>
            <a:pPr marL="182562" indent="-182562">
              <a:buSzPct val="100000"/>
              <a:buChar char="•"/>
            </a:pPr>
            <a:r>
              <a:rPr lang="en-US" sz="1250" dirty="0">
                <a:solidFill>
                  <a:srgbClr val="F7FAFC"/>
                </a:solidFill>
                <a:latin typeface="Arial" pitchFamily="34" charset="0"/>
                <a:ea typeface="Arial" pitchFamily="34" charset="-122"/>
                <a:cs typeface="Arial" pitchFamily="34" charset="-120"/>
              </a:rPr>
              <a:t>Automate capture, flow extraction, inference, and refresh</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Collect a broader benign baseline</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Test newer datasets and enterprise-like traffic</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Add feature and model drift monitoring</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Tune suppression and deduplication</a:t>
            </a:r>
            <a:endParaRPr lang="en-US" sz="1250" dirty="0"/>
          </a:p>
          <a:p>
            <a:pPr marL="182562" indent="-182562">
              <a:buSzPct val="100000"/>
              <a:buChar char="•"/>
            </a:pPr>
            <a:r>
              <a:rPr lang="en-US" sz="1250" dirty="0">
                <a:solidFill>
                  <a:srgbClr val="F7FAFC"/>
                </a:solidFill>
                <a:latin typeface="Arial" pitchFamily="34" charset="0"/>
                <a:ea typeface="Arial" pitchFamily="34" charset="-122"/>
                <a:cs typeface="Arial" pitchFamily="34" charset="-120"/>
              </a:rPr>
              <a:t>Add analyst feedback and controlled retraining</a:t>
            </a:r>
            <a:endParaRPr lang="en-US" sz="125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603504" y="201168"/>
            <a:ext cx="1508760" cy="274320"/>
          </a:xfrm>
          <a:prstGeom prst="roundRect">
            <a:avLst/>
          </a:prstGeom>
          <a:solidFill>
            <a:srgbClr val="57D3E8"/>
          </a:solidFill>
          <a:ln w="12700">
            <a:solidFill>
              <a:srgbClr val="57D3E8"/>
            </a:solidFill>
            <a:prstDash val="solid"/>
          </a:ln>
        </p:spPr>
      </p:sp>
      <p:sp>
        <p:nvSpPr>
          <p:cNvPr id="3" name="Text 1"/>
          <p:cNvSpPr/>
          <p:nvPr/>
        </p:nvSpPr>
        <p:spPr>
          <a:xfrm>
            <a:off x="676656" y="251460"/>
            <a:ext cx="1362456" cy="128016"/>
          </a:xfrm>
          <a:prstGeom prst="rect">
            <a:avLst/>
          </a:prstGeom>
          <a:noFill/>
          <a:ln/>
        </p:spPr>
        <p:txBody>
          <a:bodyPr wrap="square" lIns="0" tIns="0" rIns="0" bIns="0" rtlCol="0" anchor="ctr"/>
          <a:lstStyle/>
          <a:p>
            <a:pPr algn="ctr" indent="0" marL="0">
              <a:buNone/>
            </a:pPr>
            <a:r>
              <a:rPr lang="en-US" sz="750" b="1" dirty="0">
                <a:solidFill>
                  <a:srgbClr val="0B1220"/>
                </a:solidFill>
                <a:latin typeface="Arial" pitchFamily="34" charset="0"/>
                <a:ea typeface="Arial" pitchFamily="34" charset="-122"/>
                <a:cs typeface="Arial" pitchFamily="34" charset="-120"/>
              </a:rPr>
              <a:t>CLOSE</a:t>
            </a:r>
            <a:endParaRPr lang="en-US" sz="750" dirty="0"/>
          </a:p>
        </p:txBody>
      </p:sp>
      <p:sp>
        <p:nvSpPr>
          <p:cNvPr id="4" name="Text 2"/>
          <p:cNvSpPr/>
          <p:nvPr/>
        </p:nvSpPr>
        <p:spPr>
          <a:xfrm>
            <a:off x="594360" y="384048"/>
            <a:ext cx="10972800" cy="502920"/>
          </a:xfrm>
          <a:prstGeom prst="rect">
            <a:avLst/>
          </a:prstGeom>
          <a:noFill/>
          <a:ln/>
        </p:spPr>
        <p:txBody>
          <a:bodyPr wrap="square" lIns="0" tIns="0" rIns="0" bIns="0" rtlCol="0" anchor="ctr"/>
          <a:lstStyle/>
          <a:p>
            <a:pPr indent="0" marL="0">
              <a:buNone/>
            </a:pPr>
            <a:r>
              <a:rPr lang="en-US" sz="2500" b="1" dirty="0">
                <a:solidFill>
                  <a:srgbClr val="F7FAFC"/>
                </a:solidFill>
                <a:latin typeface="Arial" pitchFamily="34" charset="0"/>
                <a:ea typeface="Arial" pitchFamily="34" charset="-122"/>
                <a:cs typeface="Arial" pitchFamily="34" charset="-120"/>
              </a:rPr>
              <a:t>A 30-second explanation of the project</a:t>
            </a:r>
            <a:endParaRPr lang="en-US" sz="2500" dirty="0"/>
          </a:p>
        </p:txBody>
      </p:sp>
      <p:sp>
        <p:nvSpPr>
          <p:cNvPr id="5" name="Text 3"/>
          <p:cNvSpPr/>
          <p:nvPr/>
        </p:nvSpPr>
        <p:spPr>
          <a:xfrm>
            <a:off x="612648" y="941832"/>
            <a:ext cx="10607040" cy="310896"/>
          </a:xfrm>
          <a:prstGeom prst="rect">
            <a:avLst/>
          </a:prstGeom>
          <a:noFill/>
          <a:ln/>
        </p:spPr>
        <p:txBody>
          <a:bodyPr wrap="square" lIns="0" tIns="0" rIns="0" bIns="0" rtlCol="0" anchor="ctr"/>
          <a:lstStyle/>
          <a:p>
            <a:pPr indent="0" marL="0">
              <a:buNone/>
            </a:pPr>
            <a:r>
              <a:rPr lang="en-US" sz="1150" dirty="0">
                <a:solidFill>
                  <a:srgbClr val="A9B5C8"/>
                </a:solidFill>
                <a:latin typeface="Arial" pitchFamily="34" charset="0"/>
                <a:ea typeface="Arial" pitchFamily="34" charset="-122"/>
                <a:cs typeface="Arial" pitchFamily="34" charset="-120"/>
              </a:rPr>
              <a:t>Use this version for a class, interview, or portfolio walkthrough.</a:t>
            </a:r>
            <a:endParaRPr lang="en-US" sz="1150" dirty="0"/>
          </a:p>
        </p:txBody>
      </p:sp>
      <p:sp>
        <p:nvSpPr>
          <p:cNvPr id="6" name="Shape 4"/>
          <p:cNvSpPr/>
          <p:nvPr/>
        </p:nvSpPr>
        <p:spPr>
          <a:xfrm>
            <a:off x="777240" y="1417320"/>
            <a:ext cx="10652760" cy="4069080"/>
          </a:xfrm>
          <a:prstGeom prst="roundRect">
            <a:avLst>
              <a:gd name="adj" fmla="val 2697"/>
            </a:avLst>
          </a:prstGeom>
          <a:solidFill>
            <a:srgbClr val="19263A"/>
          </a:solidFill>
          <a:ln w="15240">
            <a:solidFill>
              <a:srgbClr val="57D3E8"/>
            </a:solidFill>
            <a:prstDash val="solid"/>
          </a:ln>
        </p:spPr>
      </p:sp>
      <p:sp>
        <p:nvSpPr>
          <p:cNvPr id="7" name="Text 5"/>
          <p:cNvSpPr/>
          <p:nvPr/>
        </p:nvSpPr>
        <p:spPr>
          <a:xfrm>
            <a:off x="1097280" y="1847088"/>
            <a:ext cx="10012680" cy="3246120"/>
          </a:xfrm>
          <a:prstGeom prst="rect">
            <a:avLst/>
          </a:prstGeom>
          <a:noFill/>
          <a:ln/>
        </p:spPr>
        <p:txBody>
          <a:bodyPr wrap="square" lIns="635" tIns="635" rIns="635" bIns="635" rtlCol="0" anchor="ctr"/>
          <a:lstStyle/>
          <a:p>
            <a:pPr algn="ctr" indent="0" marL="0">
              <a:buNone/>
            </a:pPr>
            <a:r>
              <a:rPr lang="en-US" sz="1800" i="1" dirty="0">
                <a:solidFill>
                  <a:srgbClr val="F7FAFC"/>
                </a:solidFill>
                <a:latin typeface="Arial" pitchFamily="34" charset="0"/>
                <a:ea typeface="Arial" pitchFamily="34" charset="-122"/>
                <a:cs typeface="Arial" pitchFamily="34" charset="-120"/>
              </a:rPr>
              <a:t>“I built a hybrid network intrusion detection prototype. It converts network communications into 77 measurable features and uses machine learning to decide whether each flow is normal or an attack. It also uses an attack-family model, an anomaly detector, Suricata, MITRE ATT&amp;CK mapping, and a Streamlit dashboard. During testing, the original per-flow models and default Suricata rules missed a controlled 502-port scan. I added a tuned Suricata rule and a cross-flow correlation layer that examined many related connections together. Both detected the scan while the benign baseline remained unflagged. The main lesson was that effective detection needs several layers and realistic testing on new traffic.”</a:t>
            </a:r>
            <a:endParaRPr lang="en-US" sz="1800" dirty="0"/>
          </a:p>
        </p:txBody>
      </p:sp>
      <p:sp>
        <p:nvSpPr>
          <p:cNvPr id="8" name="Shape 6"/>
          <p:cNvSpPr/>
          <p:nvPr/>
        </p:nvSpPr>
        <p:spPr>
          <a:xfrm>
            <a:off x="3611880" y="5760720"/>
            <a:ext cx="4937760" cy="329184"/>
          </a:xfrm>
          <a:prstGeom prst="roundRect">
            <a:avLst/>
          </a:prstGeom>
          <a:solidFill>
            <a:srgbClr val="19263A"/>
          </a:solidFill>
          <a:ln w="17780">
            <a:solidFill>
              <a:srgbClr val="40C982"/>
            </a:solidFill>
            <a:prstDash val="solid"/>
          </a:ln>
        </p:spPr>
      </p:sp>
      <p:sp>
        <p:nvSpPr>
          <p:cNvPr id="9" name="Text 7"/>
          <p:cNvSpPr/>
          <p:nvPr/>
        </p:nvSpPr>
        <p:spPr>
          <a:xfrm>
            <a:off x="3685032" y="5824728"/>
            <a:ext cx="4791456" cy="182880"/>
          </a:xfrm>
          <a:prstGeom prst="rect">
            <a:avLst/>
          </a:prstGeom>
          <a:noFill/>
          <a:ln/>
        </p:spPr>
        <p:txBody>
          <a:bodyPr wrap="square" lIns="0" tIns="0" rIns="0" bIns="0" rtlCol="0" anchor="ctr"/>
          <a:lstStyle/>
          <a:p>
            <a:pPr algn="ctr" indent="0" marL="0">
              <a:buNone/>
            </a:pPr>
            <a:r>
              <a:rPr lang="en-US" sz="950" b="1" dirty="0">
                <a:solidFill>
                  <a:srgbClr val="40C982"/>
                </a:solidFill>
                <a:latin typeface="Arial" pitchFamily="34" charset="0"/>
                <a:ea typeface="Arial" pitchFamily="34" charset="-122"/>
                <a:cs typeface="Arial" pitchFamily="34" charset="-120"/>
              </a:rPr>
              <a:t>FINAL STATUS: PORTFOLIO-GRADE HYBRID NIDS PROTOTYPE</a:t>
            </a:r>
            <a:endParaRPr lang="en-US" sz="950" dirty="0"/>
          </a:p>
        </p:txBody>
      </p:sp>
      <p:sp>
        <p:nvSpPr>
          <p:cNvPr id="25" name="Slide Number Placeholder 0"/>
          <p:cNvSpPr>
            <a:spLocks noGrp="1"/>
          </p:cNvSpPr>
          <p:nvPr>
            <p:ph type="sldNum" sz="quarter" idx="4294967295"/>
          </p:nvPr>
        </p:nvSpPr>
        <p:spPr>
          <a:xfrm>
            <a:off x="11155680" y="6528816"/>
            <a:ext cx="45720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8391A7"/>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Network Intrusion Detection System</dc:title>
  <dc:subject>AI-Powered Network Intrusion Detection System project presentation</dc:subject>
  <dc:creator>Sunday Esumike</dc:creator>
  <cp:lastModifiedBy>Sunday Esumike</cp:lastModifiedBy>
  <cp:revision>1</cp:revision>
  <dcterms:created xsi:type="dcterms:W3CDTF">2026-08-30T03:14:08Z</dcterms:created>
  <dcterms:modified xsi:type="dcterms:W3CDTF">2026-08-30T03:14:08Z</dcterms:modified>
</cp:coreProperties>
</file>